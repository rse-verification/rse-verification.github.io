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72" r:id="rId6"/>
    <p:sldId id="273" r:id="rId7"/>
    <p:sldId id="274" r:id="rId8"/>
    <p:sldId id="334" r:id="rId9"/>
    <p:sldId id="335" r:id="rId10"/>
    <p:sldId id="336" r:id="rId11"/>
    <p:sldId id="330" r:id="rId12"/>
    <p:sldId id="337" r:id="rId13"/>
    <p:sldId id="340" r:id="rId14"/>
    <p:sldId id="341" r:id="rId15"/>
    <p:sldId id="342" r:id="rId16"/>
    <p:sldId id="338" r:id="rId17"/>
    <p:sldId id="339" r:id="rId18"/>
    <p:sldId id="343" r:id="rId19"/>
    <p:sldId id="344" r:id="rId20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5AA14"/>
    <a:srgbClr val="99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51" y="6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Bok1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Bok1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Bok1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Bok1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Bok1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Blad1!$B$6</c:f>
              <c:strCache>
                <c:ptCount val="1"/>
                <c:pt idx="0">
                  <c:v>distance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Blad1!$A$7:$A$57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</c:numCache>
            </c:numRef>
          </c:cat>
          <c:val>
            <c:numRef>
              <c:f>Blad1!$B$7:$B$57</c:f>
              <c:numCache>
                <c:formatCode>General</c:formatCode>
                <c:ptCount val="51"/>
                <c:pt idx="0">
                  <c:v>11.25</c:v>
                </c:pt>
                <c:pt idx="1">
                  <c:v>10.76</c:v>
                </c:pt>
                <c:pt idx="2">
                  <c:v>10.29</c:v>
                </c:pt>
                <c:pt idx="3">
                  <c:v>9.84</c:v>
                </c:pt>
                <c:pt idx="4">
                  <c:v>9.41</c:v>
                </c:pt>
                <c:pt idx="5">
                  <c:v>9</c:v>
                </c:pt>
                <c:pt idx="6">
                  <c:v>8.61</c:v>
                </c:pt>
                <c:pt idx="7">
                  <c:v>8.24</c:v>
                </c:pt>
                <c:pt idx="8">
                  <c:v>7.8900000000000006</c:v>
                </c:pt>
                <c:pt idx="9">
                  <c:v>7.5600000000000005</c:v>
                </c:pt>
                <c:pt idx="10">
                  <c:v>7.25</c:v>
                </c:pt>
                <c:pt idx="11">
                  <c:v>6.9600000000000009</c:v>
                </c:pt>
                <c:pt idx="12">
                  <c:v>6.69</c:v>
                </c:pt>
                <c:pt idx="13">
                  <c:v>6.4399999999999995</c:v>
                </c:pt>
                <c:pt idx="14">
                  <c:v>6.21</c:v>
                </c:pt>
                <c:pt idx="15">
                  <c:v>6</c:v>
                </c:pt>
                <c:pt idx="16">
                  <c:v>5.81</c:v>
                </c:pt>
                <c:pt idx="17">
                  <c:v>5.64</c:v>
                </c:pt>
                <c:pt idx="18">
                  <c:v>5.4899999999999993</c:v>
                </c:pt>
                <c:pt idx="19">
                  <c:v>5.3599999999999994</c:v>
                </c:pt>
                <c:pt idx="20">
                  <c:v>5.25</c:v>
                </c:pt>
                <c:pt idx="21">
                  <c:v>5.1599999999999993</c:v>
                </c:pt>
                <c:pt idx="22">
                  <c:v>5.09</c:v>
                </c:pt>
                <c:pt idx="23">
                  <c:v>5.04</c:v>
                </c:pt>
                <c:pt idx="24">
                  <c:v>5.01</c:v>
                </c:pt>
                <c:pt idx="25">
                  <c:v>5</c:v>
                </c:pt>
                <c:pt idx="26">
                  <c:v>5.01</c:v>
                </c:pt>
                <c:pt idx="27">
                  <c:v>5.04</c:v>
                </c:pt>
                <c:pt idx="28">
                  <c:v>5.0900000000000007</c:v>
                </c:pt>
                <c:pt idx="29">
                  <c:v>5.160000000000001</c:v>
                </c:pt>
                <c:pt idx="30">
                  <c:v>5.2500000000000018</c:v>
                </c:pt>
                <c:pt idx="31">
                  <c:v>5.3600000000000021</c:v>
                </c:pt>
                <c:pt idx="32">
                  <c:v>5.490000000000002</c:v>
                </c:pt>
                <c:pt idx="33">
                  <c:v>5.6400000000000023</c:v>
                </c:pt>
                <c:pt idx="34">
                  <c:v>5.8100000000000032</c:v>
                </c:pt>
                <c:pt idx="35">
                  <c:v>6.0000000000000036</c:v>
                </c:pt>
                <c:pt idx="36">
                  <c:v>6.2100000000000044</c:v>
                </c:pt>
                <c:pt idx="37">
                  <c:v>6.4400000000000048</c:v>
                </c:pt>
                <c:pt idx="38">
                  <c:v>6.6900000000000048</c:v>
                </c:pt>
                <c:pt idx="39">
                  <c:v>6.9600000000000062</c:v>
                </c:pt>
                <c:pt idx="40">
                  <c:v>7.2500000000000053</c:v>
                </c:pt>
                <c:pt idx="41">
                  <c:v>7.5600000000000041</c:v>
                </c:pt>
                <c:pt idx="42">
                  <c:v>7.8900000000000041</c:v>
                </c:pt>
                <c:pt idx="43">
                  <c:v>8.240000000000002</c:v>
                </c:pt>
                <c:pt idx="44">
                  <c:v>8.6100000000000012</c:v>
                </c:pt>
                <c:pt idx="45">
                  <c:v>9</c:v>
                </c:pt>
                <c:pt idx="46">
                  <c:v>9.4099999999999984</c:v>
                </c:pt>
                <c:pt idx="47">
                  <c:v>9.8399999999999963</c:v>
                </c:pt>
                <c:pt idx="48">
                  <c:v>10.289999999999996</c:v>
                </c:pt>
                <c:pt idx="49">
                  <c:v>10.759999999999994</c:v>
                </c:pt>
                <c:pt idx="50">
                  <c:v>11.249999999999991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C10-4F41-8F3A-2BDD504FC1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3925343"/>
        <c:axId val="543924383"/>
      </c:lineChart>
      <c:catAx>
        <c:axId val="543925343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43924383"/>
        <c:crosses val="autoZero"/>
        <c:auto val="1"/>
        <c:lblAlgn val="ctr"/>
        <c:lblOffset val="100"/>
        <c:noMultiLvlLbl val="0"/>
      </c:catAx>
      <c:valAx>
        <c:axId val="543924383"/>
        <c:scaling>
          <c:orientation val="minMax"/>
          <c:min val="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543925343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Blad1!$C$6</c:f>
              <c:strCache>
                <c:ptCount val="1"/>
                <c:pt idx="0">
                  <c:v>distance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Blad1!$A$7:$A$57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</c:numCache>
            </c:numRef>
          </c:cat>
          <c:val>
            <c:numRef>
              <c:f>Blad1!$C$7:$C$57</c:f>
              <c:numCache>
                <c:formatCode>General</c:formatCode>
                <c:ptCount val="51"/>
                <c:pt idx="0">
                  <c:v>6.75</c:v>
                </c:pt>
                <c:pt idx="1">
                  <c:v>6.26</c:v>
                </c:pt>
                <c:pt idx="2">
                  <c:v>5.7899999999999991</c:v>
                </c:pt>
                <c:pt idx="3">
                  <c:v>5.3400000000000007</c:v>
                </c:pt>
                <c:pt idx="4">
                  <c:v>4.91</c:v>
                </c:pt>
                <c:pt idx="5">
                  <c:v>4.5</c:v>
                </c:pt>
                <c:pt idx="6">
                  <c:v>4.1099999999999994</c:v>
                </c:pt>
                <c:pt idx="7">
                  <c:v>3.74</c:v>
                </c:pt>
                <c:pt idx="8">
                  <c:v>3.3900000000000006</c:v>
                </c:pt>
                <c:pt idx="9">
                  <c:v>3.0600000000000005</c:v>
                </c:pt>
                <c:pt idx="10">
                  <c:v>2.75</c:v>
                </c:pt>
                <c:pt idx="11">
                  <c:v>2.4600000000000004</c:v>
                </c:pt>
                <c:pt idx="12">
                  <c:v>2.1900000000000004</c:v>
                </c:pt>
                <c:pt idx="13">
                  <c:v>1.94</c:v>
                </c:pt>
                <c:pt idx="14">
                  <c:v>1.7099999999999997</c:v>
                </c:pt>
                <c:pt idx="15">
                  <c:v>1.4999999999999996</c:v>
                </c:pt>
                <c:pt idx="16">
                  <c:v>1.3099999999999994</c:v>
                </c:pt>
                <c:pt idx="17">
                  <c:v>1.1399999999999992</c:v>
                </c:pt>
                <c:pt idx="18">
                  <c:v>0.98999999999999932</c:v>
                </c:pt>
                <c:pt idx="19">
                  <c:v>0.85999999999999932</c:v>
                </c:pt>
                <c:pt idx="20">
                  <c:v>0.74999999999999956</c:v>
                </c:pt>
                <c:pt idx="21">
                  <c:v>0.65999999999999959</c:v>
                </c:pt>
                <c:pt idx="22">
                  <c:v>0.58999999999999964</c:v>
                </c:pt>
                <c:pt idx="23">
                  <c:v>0.5399999999999997</c:v>
                </c:pt>
                <c:pt idx="24">
                  <c:v>0.50999999999999979</c:v>
                </c:pt>
                <c:pt idx="25">
                  <c:v>0.5</c:v>
                </c:pt>
                <c:pt idx="26">
                  <c:v>0.51000000000000023</c:v>
                </c:pt>
                <c:pt idx="27">
                  <c:v>0.54000000000000048</c:v>
                </c:pt>
                <c:pt idx="28">
                  <c:v>0.59000000000000075</c:v>
                </c:pt>
                <c:pt idx="29">
                  <c:v>0.66000000000000103</c:v>
                </c:pt>
                <c:pt idx="30">
                  <c:v>0.75000000000000133</c:v>
                </c:pt>
                <c:pt idx="31">
                  <c:v>0.86000000000000165</c:v>
                </c:pt>
                <c:pt idx="32">
                  <c:v>0.9900000000000021</c:v>
                </c:pt>
                <c:pt idx="33">
                  <c:v>1.1400000000000026</c:v>
                </c:pt>
                <c:pt idx="34">
                  <c:v>1.3100000000000032</c:v>
                </c:pt>
                <c:pt idx="35">
                  <c:v>1.5000000000000036</c:v>
                </c:pt>
                <c:pt idx="36">
                  <c:v>1.7100000000000042</c:v>
                </c:pt>
                <c:pt idx="37">
                  <c:v>1.9400000000000046</c:v>
                </c:pt>
                <c:pt idx="38">
                  <c:v>2.1900000000000053</c:v>
                </c:pt>
                <c:pt idx="39">
                  <c:v>2.4600000000000062</c:v>
                </c:pt>
                <c:pt idx="40">
                  <c:v>2.7500000000000053</c:v>
                </c:pt>
                <c:pt idx="41">
                  <c:v>3.0600000000000045</c:v>
                </c:pt>
                <c:pt idx="42">
                  <c:v>3.3900000000000037</c:v>
                </c:pt>
                <c:pt idx="43">
                  <c:v>3.7400000000000024</c:v>
                </c:pt>
                <c:pt idx="44">
                  <c:v>4.1100000000000012</c:v>
                </c:pt>
                <c:pt idx="45">
                  <c:v>4.5</c:v>
                </c:pt>
                <c:pt idx="46">
                  <c:v>4.9099999999999984</c:v>
                </c:pt>
                <c:pt idx="47">
                  <c:v>5.3399999999999972</c:v>
                </c:pt>
                <c:pt idx="48">
                  <c:v>5.7899999999999947</c:v>
                </c:pt>
                <c:pt idx="49">
                  <c:v>6.2599999999999936</c:v>
                </c:pt>
                <c:pt idx="50">
                  <c:v>6.7499999999999911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AF9-4AB6-8610-813BEE7F14D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44525231"/>
        <c:axId val="544524271"/>
      </c:lineChart>
      <c:catAx>
        <c:axId val="544525231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544524271"/>
        <c:crosses val="autoZero"/>
        <c:auto val="1"/>
        <c:lblAlgn val="ctr"/>
        <c:lblOffset val="100"/>
        <c:noMultiLvlLbl val="0"/>
      </c:catAx>
      <c:valAx>
        <c:axId val="544524271"/>
        <c:scaling>
          <c:orientation val="minMax"/>
          <c:max val="12"/>
          <c:min val="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5445252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Blad1!$D$6</c:f>
              <c:strCache>
                <c:ptCount val="1"/>
                <c:pt idx="0">
                  <c:v>distance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Blad1!$A$7:$A$57</c:f>
              <c:numCache>
                <c:formatCode>General</c:formatCode>
                <c:ptCount val="51"/>
                <c:pt idx="0">
                  <c:v>0</c:v>
                </c:pt>
                <c:pt idx="1">
                  <c:v>0.1</c:v>
                </c:pt>
                <c:pt idx="2">
                  <c:v>0.2</c:v>
                </c:pt>
                <c:pt idx="3">
                  <c:v>0.30000000000000004</c:v>
                </c:pt>
                <c:pt idx="4">
                  <c:v>0.4</c:v>
                </c:pt>
                <c:pt idx="5">
                  <c:v>0.5</c:v>
                </c:pt>
                <c:pt idx="6">
                  <c:v>0.6</c:v>
                </c:pt>
                <c:pt idx="7">
                  <c:v>0.7</c:v>
                </c:pt>
                <c:pt idx="8">
                  <c:v>0.79999999999999993</c:v>
                </c:pt>
                <c:pt idx="9">
                  <c:v>0.89999999999999991</c:v>
                </c:pt>
                <c:pt idx="10">
                  <c:v>0.99999999999999989</c:v>
                </c:pt>
                <c:pt idx="11">
                  <c:v>1.0999999999999999</c:v>
                </c:pt>
                <c:pt idx="12">
                  <c:v>1.2</c:v>
                </c:pt>
                <c:pt idx="13">
                  <c:v>1.3</c:v>
                </c:pt>
                <c:pt idx="14">
                  <c:v>1.4000000000000001</c:v>
                </c:pt>
                <c:pt idx="15">
                  <c:v>1.5000000000000002</c:v>
                </c:pt>
                <c:pt idx="16">
                  <c:v>1.6000000000000003</c:v>
                </c:pt>
                <c:pt idx="17">
                  <c:v>1.7000000000000004</c:v>
                </c:pt>
                <c:pt idx="18">
                  <c:v>1.8000000000000005</c:v>
                </c:pt>
                <c:pt idx="19">
                  <c:v>1.9000000000000006</c:v>
                </c:pt>
                <c:pt idx="20">
                  <c:v>2.0000000000000004</c:v>
                </c:pt>
                <c:pt idx="21">
                  <c:v>2.1000000000000005</c:v>
                </c:pt>
                <c:pt idx="22">
                  <c:v>2.2000000000000006</c:v>
                </c:pt>
                <c:pt idx="23">
                  <c:v>2.3000000000000007</c:v>
                </c:pt>
                <c:pt idx="24">
                  <c:v>2.4000000000000008</c:v>
                </c:pt>
                <c:pt idx="25">
                  <c:v>2.5000000000000009</c:v>
                </c:pt>
                <c:pt idx="26">
                  <c:v>2.600000000000001</c:v>
                </c:pt>
                <c:pt idx="27">
                  <c:v>2.7000000000000011</c:v>
                </c:pt>
                <c:pt idx="28">
                  <c:v>2.8000000000000012</c:v>
                </c:pt>
                <c:pt idx="29">
                  <c:v>2.9000000000000012</c:v>
                </c:pt>
                <c:pt idx="30">
                  <c:v>3.0000000000000013</c:v>
                </c:pt>
                <c:pt idx="31">
                  <c:v>3.1000000000000014</c:v>
                </c:pt>
                <c:pt idx="32">
                  <c:v>3.2000000000000015</c:v>
                </c:pt>
                <c:pt idx="33">
                  <c:v>3.3000000000000016</c:v>
                </c:pt>
                <c:pt idx="34">
                  <c:v>3.4000000000000017</c:v>
                </c:pt>
                <c:pt idx="35">
                  <c:v>3.5000000000000018</c:v>
                </c:pt>
                <c:pt idx="36">
                  <c:v>3.6000000000000019</c:v>
                </c:pt>
                <c:pt idx="37">
                  <c:v>3.700000000000002</c:v>
                </c:pt>
                <c:pt idx="38">
                  <c:v>3.800000000000002</c:v>
                </c:pt>
                <c:pt idx="39">
                  <c:v>3.9000000000000021</c:v>
                </c:pt>
                <c:pt idx="40">
                  <c:v>4.0000000000000018</c:v>
                </c:pt>
                <c:pt idx="41">
                  <c:v>4.1000000000000014</c:v>
                </c:pt>
                <c:pt idx="42">
                  <c:v>4.2000000000000011</c:v>
                </c:pt>
                <c:pt idx="43">
                  <c:v>4.3000000000000007</c:v>
                </c:pt>
                <c:pt idx="44">
                  <c:v>4.4000000000000004</c:v>
                </c:pt>
                <c:pt idx="45">
                  <c:v>4.5</c:v>
                </c:pt>
                <c:pt idx="46">
                  <c:v>4.5999999999999996</c:v>
                </c:pt>
                <c:pt idx="47">
                  <c:v>4.6999999999999993</c:v>
                </c:pt>
                <c:pt idx="48">
                  <c:v>4.7999999999999989</c:v>
                </c:pt>
                <c:pt idx="49">
                  <c:v>4.8999999999999986</c:v>
                </c:pt>
                <c:pt idx="50">
                  <c:v>4.9999999999999982</c:v>
                </c:pt>
              </c:numCache>
            </c:numRef>
          </c:cat>
          <c:val>
            <c:numRef>
              <c:f>Blad1!$D$7:$D$57</c:f>
              <c:numCache>
                <c:formatCode>General</c:formatCode>
                <c:ptCount val="51"/>
                <c:pt idx="0">
                  <c:v>5.75</c:v>
                </c:pt>
                <c:pt idx="1">
                  <c:v>5.26</c:v>
                </c:pt>
                <c:pt idx="2">
                  <c:v>4.7899999999999991</c:v>
                </c:pt>
                <c:pt idx="3">
                  <c:v>4.3400000000000007</c:v>
                </c:pt>
                <c:pt idx="4">
                  <c:v>3.91</c:v>
                </c:pt>
                <c:pt idx="5">
                  <c:v>3.5</c:v>
                </c:pt>
                <c:pt idx="6">
                  <c:v>3.11</c:v>
                </c:pt>
                <c:pt idx="7">
                  <c:v>2.74</c:v>
                </c:pt>
                <c:pt idx="8">
                  <c:v>2.3900000000000006</c:v>
                </c:pt>
                <c:pt idx="9">
                  <c:v>2.0600000000000005</c:v>
                </c:pt>
                <c:pt idx="10">
                  <c:v>1.75</c:v>
                </c:pt>
                <c:pt idx="11">
                  <c:v>1.4600000000000004</c:v>
                </c:pt>
                <c:pt idx="12">
                  <c:v>1.1900000000000002</c:v>
                </c:pt>
                <c:pt idx="13">
                  <c:v>0.94</c:v>
                </c:pt>
                <c:pt idx="14">
                  <c:v>0.70999999999999974</c:v>
                </c:pt>
                <c:pt idx="15">
                  <c:v>0.49999999999999956</c:v>
                </c:pt>
                <c:pt idx="16">
                  <c:v>0.30999999999999939</c:v>
                </c:pt>
                <c:pt idx="17">
                  <c:v>0.13999999999999935</c:v>
                </c:pt>
                <c:pt idx="18">
                  <c:v>-1.0000000000000675E-2</c:v>
                </c:pt>
                <c:pt idx="19">
                  <c:v>-0.14000000000000068</c:v>
                </c:pt>
                <c:pt idx="20">
                  <c:v>-0.25000000000000044</c:v>
                </c:pt>
                <c:pt idx="21">
                  <c:v>-0.34000000000000041</c:v>
                </c:pt>
                <c:pt idx="22">
                  <c:v>-0.41000000000000036</c:v>
                </c:pt>
                <c:pt idx="23">
                  <c:v>-0.4600000000000003</c:v>
                </c:pt>
                <c:pt idx="24">
                  <c:v>-0.49000000000000016</c:v>
                </c:pt>
                <c:pt idx="25">
                  <c:v>-0.5</c:v>
                </c:pt>
                <c:pt idx="26">
                  <c:v>-0.48999999999999982</c:v>
                </c:pt>
                <c:pt idx="27">
                  <c:v>-0.45999999999999958</c:v>
                </c:pt>
                <c:pt idx="28">
                  <c:v>-0.40999999999999931</c:v>
                </c:pt>
                <c:pt idx="29">
                  <c:v>-0.33999999999999897</c:v>
                </c:pt>
                <c:pt idx="30">
                  <c:v>-0.24999999999999867</c:v>
                </c:pt>
                <c:pt idx="31">
                  <c:v>-0.13999999999999829</c:v>
                </c:pt>
                <c:pt idx="32">
                  <c:v>-9.9999999999978995E-3</c:v>
                </c:pt>
                <c:pt idx="33">
                  <c:v>0.14000000000000257</c:v>
                </c:pt>
                <c:pt idx="34">
                  <c:v>0.31000000000000305</c:v>
                </c:pt>
                <c:pt idx="35">
                  <c:v>0.50000000000000355</c:v>
                </c:pt>
                <c:pt idx="36">
                  <c:v>0.71000000000000418</c:v>
                </c:pt>
                <c:pt idx="37">
                  <c:v>0.94000000000000461</c:v>
                </c:pt>
                <c:pt idx="38">
                  <c:v>1.1900000000000053</c:v>
                </c:pt>
                <c:pt idx="39">
                  <c:v>1.460000000000006</c:v>
                </c:pt>
                <c:pt idx="40">
                  <c:v>1.7500000000000053</c:v>
                </c:pt>
                <c:pt idx="41">
                  <c:v>2.0600000000000045</c:v>
                </c:pt>
                <c:pt idx="42">
                  <c:v>2.3900000000000037</c:v>
                </c:pt>
                <c:pt idx="43">
                  <c:v>2.7400000000000024</c:v>
                </c:pt>
                <c:pt idx="44">
                  <c:v>3.1100000000000012</c:v>
                </c:pt>
                <c:pt idx="45">
                  <c:v>3.5</c:v>
                </c:pt>
                <c:pt idx="46">
                  <c:v>3.9099999999999984</c:v>
                </c:pt>
                <c:pt idx="47">
                  <c:v>4.3399999999999972</c:v>
                </c:pt>
                <c:pt idx="48">
                  <c:v>4.7899999999999947</c:v>
                </c:pt>
                <c:pt idx="49">
                  <c:v>5.2599999999999936</c:v>
                </c:pt>
                <c:pt idx="50">
                  <c:v>5.7499999999999911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25-4040-99C6-632AD7321F8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551266767"/>
        <c:axId val="551265327"/>
      </c:lineChart>
      <c:catAx>
        <c:axId val="5512667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551265327"/>
        <c:crosses val="autoZero"/>
        <c:auto val="1"/>
        <c:lblAlgn val="ctr"/>
        <c:lblOffset val="100"/>
        <c:noMultiLvlLbl val="0"/>
      </c:catAx>
      <c:valAx>
        <c:axId val="551265327"/>
        <c:scaling>
          <c:orientation val="minMax"/>
          <c:max val="12"/>
          <c:min val="-2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sv-SE"/>
          </a:p>
        </c:txPr>
        <c:crossAx val="551266767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Blad2!$C$1</c:f>
              <c:strCache>
                <c:ptCount val="1"/>
                <c:pt idx="0">
                  <c:v>f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Blad2!$B$2:$B$4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Blad2!$C$2:$C$4</c:f>
              <c:numCache>
                <c:formatCode>General</c:formatCode>
                <c:ptCount val="3"/>
                <c:pt idx="0">
                  <c:v>10</c:v>
                </c:pt>
                <c:pt idx="1">
                  <c:v>12</c:v>
                </c:pt>
                <c:pt idx="2">
                  <c:v>15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54E-4B29-9AA7-449C5FEB77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551068719"/>
        <c:axId val="551070639"/>
      </c:scatterChart>
      <c:valAx>
        <c:axId val="551068719"/>
        <c:scaling>
          <c:orientation val="minMax"/>
          <c:min val="0.5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551070639"/>
        <c:crosses val="autoZero"/>
        <c:crossBetween val="midCat"/>
      </c:valAx>
      <c:valAx>
        <c:axId val="55107063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55106871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Blad2!$C$6</c:f>
              <c:strCache>
                <c:ptCount val="1"/>
                <c:pt idx="0">
                  <c:v>f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Blad2!$B$7:$B$9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Blad2!$C$7:$C$9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10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1D1-4900-9224-6D37078B782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60030351"/>
        <c:axId val="760027951"/>
      </c:scatterChart>
      <c:valAx>
        <c:axId val="760030351"/>
        <c:scaling>
          <c:orientation val="minMax"/>
          <c:min val="0.5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60027951"/>
        <c:crosses val="autoZero"/>
        <c:crossBetween val="midCat"/>
      </c:valAx>
      <c:valAx>
        <c:axId val="76002795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60030351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sv-S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sv-SE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Blad2!$C$11</c:f>
              <c:strCache>
                <c:ptCount val="1"/>
                <c:pt idx="0">
                  <c:v>f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xVal>
            <c:numRef>
              <c:f>Blad2!$B$12:$B$14</c:f>
              <c:numCache>
                <c:formatCode>General</c:formatCode>
                <c:ptCount val="3"/>
                <c:pt idx="0">
                  <c:v>1</c:v>
                </c:pt>
                <c:pt idx="1">
                  <c:v>2</c:v>
                </c:pt>
                <c:pt idx="2">
                  <c:v>3</c:v>
                </c:pt>
              </c:numCache>
            </c:numRef>
          </c:xVal>
          <c:yVal>
            <c:numRef>
              <c:f>Blad2!$C$12:$C$14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4929-4157-A285-2ABD94022BA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753051759"/>
        <c:axId val="753050319"/>
      </c:scatterChart>
      <c:valAx>
        <c:axId val="753051759"/>
        <c:scaling>
          <c:orientation val="minMax"/>
          <c:min val="0.5"/>
        </c:scaling>
        <c:delete val="1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53050319"/>
        <c:crosses val="autoZero"/>
        <c:crossBetween val="midCat"/>
      </c:valAx>
      <c:valAx>
        <c:axId val="753050319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753051759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sv-S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in"/>
          <inkml:channel name="Y" type="integer" max="32767" units="in"/>
        </inkml:traceFormat>
        <inkml:channelProperties>
          <inkml:channelProperty channel="X" name="resolution" value="5295.24854" units="1/in"/>
          <inkml:channelProperty channel="Y" name="resolution" value="3971.75757" units="1/in"/>
        </inkml:channelProperties>
      </inkml:inkSource>
      <inkml:timestamp xml:id="ts0" timeString="2012-11-09T07:34:17.827"/>
    </inkml:context>
    <inkml:brush xml:id="br0">
      <inkml:brushProperty name="width" value="0.0762" units="cm"/>
      <inkml:brushProperty name="height" value="0.0762" units="cm"/>
      <inkml:brushProperty name="fitToCurve" value="1"/>
    </inkml:brush>
  </inkml:definitions>
  <inkml:trace contextRef="#ctx0" brushRef="#br0">408 38,'7'36,"-3"-17,3 6,2 2,0 1,4 4,-1-1,5 3,-3-3,5 4,-3-3,3 2,0 1,2 3,-1-3,4 4,1-2,3 2,2 0,2 2,2-2,1 1,3-2,1 1,-1-2,0-2,1-2,-1-3,1 0,2-3,1-3,1-1,-1 1,-1-2,0-2,0-2,-2 1,-2-2,-3 1,-2-3,-2-2,0 1,-2 1,-2-2,-1 0,2-2,0-2,1-1,1-3,0 0,1-3,0-2,1 0,-1 0,0-2,-3 0,-1 1,0 0,0 0,1 0,-3 1,0 0,0 3,-1 0,-1 0,-1 0,-2-2,-3 3,-1-4,-3 1,-3 1,-2-1,-7-1,9 0,-9 0,0 0,0 0,0 0,0 0,0 0,0 0,0 0,0 0,0 0,0 0,0 0,0 0,0 0,0 0,0 0,0 0,0 0,0 0,0 0,0 0,0 0,0 0,0 0,0 0,0 0,0 0,3-6,-3 6,3-19,-2 4,2-4,1-7,1-3,1-6,0-1,1-4,-1 1,2-4,-1 2,0 0,-2 2,1 3,-1 3,0 7,-1 4,-2 4,1 5,-3 5,0 8,2-9,-2 9,0 0,0 0,0 0,0 0,9 5,-9-5,7 11,0-5,0 4,0 3,3 0,1 2,1 1,4 5,1 0,2 2,2 1,2 1,2 2,3 2,2 4,0 0,0 3,1 2,-2 0,2 2,-1 2,0 2,-2-6,-1 2,0-1,0 0,0-1,-1 0,1 0,-2-5,-1 2,0 0,-2-3,-2-2,-2-2,-1-4,-2-3,-1-1,-3-5,-1-2,-2-3,0-3,-8-7,12 13,-12-13,8 10,-8-10,6 9,-6-9,0 0,6 10,-6-10,0 0,0 0,0 0,0 0,0 0,0 9,0-9,-6 1,6-1,-13 5,4-1,-2 3,-4 3,-4 5,-4 5,-5 6,-4 4,-3 5,-2 6,-4 1,-1 2,-3 0,2 1,-2-1,-1-1,2-2,0-1,1-3,3-3,3-4,4-5,5-3,3-2,1-3,2-4,5 0,1-2,3-2,2 0,1-1,4-3,6-5,-7 7,7-7,0 0,0 0,-7 6,7-6,0 0,0 0,0 0,0 0,0 0,0 0,-4-7,4 7,-2-19,1 6,-1-7,0-6,0-1,1-7,0-4,1 0,0 0,0 0,0 2,0 2,0 3,0 5,0 4,-2 3,1 2,1 2,-1 2,1 4,0 9,-2-16,2 16,0 0,0-11,0 11,0 0,0 0,0 0,0 0,0 0,0 0,0 0,0 0,0 0,0 0,0 0,0 0,0 0,0 0,0 0,0 0,-7-10,7 10,0 0,-7-8,7 8,-9-7,9 7,-14-6,4 4,-4-2,-2 2,-2-1,-5 3,0 0,-5 0,-2 0,-1 0,-2 0,-2 5,0-1,-2-1,-1 3,-2 1,2 0,0 2,0 2,2-2,-1 2,0 0,1 2,1 3,-2-1,0 3,1 0,-1 2,-1 1,-3 3,1-3,-3 0,1-1,-1 1,-1-2,2 1,1-3,1 0,2 0,2 2,1 0,1 3,2-1,-3 2,3 2,0 0,1 2,0 2,3 0,-1-2,1 1,2 1,2 0,0 2,1-3,3 1,-1-1,3-1,0 4,1-2,1 1,0 0,1 0,1 1,2-2,4-3,-1-5,4-1,1-7,1-2,3-11,0 10,0-10,0 0,0 0,0 0,0 0,0 0,-8-4,8 4,0 0,-6-13,6 13,0 0,-6-18,11 10,0-8,5-3,1-6,-11 25</inkml:trace>
  <inkml:trace contextRef="#ctx0" brushRef="#br0" timeOffset="1">334 176,'-9'5,"9"-5,-7 9,7-9,-4 20,3-7,1 10,0 3,5 14,2 5,2 9,1 3,4 6,0 1,1 0,-2-7,1-5,-2-6,-1-6,-2-8,0-4,-2-6,-1-4,3-2,-2-3,-1-5,2 0,-8-8,11 11,-11-11,8 4,-8-4,0 0,0 0,0 0,0 0,0 0,0 0,0 10,0-10,-6 9,6-9,-11 14,5-4,-1 2,-3 3,-3 5,-2 2,-4 4,-2 4,-2 3,-4 1,0 2,0 0,1-4,2-3,3 0,0-6,4-2,1-3,4-2,0-5,3-1,2-2,7-8,-9 11,9-11,0 0,0 0,0 0,-2 8,2-8,0 0,4 5,-4-5,9 5,-9-5,12 14,-3-3,1 4,2 3,3 6,2 1,1 2,1 0,-2 1,1-2,-1-2,-2-4,-2-4,-2-3,-2-3,-1-1,0-5,-1-2,-7-2,12 0,-12 0,9 0,-9 0,0 0,9 0,-9 0,0 0,0 0,5 9,-5-9,0 0,0 11,0-11,0 12,0-12,-4 17,-1-8,-1 5,-2 3,-3 2,-1 5,-2 4,-4 1,-4 4,0 2,-2 2,0-3,-1 1,0-3,2-4,2-2,2-4,2-5,3-2,1-2,2-3,2 0,1-1,2-1,6-8,-9 13,9-13,-2 12,2-12,1 16,-1-16,11 14,-2-5,2 2,2 1,1 4,3-2,2 4,0 0,2 2,0 0,-2-2,0 1,-2-2,-2-2,-1-3,-3-2,-1-2,-10-8,10 11,-10-11,0 0,7 4,-7-4,0 0,0 0,0 0,0 0,-5 7,5-7,-6 8,6-8,-8 14,3-5,-1 5,-1 3,-2 4,-2 3,1 4,-2 3,0 5,0 1,0 0,1-1,1-4,2-1,2-3,1-5,1-5,1-4,1-4,2-10,0 0,0 0,0 0,0 0,0 0,0 0,1-6,-1 6,0 0,8 0,-8 0,11 8,-1 4,1 2,4 3,1 2,1 1,1 0,2-1,0-2,-3-4,0 0,-5-8,-1 0,-4-5,-7 0,-2-11,2 11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sidhuvu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Platshållare fö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17275-CCED-4C19-8AD7-923C96E3E918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4" name="Platshållare för bildobjekt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Platshållare för anteckninga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6" name="Platshållare för sidfo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Platshållare för bild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C161CB-F0F4-45D8-BF99-996291BF8AF8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93471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050917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Random</a:t>
            </a:r>
            <a:r>
              <a:rPr lang="sv-SE" dirty="0"/>
              <a:t> generation to </a:t>
            </a:r>
            <a:r>
              <a:rPr lang="sv-SE" i="1" dirty="0" err="1"/>
              <a:t>provoke</a:t>
            </a:r>
            <a:r>
              <a:rPr lang="sv-SE" i="0" dirty="0"/>
              <a:t> </a:t>
            </a:r>
            <a:r>
              <a:rPr lang="sv-SE" i="0" dirty="0" err="1"/>
              <a:t>faults</a:t>
            </a:r>
            <a:r>
              <a:rPr lang="sv-SE" i="0" dirty="0"/>
              <a:t> (</a:t>
            </a:r>
            <a:r>
              <a:rPr lang="sv-SE" i="0" dirty="0" err="1"/>
              <a:t>often</a:t>
            </a:r>
            <a:r>
              <a:rPr lang="sv-SE" i="0" dirty="0"/>
              <a:t> </a:t>
            </a:r>
            <a:r>
              <a:rPr lang="sv-SE" i="0" dirty="0" err="1"/>
              <a:t>ones</a:t>
            </a:r>
            <a:r>
              <a:rPr lang="sv-SE" i="0" dirty="0"/>
              <a:t> you </a:t>
            </a:r>
            <a:r>
              <a:rPr lang="sv-SE" i="0" dirty="0" err="1"/>
              <a:t>wouldn’t</a:t>
            </a:r>
            <a:r>
              <a:rPr lang="sv-SE" i="0" dirty="0"/>
              <a:t> </a:t>
            </a:r>
            <a:r>
              <a:rPr lang="sv-SE" i="0" dirty="0" err="1"/>
              <a:t>think</a:t>
            </a:r>
            <a:r>
              <a:rPr lang="sv-SE" i="0" dirty="0"/>
              <a:t> </a:t>
            </a:r>
            <a:r>
              <a:rPr lang="sv-SE" i="0" dirty="0" err="1"/>
              <a:t>of</a:t>
            </a:r>
            <a:r>
              <a:rPr lang="sv-SE" i="0" dirty="0"/>
              <a:t>)</a:t>
            </a:r>
          </a:p>
          <a:p>
            <a:r>
              <a:rPr lang="sv-SE" i="0" dirty="0" err="1"/>
              <a:t>Shrinking</a:t>
            </a:r>
            <a:r>
              <a:rPr lang="sv-SE" i="0" dirty="0"/>
              <a:t> to </a:t>
            </a:r>
            <a:r>
              <a:rPr lang="sv-SE" i="1" dirty="0" err="1"/>
              <a:t>diagnose</a:t>
            </a:r>
            <a:r>
              <a:rPr lang="sv-SE" i="0" dirty="0"/>
              <a:t> </a:t>
            </a:r>
            <a:r>
              <a:rPr lang="sv-SE" i="0" dirty="0" err="1"/>
              <a:t>faults</a:t>
            </a:r>
            <a:r>
              <a:rPr lang="sv-SE" i="0" dirty="0"/>
              <a:t>; </a:t>
            </a:r>
            <a:r>
              <a:rPr lang="sv-SE" i="0" dirty="0" err="1"/>
              <a:t>minimality</a:t>
            </a:r>
            <a:r>
              <a:rPr lang="sv-SE" i="0" dirty="0"/>
              <a:t> </a:t>
            </a:r>
            <a:r>
              <a:rPr lang="sv-SE" i="0" dirty="0">
                <a:sym typeface="Wingdings" panose="05000000000000000000" pitchFamily="2" charset="2"/>
              </a:rPr>
              <a:t> </a:t>
            </a:r>
            <a:r>
              <a:rPr lang="sv-SE" i="0" dirty="0" err="1">
                <a:sym typeface="Wingdings" panose="05000000000000000000" pitchFamily="2" charset="2"/>
              </a:rPr>
              <a:t>relevance</a:t>
            </a:r>
            <a:endParaRPr lang="sv-SE" i="0" dirty="0"/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2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55247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Very general idea.</a:t>
            </a:r>
          </a:p>
          <a:p>
            <a:r>
              <a:rPr lang="sv-SE" dirty="0"/>
              <a:t>Key question: </a:t>
            </a:r>
            <a:r>
              <a:rPr lang="sv-SE" b="1" dirty="0" err="1"/>
              <a:t>what</a:t>
            </a:r>
            <a:r>
              <a:rPr lang="sv-SE" b="1" dirty="0"/>
              <a:t> is a test </a:t>
            </a:r>
            <a:r>
              <a:rPr lang="sv-SE" b="1" dirty="0" err="1"/>
              <a:t>case</a:t>
            </a:r>
            <a:r>
              <a:rPr lang="sv-SE" b="1" dirty="0"/>
              <a:t>?</a:t>
            </a:r>
          </a:p>
          <a:p>
            <a:r>
              <a:rPr lang="sv-SE" b="1" dirty="0" err="1"/>
              <a:t>Example</a:t>
            </a:r>
            <a:r>
              <a:rPr lang="sv-SE" b="1" dirty="0"/>
              <a:t>: </a:t>
            </a:r>
            <a:r>
              <a:rPr lang="sv-SE" b="0" dirty="0" err="1"/>
              <a:t>circular</a:t>
            </a:r>
            <a:r>
              <a:rPr lang="sv-SE" b="0" dirty="0"/>
              <a:t> </a:t>
            </a:r>
            <a:r>
              <a:rPr lang="sv-SE" b="0" dirty="0" err="1"/>
              <a:t>buffer</a:t>
            </a:r>
            <a:r>
              <a:rPr lang="sv-SE" b="0" dirty="0"/>
              <a:t> </a:t>
            </a:r>
            <a:r>
              <a:rPr lang="sv-SE" b="0" dirty="0" err="1"/>
              <a:t>implementing</a:t>
            </a:r>
            <a:r>
              <a:rPr lang="sv-SE" b="0" dirty="0"/>
              <a:t> a </a:t>
            </a:r>
            <a:r>
              <a:rPr lang="sv-SE" b="0" dirty="0" err="1"/>
              <a:t>queue</a:t>
            </a:r>
            <a:endParaRPr lang="sv-SE" b="0" dirty="0"/>
          </a:p>
          <a:p>
            <a:r>
              <a:rPr lang="sv-SE" b="1" dirty="0"/>
              <a:t>Note:</a:t>
            </a:r>
            <a:r>
              <a:rPr lang="sv-SE" b="0" dirty="0"/>
              <a:t> minimal </a:t>
            </a:r>
            <a:r>
              <a:rPr lang="sv-SE" b="0" dirty="0" err="1"/>
              <a:t>example</a:t>
            </a:r>
            <a:r>
              <a:rPr lang="sv-SE" b="0" dirty="0"/>
              <a:t> </a:t>
            </a:r>
            <a:r>
              <a:rPr lang="sv-SE" b="0" dirty="0" err="1"/>
              <a:t>presented</a:t>
            </a:r>
            <a:r>
              <a:rPr lang="sv-SE" b="0" dirty="0"/>
              <a:t>, </a:t>
            </a:r>
            <a:r>
              <a:rPr lang="sv-SE" b="0" dirty="0" err="1"/>
              <a:t>shrunk</a:t>
            </a:r>
            <a:r>
              <a:rPr lang="sv-SE" b="0" dirty="0"/>
              <a:t> from test </a:t>
            </a:r>
            <a:r>
              <a:rPr lang="sv-SE" b="0" dirty="0" err="1"/>
              <a:t>case</a:t>
            </a:r>
            <a:r>
              <a:rPr lang="sv-SE" b="0" dirty="0"/>
              <a:t> </a:t>
            </a:r>
            <a:r>
              <a:rPr lang="sv-SE" b="0" dirty="0" err="1"/>
              <a:t>of</a:t>
            </a:r>
            <a:r>
              <a:rPr lang="sv-SE" b="0" dirty="0"/>
              <a:t> 36 steps</a:t>
            </a:r>
            <a:endParaRPr lang="sv-SE" b="1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3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257358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Contains</a:t>
            </a:r>
            <a:r>
              <a:rPr lang="sv-SE" dirty="0"/>
              <a:t> </a:t>
            </a:r>
            <a:r>
              <a:rPr lang="sv-SE" dirty="0" err="1"/>
              <a:t>logic</a:t>
            </a:r>
            <a:r>
              <a:rPr lang="sv-SE" dirty="0"/>
              <a:t> and </a:t>
            </a:r>
            <a:r>
              <a:rPr lang="sv-SE" dirty="0" err="1"/>
              <a:t>delays</a:t>
            </a:r>
            <a:r>
              <a:rPr lang="sv-SE" dirty="0"/>
              <a:t>.</a:t>
            </a:r>
          </a:p>
          <a:p>
            <a:r>
              <a:rPr lang="sv-SE" dirty="0"/>
              <a:t>Safety for a robot with a laser in an </a:t>
            </a:r>
            <a:r>
              <a:rPr lang="sv-SE" dirty="0" err="1"/>
              <a:t>enclosure</a:t>
            </a:r>
            <a:r>
              <a:rPr lang="sv-SE" dirty="0"/>
              <a:t>; stop stuff in an </a:t>
            </a:r>
            <a:r>
              <a:rPr lang="sv-SE" dirty="0" err="1"/>
              <a:t>emergency</a:t>
            </a:r>
            <a:r>
              <a:rPr lang="sv-SE" dirty="0"/>
              <a:t> or </a:t>
            </a:r>
            <a:r>
              <a:rPr lang="sv-SE" dirty="0" err="1"/>
              <a:t>if</a:t>
            </a:r>
            <a:r>
              <a:rPr lang="sv-SE" dirty="0"/>
              <a:t> door is </a:t>
            </a:r>
            <a:r>
              <a:rPr lang="sv-SE" dirty="0" err="1"/>
              <a:t>opened</a:t>
            </a:r>
            <a:r>
              <a:rPr lang="sv-SE" dirty="0"/>
              <a:t>.</a:t>
            </a:r>
          </a:p>
          <a:p>
            <a:r>
              <a:rPr lang="sv-SE" b="1" dirty="0"/>
              <a:t>NOT </a:t>
            </a:r>
            <a:r>
              <a:rPr lang="sv-SE" b="0" dirty="0" err="1"/>
              <a:t>random</a:t>
            </a:r>
            <a:r>
              <a:rPr lang="sv-SE" b="0" dirty="0"/>
              <a:t> </a:t>
            </a:r>
            <a:r>
              <a:rPr lang="sv-SE" b="0" dirty="0" err="1"/>
              <a:t>booleans</a:t>
            </a:r>
            <a:r>
              <a:rPr lang="sv-SE" b="0" dirty="0"/>
              <a:t> at each </a:t>
            </a:r>
            <a:r>
              <a:rPr lang="sv-SE" b="0" dirty="0" err="1"/>
              <a:t>instant</a:t>
            </a:r>
            <a:r>
              <a:rPr lang="sv-SE" b="0" dirty="0"/>
              <a:t>—would not </a:t>
            </a:r>
            <a:r>
              <a:rPr lang="sv-SE" b="0" dirty="0" err="1"/>
              <a:t>provoke</a:t>
            </a:r>
            <a:r>
              <a:rPr lang="sv-SE" b="0" dirty="0"/>
              <a:t> </a:t>
            </a:r>
            <a:r>
              <a:rPr lang="sv-SE" b="0" dirty="0" err="1"/>
              <a:t>behaviours</a:t>
            </a:r>
            <a:r>
              <a:rPr lang="sv-SE" b="0" dirty="0"/>
              <a:t> like ”</a:t>
            </a:r>
            <a:r>
              <a:rPr lang="sv-SE" b="0" dirty="0" err="1"/>
              <a:t>if</a:t>
            </a:r>
            <a:r>
              <a:rPr lang="sv-SE" b="0" dirty="0"/>
              <a:t> </a:t>
            </a:r>
            <a:r>
              <a:rPr lang="sv-SE" b="0" dirty="0" err="1"/>
              <a:t>button</a:t>
            </a:r>
            <a:r>
              <a:rPr lang="sv-SE" b="0" dirty="0"/>
              <a:t> is </a:t>
            </a:r>
            <a:r>
              <a:rPr lang="sv-SE" b="0" dirty="0" err="1"/>
              <a:t>pressed</a:t>
            </a:r>
            <a:r>
              <a:rPr lang="sv-SE" b="0" dirty="0"/>
              <a:t> for 300ms…”</a:t>
            </a:r>
          </a:p>
          <a:p>
            <a:r>
              <a:rPr lang="sv-SE" b="0" dirty="0" err="1"/>
              <a:t>Shrinking</a:t>
            </a:r>
            <a:r>
              <a:rPr lang="sv-SE" b="0" dirty="0"/>
              <a:t> </a:t>
            </a:r>
            <a:r>
              <a:rPr lang="sv-SE" b="0" i="1" dirty="0" err="1"/>
              <a:t>adds</a:t>
            </a:r>
            <a:r>
              <a:rPr lang="sv-SE" b="0" i="0" dirty="0"/>
              <a:t> </a:t>
            </a:r>
            <a:r>
              <a:rPr lang="sv-SE" b="0" i="0" dirty="0" err="1"/>
              <a:t>delays</a:t>
            </a:r>
            <a:r>
              <a:rPr lang="sv-SE" b="0" i="0" dirty="0"/>
              <a:t> </a:t>
            </a:r>
            <a:r>
              <a:rPr lang="sv-SE" b="0" i="0" dirty="0" err="1"/>
              <a:t>when</a:t>
            </a:r>
            <a:r>
              <a:rPr lang="sv-SE" b="0" i="0" dirty="0"/>
              <a:t> </a:t>
            </a:r>
            <a:r>
              <a:rPr lang="sv-SE" b="0" i="0" dirty="0" err="1"/>
              <a:t>deleting</a:t>
            </a:r>
            <a:r>
              <a:rPr lang="sv-SE" b="0" i="0" dirty="0"/>
              <a:t> a </a:t>
            </a:r>
            <a:r>
              <a:rPr lang="sv-SE" b="0" i="0" dirty="0" err="1"/>
              <a:t>command</a:t>
            </a:r>
            <a:r>
              <a:rPr lang="sv-SE" b="0" i="0" dirty="0"/>
              <a:t>; </a:t>
            </a:r>
            <a:r>
              <a:rPr lang="sv-SE" b="0" i="0" dirty="0" err="1"/>
              <a:t>can</a:t>
            </a:r>
            <a:r>
              <a:rPr lang="sv-SE" b="0" i="0" dirty="0"/>
              <a:t> also </a:t>
            </a:r>
            <a:r>
              <a:rPr lang="sv-SE" b="0" i="0" dirty="0" err="1"/>
              <a:t>shrink</a:t>
            </a:r>
            <a:r>
              <a:rPr lang="sv-SE" b="0" i="0" dirty="0"/>
              <a:t> </a:t>
            </a:r>
            <a:r>
              <a:rPr lang="sv-SE" b="0" i="0" dirty="0" err="1"/>
              <a:t>delays</a:t>
            </a:r>
            <a:r>
              <a:rPr lang="sv-SE" b="0" i="0" dirty="0"/>
              <a:t>.</a:t>
            </a:r>
            <a:endParaRPr lang="sv-SE" b="1" dirty="0"/>
          </a:p>
          <a:p>
            <a:r>
              <a:rPr lang="sv-SE" dirty="0"/>
              <a:t>On a release, the PC </a:t>
            </a:r>
            <a:r>
              <a:rPr lang="sv-SE" i="1" dirty="0" err="1"/>
              <a:t>allows</a:t>
            </a:r>
            <a:r>
              <a:rPr lang="sv-SE" i="0" dirty="0"/>
              <a:t> </a:t>
            </a:r>
            <a:r>
              <a:rPr lang="sv-SE" i="0" dirty="0" err="1"/>
              <a:t>everything</a:t>
            </a:r>
            <a:r>
              <a:rPr lang="sv-SE" i="0" dirty="0"/>
              <a:t> to be </a:t>
            </a:r>
            <a:r>
              <a:rPr lang="sv-SE" i="0" dirty="0" err="1"/>
              <a:t>turned</a:t>
            </a:r>
            <a:r>
              <a:rPr lang="sv-SE" i="0" dirty="0"/>
              <a:t> back on, despite the open door. Thanks to </a:t>
            </a:r>
            <a:r>
              <a:rPr lang="sv-SE" i="0" dirty="0" err="1"/>
              <a:t>delays</a:t>
            </a:r>
            <a:r>
              <a:rPr lang="sv-SE" i="0" dirty="0"/>
              <a:t> inside the PLC.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2540736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Testing</a:t>
            </a:r>
            <a:r>
              <a:rPr lang="sv-SE" dirty="0"/>
              <a:t> </a:t>
            </a:r>
            <a:r>
              <a:rPr lang="sv-SE" dirty="0" err="1"/>
              <a:t>AutoSAR</a:t>
            </a:r>
            <a:r>
              <a:rPr lang="sv-SE" dirty="0"/>
              <a:t> </a:t>
            </a:r>
            <a:r>
              <a:rPr lang="sv-SE" dirty="0" err="1"/>
              <a:t>basic</a:t>
            </a:r>
            <a:r>
              <a:rPr lang="sv-SE" dirty="0"/>
              <a:t> software</a:t>
            </a:r>
          </a:p>
          <a:p>
            <a:r>
              <a:rPr lang="sv-SE" dirty="0"/>
              <a:t>For Volvo Cars: Volvo </a:t>
            </a:r>
            <a:r>
              <a:rPr lang="sv-SE" dirty="0" err="1"/>
              <a:t>buy</a:t>
            </a:r>
            <a:r>
              <a:rPr lang="sv-SE" dirty="0"/>
              <a:t> </a:t>
            </a:r>
            <a:r>
              <a:rPr lang="sv-SE" dirty="0" err="1"/>
              <a:t>components</a:t>
            </a:r>
            <a:r>
              <a:rPr lang="sv-SE" dirty="0"/>
              <a:t> </a:t>
            </a:r>
            <a:r>
              <a:rPr lang="sv-SE" dirty="0" err="1"/>
              <a:t>running</a:t>
            </a:r>
            <a:r>
              <a:rPr lang="sv-SE" dirty="0"/>
              <a:t> </a:t>
            </a:r>
            <a:r>
              <a:rPr lang="sv-SE" dirty="0" err="1"/>
              <a:t>basic</a:t>
            </a:r>
            <a:r>
              <a:rPr lang="sv-SE" dirty="0"/>
              <a:t> software from different </a:t>
            </a:r>
            <a:r>
              <a:rPr lang="sv-SE" dirty="0" err="1"/>
              <a:t>vendors</a:t>
            </a:r>
            <a:r>
              <a:rPr lang="sv-SE" dirty="0"/>
              <a:t>; </a:t>
            </a:r>
            <a:r>
              <a:rPr lang="sv-SE" dirty="0" err="1"/>
              <a:t>if</a:t>
            </a:r>
            <a:r>
              <a:rPr lang="sv-SE" dirty="0"/>
              <a:t>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don’t</a:t>
            </a:r>
            <a:r>
              <a:rPr lang="sv-SE" dirty="0"/>
              <a:t> follow the standard, </a:t>
            </a:r>
            <a:r>
              <a:rPr lang="sv-SE" dirty="0" err="1"/>
              <a:t>they</a:t>
            </a:r>
            <a:r>
              <a:rPr lang="sv-SE" dirty="0"/>
              <a:t> </a:t>
            </a:r>
            <a:r>
              <a:rPr lang="sv-SE" dirty="0" err="1"/>
              <a:t>may</a:t>
            </a:r>
            <a:r>
              <a:rPr lang="sv-SE" dirty="0"/>
              <a:t> not be able to talk to each other.</a:t>
            </a:r>
          </a:p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5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02604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How do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i="1" dirty="0"/>
              <a:t>model</a:t>
            </a:r>
            <a:r>
              <a:rPr lang="sv-SE" i="0" dirty="0"/>
              <a:t> this? Note each </a:t>
            </a:r>
            <a:r>
              <a:rPr lang="sv-SE" i="0" dirty="0" err="1"/>
              <a:t>layer</a:t>
            </a:r>
            <a:r>
              <a:rPr lang="sv-SE" i="0" dirty="0"/>
              <a:t> is </a:t>
            </a:r>
            <a:r>
              <a:rPr lang="sv-SE" i="0" dirty="0" err="1"/>
              <a:t>specified</a:t>
            </a:r>
            <a:r>
              <a:rPr lang="sv-SE" i="0" dirty="0"/>
              <a:t> separately; want to model </a:t>
            </a:r>
            <a:r>
              <a:rPr lang="sv-SE" i="0" dirty="0" err="1"/>
              <a:t>one</a:t>
            </a:r>
            <a:r>
              <a:rPr lang="sv-SE" i="0" dirty="0"/>
              <a:t> </a:t>
            </a:r>
            <a:r>
              <a:rPr lang="sv-SE" i="0" dirty="0" err="1"/>
              <a:t>layer</a:t>
            </a:r>
            <a:r>
              <a:rPr lang="sv-SE" i="0" dirty="0"/>
              <a:t> at a </a:t>
            </a:r>
            <a:r>
              <a:rPr lang="sv-SE" i="0" dirty="0" err="1"/>
              <a:t>time</a:t>
            </a:r>
            <a:r>
              <a:rPr lang="sv-SE" i="0" dirty="0"/>
              <a:t>.</a:t>
            </a:r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57631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Implementation just a black box; </a:t>
            </a:r>
            <a:r>
              <a:rPr lang="sv-SE" dirty="0" err="1"/>
              <a:t>does</a:t>
            </a:r>
            <a:r>
              <a:rPr lang="sv-SE" dirty="0"/>
              <a:t> not </a:t>
            </a:r>
            <a:r>
              <a:rPr lang="sv-SE" dirty="0" err="1"/>
              <a:t>consist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layers</a:t>
            </a:r>
            <a:r>
              <a:rPr lang="sv-SE" dirty="0"/>
              <a:t>!</a:t>
            </a:r>
          </a:p>
          <a:p>
            <a:r>
              <a:rPr lang="sv-SE" i="1" dirty="0" err="1"/>
              <a:t>Clustering</a:t>
            </a:r>
            <a:r>
              <a:rPr lang="sv-SE" i="0" dirty="0"/>
              <a:t> </a:t>
            </a:r>
            <a:r>
              <a:rPr lang="sv-SE" i="0" dirty="0" err="1"/>
              <a:t>models</a:t>
            </a:r>
            <a:r>
              <a:rPr lang="sv-SE" i="0" dirty="0"/>
              <a:t> means no implementation </a:t>
            </a:r>
            <a:r>
              <a:rPr lang="sv-SE" i="0" dirty="0" err="1"/>
              <a:t>of</a:t>
            </a:r>
            <a:r>
              <a:rPr lang="sv-SE" i="0" dirty="0"/>
              <a:t> the </a:t>
            </a:r>
            <a:r>
              <a:rPr lang="sv-SE" i="0" dirty="0" err="1"/>
              <a:t>internal</a:t>
            </a:r>
            <a:r>
              <a:rPr lang="sv-SE" i="0" dirty="0"/>
              <a:t> interface is </a:t>
            </a:r>
            <a:r>
              <a:rPr lang="sv-SE" i="0" dirty="0" err="1"/>
              <a:t>needed</a:t>
            </a:r>
            <a:r>
              <a:rPr lang="sv-SE" i="0" dirty="0"/>
              <a:t>.</a:t>
            </a:r>
            <a:endParaRPr lang="sv-SE" i="1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83067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Feature interaction: you cannot test all </a:t>
            </a:r>
            <a:r>
              <a:rPr lang="en-GB" dirty="0" err="1"/>
              <a:t>combincations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52725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6098" y="4343704"/>
            <a:ext cx="5485805" cy="4113892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Feature interaction: you cannot test all </a:t>
            </a:r>
            <a:r>
              <a:rPr lang="en-GB" dirty="0" err="1"/>
              <a:t>combincations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041401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Does it </a:t>
            </a:r>
            <a:r>
              <a:rPr lang="sv-SE" dirty="0" err="1"/>
              <a:t>scale</a:t>
            </a:r>
            <a:r>
              <a:rPr lang="sv-SE" dirty="0"/>
              <a:t>? </a:t>
            </a:r>
            <a:r>
              <a:rPr lang="sv-SE" dirty="0" err="1"/>
              <a:t>Yes</a:t>
            </a:r>
            <a:r>
              <a:rPr lang="sv-SE" dirty="0"/>
              <a:t>, it </a:t>
            </a:r>
            <a:r>
              <a:rPr lang="sv-SE" dirty="0" err="1"/>
              <a:t>scales</a:t>
            </a:r>
            <a:r>
              <a:rPr lang="sv-SE" dirty="0"/>
              <a:t>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11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7902821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14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7329640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Uniform </a:t>
            </a:r>
            <a:r>
              <a:rPr lang="sv-SE" dirty="0" err="1"/>
              <a:t>random</a:t>
            </a:r>
            <a:r>
              <a:rPr lang="sv-SE" dirty="0"/>
              <a:t> is the </a:t>
            </a:r>
            <a:r>
              <a:rPr lang="sv-SE" dirty="0" err="1"/>
              <a:t>worst</a:t>
            </a:r>
            <a:r>
              <a:rPr lang="sv-SE" dirty="0"/>
              <a:t>… </a:t>
            </a:r>
            <a:r>
              <a:rPr lang="sv-SE" dirty="0" err="1"/>
              <a:t>but</a:t>
            </a:r>
            <a:r>
              <a:rPr lang="sv-SE" dirty="0"/>
              <a:t> </a:t>
            </a:r>
            <a:r>
              <a:rPr lang="sv-SE" dirty="0" err="1"/>
              <a:t>solves</a:t>
            </a:r>
            <a:r>
              <a:rPr lang="sv-SE" dirty="0"/>
              <a:t> some </a:t>
            </a:r>
            <a:r>
              <a:rPr lang="sv-SE" dirty="0" err="1"/>
              <a:t>examples</a:t>
            </a:r>
            <a:r>
              <a:rPr lang="sv-SE" dirty="0"/>
              <a:t> well.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sv-SE" dirty="0"/>
              <a:t>Hybrid corner-</a:t>
            </a:r>
            <a:r>
              <a:rPr lang="sv-SE" dirty="0" err="1"/>
              <a:t>random</a:t>
            </a:r>
            <a:r>
              <a:rPr lang="sv-SE" dirty="0"/>
              <a:t> (uniform </a:t>
            </a:r>
            <a:r>
              <a:rPr lang="sv-SE" dirty="0" err="1"/>
              <a:t>half</a:t>
            </a:r>
            <a:r>
              <a:rPr lang="sv-SE" dirty="0"/>
              <a:t> the </a:t>
            </a:r>
            <a:r>
              <a:rPr lang="sv-SE" dirty="0" err="1"/>
              <a:t>time</a:t>
            </a:r>
            <a:r>
              <a:rPr lang="sv-SE" dirty="0"/>
              <a:t>, </a:t>
            </a:r>
            <a:r>
              <a:rPr lang="sv-SE" dirty="0" err="1"/>
              <a:t>extremal</a:t>
            </a:r>
            <a:r>
              <a:rPr lang="sv-SE" dirty="0"/>
              <a:t> </a:t>
            </a:r>
            <a:r>
              <a:rPr lang="sv-SE" dirty="0" err="1"/>
              <a:t>values</a:t>
            </a:r>
            <a:r>
              <a:rPr lang="sv-SE" dirty="0"/>
              <a:t> </a:t>
            </a:r>
            <a:r>
              <a:rPr lang="sv-SE" dirty="0" err="1"/>
              <a:t>half</a:t>
            </a:r>
            <a:r>
              <a:rPr lang="sv-SE" dirty="0"/>
              <a:t> the </a:t>
            </a:r>
            <a:r>
              <a:rPr lang="sv-SE" dirty="0" err="1"/>
              <a:t>time</a:t>
            </a:r>
            <a:r>
              <a:rPr lang="sv-SE" dirty="0"/>
              <a:t>) </a:t>
            </a:r>
            <a:r>
              <a:rPr lang="sv-SE" dirty="0" err="1"/>
              <a:t>works</a:t>
            </a:r>
            <a:r>
              <a:rPr lang="sv-SE" dirty="0"/>
              <a:t> </a:t>
            </a:r>
            <a:r>
              <a:rPr lang="sv-SE" dirty="0" err="1"/>
              <a:t>surprisingly</a:t>
            </a:r>
            <a:r>
              <a:rPr lang="sv-SE" dirty="0"/>
              <a:t> well for </a:t>
            </a:r>
            <a:r>
              <a:rPr lang="sv-SE" dirty="0" err="1"/>
              <a:t>easy</a:t>
            </a:r>
            <a:r>
              <a:rPr lang="sv-SE" dirty="0"/>
              <a:t> </a:t>
            </a:r>
            <a:r>
              <a:rPr lang="sv-SE" dirty="0" err="1"/>
              <a:t>examples</a:t>
            </a:r>
            <a:endParaRPr lang="sv-SE" dirty="0"/>
          </a:p>
          <a:p>
            <a:r>
              <a:rPr lang="sv-SE" dirty="0"/>
              <a:t>* </a:t>
            </a:r>
            <a:r>
              <a:rPr lang="sv-SE" dirty="0" err="1"/>
              <a:t>Beyond</a:t>
            </a:r>
            <a:r>
              <a:rPr lang="sv-SE" dirty="0"/>
              <a:t> about 200 simulations (i.e. for </a:t>
            </a:r>
            <a:r>
              <a:rPr lang="sv-SE" dirty="0" err="1"/>
              <a:t>harder</a:t>
            </a:r>
            <a:r>
              <a:rPr lang="sv-SE" dirty="0"/>
              <a:t> </a:t>
            </a:r>
            <a:r>
              <a:rPr lang="sv-SE" dirty="0" err="1"/>
              <a:t>examples</a:t>
            </a:r>
            <a:r>
              <a:rPr lang="sv-SE" dirty="0"/>
              <a:t>), line-search is överlägset.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16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008821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/>
              <a:t>If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confine</a:t>
            </a:r>
            <a:r>
              <a:rPr lang="sv-SE" dirty="0"/>
              <a:t> our attention to those problems where </a:t>
            </a:r>
            <a:r>
              <a:rPr lang="sv-SE" dirty="0" err="1"/>
              <a:t>optimisation</a:t>
            </a:r>
            <a:r>
              <a:rPr lang="sv-SE" dirty="0"/>
              <a:t> is </a:t>
            </a:r>
            <a:r>
              <a:rPr lang="sv-SE" dirty="0" err="1"/>
              <a:t>needed</a:t>
            </a:r>
            <a:r>
              <a:rPr lang="sv-SE" dirty="0"/>
              <a:t> to find a </a:t>
            </a:r>
            <a:r>
              <a:rPr lang="sv-SE" dirty="0" err="1"/>
              <a:t>counterexample</a:t>
            </a:r>
            <a:r>
              <a:rPr lang="sv-SE" dirty="0"/>
              <a:t>: LSF looks even better.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17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73085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bildobjekt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tshållare för anteckninga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v-SE" dirty="0" err="1"/>
              <a:t>We’ve</a:t>
            </a:r>
            <a:r>
              <a:rPr lang="sv-SE" dirty="0"/>
              <a:t> </a:t>
            </a:r>
            <a:r>
              <a:rPr lang="sv-SE" dirty="0" err="1"/>
              <a:t>seen</a:t>
            </a:r>
            <a:r>
              <a:rPr lang="sv-SE" dirty="0"/>
              <a:t> PBT in </a:t>
            </a:r>
            <a:r>
              <a:rPr lang="sv-SE" dirty="0" err="1"/>
              <a:t>three</a:t>
            </a:r>
            <a:r>
              <a:rPr lang="sv-SE" dirty="0"/>
              <a:t> settings.</a:t>
            </a:r>
          </a:p>
          <a:p>
            <a:r>
              <a:rPr lang="sv-SE" dirty="0"/>
              <a:t>What </a:t>
            </a:r>
            <a:r>
              <a:rPr lang="sv-SE" dirty="0" err="1"/>
              <a:t>can</a:t>
            </a:r>
            <a:r>
              <a:rPr lang="sv-SE" dirty="0"/>
              <a:t> </a:t>
            </a:r>
            <a:r>
              <a:rPr lang="sv-SE" dirty="0" err="1"/>
              <a:t>we</a:t>
            </a:r>
            <a:r>
              <a:rPr lang="sv-SE" dirty="0"/>
              <a:t> </a:t>
            </a:r>
            <a:r>
              <a:rPr lang="sv-SE" dirty="0" err="1"/>
              <a:t>learn</a:t>
            </a:r>
            <a:r>
              <a:rPr lang="sv-SE" dirty="0"/>
              <a:t>?</a:t>
            </a:r>
          </a:p>
        </p:txBody>
      </p:sp>
      <p:sp>
        <p:nvSpPr>
          <p:cNvPr id="4" name="Platshållare för bild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C161CB-F0F4-45D8-BF99-996291BF8AF8}" type="slidenum">
              <a:rPr lang="sv-SE" smtClean="0"/>
              <a:t>18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62309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4C21D0F-2C89-6505-203D-FDF4BA787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C366F4A-55F4-D6D5-84F0-C2F1CFB778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v-SE"/>
              <a:t>Klicka här för att ändra mall för underrubrikformat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CDF02741-05C3-A0A7-5212-CBBA4EE9B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32F64904-E11D-3FA3-F698-5B4C23979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5A2CBDA7-054A-FCFA-4465-ECF70731C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97739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9E32EB7-B89B-9086-3D0F-BA8E579FA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4D1AA565-308F-0585-2BA2-CBB834FAE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669FB24D-2E8D-44F8-3541-E833B5037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C0752426-0773-9B6E-C3F9-5B2E514D6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8B5E061-D535-29EF-3F79-3215624EF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12043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8CE58C98-5D59-C144-B583-BE9311100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4E66401-1F03-E310-589E-A9B714B7B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5450DE74-7740-B935-D074-77EA14B3A5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DF95C0EC-05DF-1C49-679C-5DCB9A3FD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C9F81AF2-F266-53B8-4639-512475E94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96314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99383CB-5FE2-80D2-034A-41F460B97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7D8A2C88-7D57-AFB7-762E-D210E9C56C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8C81D4D5-B407-B6F5-5C13-E0E4A3086A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61F9AEF5-AE4B-D288-1808-CBBC3154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89005063-0877-EF04-A6A6-4B40D9B74B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300AC557-C42D-5AAF-8C3A-60659A7D3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62385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28A333E9-67A0-5FC9-21B0-2F9658C59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4A644D31-7824-62AC-0F72-D8E69AD87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E50BCB1E-DE1F-137A-C555-866463E42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5" name="Platshållare för text 4">
            <a:extLst>
              <a:ext uri="{FF2B5EF4-FFF2-40B4-BE49-F238E27FC236}">
                <a16:creationId xmlns:a16="http://schemas.microsoft.com/office/drawing/2014/main" id="{F673CC13-4874-9346-D687-31CBC6977A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6" name="Platshållare för innehåll 5">
            <a:extLst>
              <a:ext uri="{FF2B5EF4-FFF2-40B4-BE49-F238E27FC236}">
                <a16:creationId xmlns:a16="http://schemas.microsoft.com/office/drawing/2014/main" id="{6A23C74E-CAF2-C63C-C948-60398BD9A0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7" name="Platshållare för datum 6">
            <a:extLst>
              <a:ext uri="{FF2B5EF4-FFF2-40B4-BE49-F238E27FC236}">
                <a16:creationId xmlns:a16="http://schemas.microsoft.com/office/drawing/2014/main" id="{126B84F0-DA91-D7DC-CFBB-D34C28FDF0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8" name="Platshållare för sidfot 7">
            <a:extLst>
              <a:ext uri="{FF2B5EF4-FFF2-40B4-BE49-F238E27FC236}">
                <a16:creationId xmlns:a16="http://schemas.microsoft.com/office/drawing/2014/main" id="{EE710BDC-6C50-6018-2AF5-D61F0225B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Platshållare för bildnummer 8">
            <a:extLst>
              <a:ext uri="{FF2B5EF4-FFF2-40B4-BE49-F238E27FC236}">
                <a16:creationId xmlns:a16="http://schemas.microsoft.com/office/drawing/2014/main" id="{3935B814-F662-89AB-D7A9-83504FCBD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78680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3F9FA45-41B3-9F42-878D-ED589D81B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datum 2">
            <a:extLst>
              <a:ext uri="{FF2B5EF4-FFF2-40B4-BE49-F238E27FC236}">
                <a16:creationId xmlns:a16="http://schemas.microsoft.com/office/drawing/2014/main" id="{3E248B45-7F8E-3C43-54A7-D06697B3D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4" name="Platshållare för sidfot 3">
            <a:extLst>
              <a:ext uri="{FF2B5EF4-FFF2-40B4-BE49-F238E27FC236}">
                <a16:creationId xmlns:a16="http://schemas.microsoft.com/office/drawing/2014/main" id="{D095F4BD-36A2-4C63-ECE4-55A721DF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Platshållare för bildnummer 4">
            <a:extLst>
              <a:ext uri="{FF2B5EF4-FFF2-40B4-BE49-F238E27FC236}">
                <a16:creationId xmlns:a16="http://schemas.microsoft.com/office/drawing/2014/main" id="{CA29B26F-F9FD-773C-CFA0-4A7906D46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513566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datum 1">
            <a:extLst>
              <a:ext uri="{FF2B5EF4-FFF2-40B4-BE49-F238E27FC236}">
                <a16:creationId xmlns:a16="http://schemas.microsoft.com/office/drawing/2014/main" id="{DF62D53B-33C6-F9F7-6130-CB89E9A47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3" name="Platshållare för sidfot 2">
            <a:extLst>
              <a:ext uri="{FF2B5EF4-FFF2-40B4-BE49-F238E27FC236}">
                <a16:creationId xmlns:a16="http://schemas.microsoft.com/office/drawing/2014/main" id="{101B36D1-DB15-C4C7-BCBF-8659DCA21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Platshållare för bildnummer 3">
            <a:extLst>
              <a:ext uri="{FF2B5EF4-FFF2-40B4-BE49-F238E27FC236}">
                <a16:creationId xmlns:a16="http://schemas.microsoft.com/office/drawing/2014/main" id="{3574374B-8F15-C48A-2A23-F0401CC1D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6155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509A6768-D6FE-C6FB-41A3-44C997C4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EB637ED1-B665-8B5A-2B15-CE5C64E32B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3F84BE43-B559-06B9-6ACE-B3204C3DD0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F9E525E6-4667-95ED-E4B6-FEA9F803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EBD583C9-0F6D-7386-8D97-AF40AE243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7FCD6BFF-730C-76A4-8331-26AF27884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940176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253D303-6737-6D54-D28E-B3B100F0C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bild 2">
            <a:extLst>
              <a:ext uri="{FF2B5EF4-FFF2-40B4-BE49-F238E27FC236}">
                <a16:creationId xmlns:a16="http://schemas.microsoft.com/office/drawing/2014/main" id="{E9EC6A76-D147-2E35-9E46-7FE0BA506F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Platshållare för text 3">
            <a:extLst>
              <a:ext uri="{FF2B5EF4-FFF2-40B4-BE49-F238E27FC236}">
                <a16:creationId xmlns:a16="http://schemas.microsoft.com/office/drawing/2014/main" id="{5EA397F8-B31C-C998-5FC8-D2154CBA6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v-SE"/>
              <a:t>Klicka här för att ändra format på bakgrundstexten</a:t>
            </a:r>
          </a:p>
        </p:txBody>
      </p:sp>
      <p:sp>
        <p:nvSpPr>
          <p:cNvPr id="5" name="Platshållare för datum 4">
            <a:extLst>
              <a:ext uri="{FF2B5EF4-FFF2-40B4-BE49-F238E27FC236}">
                <a16:creationId xmlns:a16="http://schemas.microsoft.com/office/drawing/2014/main" id="{CD65D15C-B432-D0BA-1A60-13AB15AB9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6" name="Platshållare för sidfot 5">
            <a:extLst>
              <a:ext uri="{FF2B5EF4-FFF2-40B4-BE49-F238E27FC236}">
                <a16:creationId xmlns:a16="http://schemas.microsoft.com/office/drawing/2014/main" id="{32874C10-AF51-51EE-E53D-DE204604F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Platshållare för bildnummer 6">
            <a:extLst>
              <a:ext uri="{FF2B5EF4-FFF2-40B4-BE49-F238E27FC236}">
                <a16:creationId xmlns:a16="http://schemas.microsoft.com/office/drawing/2014/main" id="{B447CD45-D97E-D6B3-9B7B-BB5A9434B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21134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E69509F-F468-B423-D099-A440688D8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0DF728FB-4EB1-FCAB-16AE-075D6C19D2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D429B1E9-24A4-7BA1-CB92-3DF26E938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AED3E066-593A-BEFE-71E0-7806BB121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1CFA10C-7613-A92D-581C-155ABEBF6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2562497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rät rubrik 1">
            <a:extLst>
              <a:ext uri="{FF2B5EF4-FFF2-40B4-BE49-F238E27FC236}">
                <a16:creationId xmlns:a16="http://schemas.microsoft.com/office/drawing/2014/main" id="{50BBD1D3-208E-12AB-09DF-83F48C5651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lodrät text 2">
            <a:extLst>
              <a:ext uri="{FF2B5EF4-FFF2-40B4-BE49-F238E27FC236}">
                <a16:creationId xmlns:a16="http://schemas.microsoft.com/office/drawing/2014/main" id="{A2AA9071-5080-1339-74C1-7EDC7E90C0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F63DCE85-2687-5B1E-59FC-836C9A9F4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274C7775-11FA-AD64-882E-FEFC81F85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D4CE9241-FE21-1CBE-B6E4-5C43BC4E5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60475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tshållare för rubrik 1">
            <a:extLst>
              <a:ext uri="{FF2B5EF4-FFF2-40B4-BE49-F238E27FC236}">
                <a16:creationId xmlns:a16="http://schemas.microsoft.com/office/drawing/2014/main" id="{19945F2D-8C6C-A1F5-AD7B-E147CBFAB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v-SE"/>
              <a:t>Klicka här för att ändra mall för rubrikformat</a:t>
            </a:r>
          </a:p>
        </p:txBody>
      </p:sp>
      <p:sp>
        <p:nvSpPr>
          <p:cNvPr id="3" name="Platshållare för text 2">
            <a:extLst>
              <a:ext uri="{FF2B5EF4-FFF2-40B4-BE49-F238E27FC236}">
                <a16:creationId xmlns:a16="http://schemas.microsoft.com/office/drawing/2014/main" id="{94E98381-2043-9EDE-BD4D-347393897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" name="Platshållare för datum 3">
            <a:extLst>
              <a:ext uri="{FF2B5EF4-FFF2-40B4-BE49-F238E27FC236}">
                <a16:creationId xmlns:a16="http://schemas.microsoft.com/office/drawing/2014/main" id="{3CEA8850-9F4C-EA5D-F60C-14BFA6566F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849D57-10B2-4073-8B78-C5879F19A4CE}" type="datetimeFigureOut">
              <a:rPr lang="sv-SE" smtClean="0"/>
              <a:t>2024-10-22</a:t>
            </a:fld>
            <a:endParaRPr lang="sv-SE"/>
          </a:p>
        </p:txBody>
      </p:sp>
      <p:sp>
        <p:nvSpPr>
          <p:cNvPr id="5" name="Platshållare för sidfot 4">
            <a:extLst>
              <a:ext uri="{FF2B5EF4-FFF2-40B4-BE49-F238E27FC236}">
                <a16:creationId xmlns:a16="http://schemas.microsoft.com/office/drawing/2014/main" id="{0CE74B1E-F164-5B51-189B-6ECBACD790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Platshållare för bildnummer 5">
            <a:extLst>
              <a:ext uri="{FF2B5EF4-FFF2-40B4-BE49-F238E27FC236}">
                <a16:creationId xmlns:a16="http://schemas.microsoft.com/office/drawing/2014/main" id="{0DC23ECB-62EA-35B0-8D5A-153DE0BB3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EBF442-9A6E-493E-BA36-3E65D10F232D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656040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hackage.haskell.org/package/QuickCheck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s://www.pikist.com/free-photo-ifhun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g"/><Relationship Id="rId5" Type="http://schemas.openxmlformats.org/officeDocument/2006/relationships/hyperlink" Target="https://pixabay.com/en/dice-red-two-game-rolling-chance-25637/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customXml" Target="../ink/ink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ildobjekt 5" descr="En bild som visar silhuett&#10;&#10;Automatiskt genererad beskrivning">
            <a:extLst>
              <a:ext uri="{FF2B5EF4-FFF2-40B4-BE49-F238E27FC236}">
                <a16:creationId xmlns:a16="http://schemas.microsoft.com/office/drawing/2014/main" id="{35AC81C0-A1CD-3C0A-236A-3A4F7F422E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2488" y="0"/>
            <a:ext cx="10289512" cy="6858000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FB0401C5-84A6-D72F-0BC8-98120AF410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1" y="1392329"/>
            <a:ext cx="5772284" cy="2387600"/>
          </a:xfrm>
        </p:spPr>
        <p:txBody>
          <a:bodyPr>
            <a:normAutofit fontScale="90000"/>
          </a:bodyPr>
          <a:lstStyle/>
          <a:p>
            <a:r>
              <a:rPr lang="sv-SE" dirty="0">
                <a:solidFill>
                  <a:schemeClr val="bg1"/>
                </a:solidFill>
              </a:rPr>
              <a:t>Property-based </a:t>
            </a:r>
            <a:r>
              <a:rPr lang="sv-SE" dirty="0" err="1">
                <a:solidFill>
                  <a:schemeClr val="bg1"/>
                </a:solidFill>
              </a:rPr>
              <a:t>Testing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of</a:t>
            </a:r>
            <a:r>
              <a:rPr lang="sv-SE" dirty="0">
                <a:solidFill>
                  <a:schemeClr val="bg1"/>
                </a:solidFill>
              </a:rPr>
              <a:t> </a:t>
            </a:r>
            <a:r>
              <a:rPr lang="sv-SE" dirty="0" err="1">
                <a:solidFill>
                  <a:schemeClr val="bg1"/>
                </a:solidFill>
              </a:rPr>
              <a:t>Embedded</a:t>
            </a:r>
            <a:r>
              <a:rPr lang="sv-SE" dirty="0">
                <a:solidFill>
                  <a:schemeClr val="bg1"/>
                </a:solidFill>
              </a:rPr>
              <a:t> Systems</a:t>
            </a:r>
          </a:p>
        </p:txBody>
      </p:sp>
      <p:sp>
        <p:nvSpPr>
          <p:cNvPr id="3" name="Underrubrik 2">
            <a:extLst>
              <a:ext uri="{FF2B5EF4-FFF2-40B4-BE49-F238E27FC236}">
                <a16:creationId xmlns:a16="http://schemas.microsoft.com/office/drawing/2014/main" id="{180CF187-4740-B05F-423F-82EEA2817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45772" y="4095702"/>
            <a:ext cx="4145280" cy="1655762"/>
          </a:xfrm>
        </p:spPr>
        <p:txBody>
          <a:bodyPr/>
          <a:lstStyle/>
          <a:p>
            <a:endParaRPr lang="sv-SE" dirty="0">
              <a:solidFill>
                <a:schemeClr val="bg1"/>
              </a:solidFill>
            </a:endParaRPr>
          </a:p>
          <a:p>
            <a:r>
              <a:rPr lang="sv-SE" dirty="0">
                <a:solidFill>
                  <a:schemeClr val="bg1"/>
                </a:solidFill>
              </a:rPr>
              <a:t>John Hughes</a:t>
            </a:r>
          </a:p>
        </p:txBody>
      </p:sp>
      <p:pic>
        <p:nvPicPr>
          <p:cNvPr id="4" name="Bildobjekt 3" descr="En bild som visar text, clipart&#10;&#10;Automatiskt genererad beskrivning">
            <a:extLst>
              <a:ext uri="{FF2B5EF4-FFF2-40B4-BE49-F238E27FC236}">
                <a16:creationId xmlns:a16="http://schemas.microsoft.com/office/drawing/2014/main" id="{80DA92EE-BEF4-D8A6-3AEF-C99C8375F7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7732" y="5303373"/>
            <a:ext cx="1459900" cy="392358"/>
          </a:xfrm>
          <a:prstGeom prst="rect">
            <a:avLst/>
          </a:prstGeom>
        </p:spPr>
      </p:pic>
      <p:pic>
        <p:nvPicPr>
          <p:cNvPr id="5" name="Bildobjekt 4">
            <a:extLst>
              <a:ext uri="{FF2B5EF4-FFF2-40B4-BE49-F238E27FC236}">
                <a16:creationId xmlns:a16="http://schemas.microsoft.com/office/drawing/2014/main" id="{5AFA1740-964D-318C-C882-A33A8733B0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3541" y="5350397"/>
            <a:ext cx="964321" cy="345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071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 3">
            <a:extLst>
              <a:ext uri="{FF2B5EF4-FFF2-40B4-BE49-F238E27FC236}">
                <a16:creationId xmlns:a16="http://schemas.microsoft.com/office/drawing/2014/main" id="{65FAD1E5-168C-6B5F-5BE8-9E61337B752E}"/>
              </a:ext>
            </a:extLst>
          </p:cNvPr>
          <p:cNvGrpSpPr/>
          <p:nvPr/>
        </p:nvGrpSpPr>
        <p:grpSpPr>
          <a:xfrm>
            <a:off x="2437132" y="4836718"/>
            <a:ext cx="3422650" cy="2286000"/>
            <a:chOff x="2437132" y="4723174"/>
            <a:chExt cx="3422650" cy="2286000"/>
          </a:xfrm>
        </p:grpSpPr>
        <p:pic>
          <p:nvPicPr>
            <p:cNvPr id="33" name="Bildobjekt 32" descr="En bild som visar ryggradslös, insekt, leddjur, skadedjur&#10;&#10;Automatiskt genererad beskrivning">
              <a:extLst>
                <a:ext uri="{FF2B5EF4-FFF2-40B4-BE49-F238E27FC236}">
                  <a16:creationId xmlns:a16="http://schemas.microsoft.com/office/drawing/2014/main" id="{3A711752-5798-CD4E-68A1-0307C9C3618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37132" y="4723174"/>
              <a:ext cx="3422650" cy="2286000"/>
            </a:xfrm>
            <a:prstGeom prst="rect">
              <a:avLst/>
            </a:prstGeom>
          </p:spPr>
        </p:pic>
        <p:pic>
          <p:nvPicPr>
            <p:cNvPr id="3" name="Bildobjekt 2" descr="En bild som visar tärningar, Tärningsspel, Spel, Bordsspel&#10;&#10;Automatiskt genererad beskrivning">
              <a:extLst>
                <a:ext uri="{FF2B5EF4-FFF2-40B4-BE49-F238E27FC236}">
                  <a16:creationId xmlns:a16="http://schemas.microsoft.com/office/drawing/2014/main" id="{C00835AF-B95F-461F-EA72-4D261F40E9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5"/>
                </a:ext>
              </a:extLst>
            </a:blip>
            <a:stretch>
              <a:fillRect/>
            </a:stretch>
          </p:blipFill>
          <p:spPr>
            <a:xfrm rot="722156">
              <a:off x="4361396" y="5320039"/>
              <a:ext cx="659997" cy="411467"/>
            </a:xfrm>
            <a:prstGeom prst="rect">
              <a:avLst/>
            </a:prstGeom>
          </p:spPr>
        </p:pic>
      </p:grpSp>
      <p:pic>
        <p:nvPicPr>
          <p:cNvPr id="34" name="Bildobjekt 33" descr="En bild som visar ryggradslös, insekt, leddjur, skadedjur&#10;&#10;Automatiskt genererad beskrivning">
            <a:extLst>
              <a:ext uri="{FF2B5EF4-FFF2-40B4-BE49-F238E27FC236}">
                <a16:creationId xmlns:a16="http://schemas.microsoft.com/office/drawing/2014/main" id="{FD67C904-2E85-A199-4E2B-EDFD2AB9E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1593" y="5570552"/>
            <a:ext cx="1076676" cy="719116"/>
          </a:xfrm>
          <a:prstGeom prst="rect">
            <a:avLst/>
          </a:prstGeom>
        </p:spPr>
      </p:pic>
      <p:sp>
        <p:nvSpPr>
          <p:cNvPr id="2" name="Rubrik 1">
            <a:extLst>
              <a:ext uri="{FF2B5EF4-FFF2-40B4-BE49-F238E27FC236}">
                <a16:creationId xmlns:a16="http://schemas.microsoft.com/office/drawing/2014/main" id="{C15DDC62-75CD-B83C-E3EB-DC13001A7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What is Property-based </a:t>
            </a:r>
            <a:r>
              <a:rPr lang="sv-SE" dirty="0" err="1"/>
              <a:t>Testing</a:t>
            </a:r>
            <a:r>
              <a:rPr lang="sv-SE" dirty="0"/>
              <a:t>?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23C6020C-9AF1-C3B5-9D68-C183E6F7F4E3}"/>
              </a:ext>
            </a:extLst>
          </p:cNvPr>
          <p:cNvSpPr txBox="1"/>
          <p:nvPr/>
        </p:nvSpPr>
        <p:spPr>
          <a:xfrm>
            <a:off x="888275" y="2055223"/>
            <a:ext cx="1854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Traditional</a:t>
            </a:r>
            <a:r>
              <a:rPr lang="sv-SE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sv-SE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automated</a:t>
            </a:r>
            <a:r>
              <a:rPr lang="sv-SE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sv-SE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testing</a:t>
            </a:r>
            <a:endParaRPr lang="sv-SE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Pil: höger 7">
            <a:extLst>
              <a:ext uri="{FF2B5EF4-FFF2-40B4-BE49-F238E27FC236}">
                <a16:creationId xmlns:a16="http://schemas.microsoft.com/office/drawing/2014/main" id="{C458B399-3F17-E897-2665-1B6B75038A53}"/>
              </a:ext>
            </a:extLst>
          </p:cNvPr>
          <p:cNvSpPr/>
          <p:nvPr/>
        </p:nvSpPr>
        <p:spPr>
          <a:xfrm>
            <a:off x="5743305" y="2290354"/>
            <a:ext cx="2743200" cy="718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dirty="0" err="1"/>
              <a:t>Execution</a:t>
            </a:r>
            <a:r>
              <a:rPr lang="sv-SE" sz="2400" dirty="0"/>
              <a:t> on SUT</a:t>
            </a:r>
          </a:p>
        </p:txBody>
      </p:sp>
      <p:sp>
        <p:nvSpPr>
          <p:cNvPr id="9" name="Parallellogram 8">
            <a:extLst>
              <a:ext uri="{FF2B5EF4-FFF2-40B4-BE49-F238E27FC236}">
                <a16:creationId xmlns:a16="http://schemas.microsoft.com/office/drawing/2014/main" id="{31324DBD-1DFF-EE33-5E88-D0B365C64FAF}"/>
              </a:ext>
            </a:extLst>
          </p:cNvPr>
          <p:cNvSpPr/>
          <p:nvPr/>
        </p:nvSpPr>
        <p:spPr>
          <a:xfrm>
            <a:off x="3270069" y="2129246"/>
            <a:ext cx="2220686" cy="104067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dirty="0"/>
              <a:t>Test </a:t>
            </a:r>
            <a:r>
              <a:rPr lang="sv-SE" sz="2400" dirty="0" err="1"/>
              <a:t>case</a:t>
            </a:r>
            <a:endParaRPr lang="sv-SE" sz="2400" dirty="0"/>
          </a:p>
        </p:txBody>
      </p:sp>
      <p:sp>
        <p:nvSpPr>
          <p:cNvPr id="10" name="Parallellogram 9">
            <a:extLst>
              <a:ext uri="{FF2B5EF4-FFF2-40B4-BE49-F238E27FC236}">
                <a16:creationId xmlns:a16="http://schemas.microsoft.com/office/drawing/2014/main" id="{EC2FBFD6-AF80-2E84-E777-986CAD67402D}"/>
              </a:ext>
            </a:extLst>
          </p:cNvPr>
          <p:cNvSpPr/>
          <p:nvPr/>
        </p:nvSpPr>
        <p:spPr>
          <a:xfrm>
            <a:off x="8654143" y="2129246"/>
            <a:ext cx="2220686" cy="104067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dirty="0" err="1"/>
              <a:t>Expected</a:t>
            </a:r>
            <a:r>
              <a:rPr lang="sv-SE" sz="2400" dirty="0"/>
              <a:t> results</a:t>
            </a:r>
          </a:p>
        </p:txBody>
      </p:sp>
      <p:sp>
        <p:nvSpPr>
          <p:cNvPr id="11" name="textruta 10">
            <a:extLst>
              <a:ext uri="{FF2B5EF4-FFF2-40B4-BE49-F238E27FC236}">
                <a16:creationId xmlns:a16="http://schemas.microsoft.com/office/drawing/2014/main" id="{78F35EFD-36A4-AB78-2661-321AE551402C}"/>
              </a:ext>
            </a:extLst>
          </p:cNvPr>
          <p:cNvSpPr txBox="1"/>
          <p:nvPr/>
        </p:nvSpPr>
        <p:spPr>
          <a:xfrm>
            <a:off x="829492" y="3769586"/>
            <a:ext cx="18549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24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Property-based </a:t>
            </a:r>
            <a:r>
              <a:rPr lang="sv-SE" sz="2400" b="1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testing</a:t>
            </a:r>
            <a:endParaRPr lang="sv-SE" sz="24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Pil: höger 11">
            <a:extLst>
              <a:ext uri="{FF2B5EF4-FFF2-40B4-BE49-F238E27FC236}">
                <a16:creationId xmlns:a16="http://schemas.microsoft.com/office/drawing/2014/main" id="{C1F287FB-EEAC-C56C-91EF-8081953988F1}"/>
              </a:ext>
            </a:extLst>
          </p:cNvPr>
          <p:cNvSpPr/>
          <p:nvPr/>
        </p:nvSpPr>
        <p:spPr>
          <a:xfrm>
            <a:off x="5684522" y="4004717"/>
            <a:ext cx="2743200" cy="7184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dirty="0" err="1"/>
              <a:t>Execution</a:t>
            </a:r>
            <a:r>
              <a:rPr lang="sv-SE" sz="2400" dirty="0"/>
              <a:t> on SUT</a:t>
            </a:r>
          </a:p>
        </p:txBody>
      </p:sp>
      <p:sp>
        <p:nvSpPr>
          <p:cNvPr id="13" name="Parallellogram 12">
            <a:extLst>
              <a:ext uri="{FF2B5EF4-FFF2-40B4-BE49-F238E27FC236}">
                <a16:creationId xmlns:a16="http://schemas.microsoft.com/office/drawing/2014/main" id="{7CBA217C-317B-E85F-CF52-E1F96385F60F}"/>
              </a:ext>
            </a:extLst>
          </p:cNvPr>
          <p:cNvSpPr/>
          <p:nvPr/>
        </p:nvSpPr>
        <p:spPr>
          <a:xfrm>
            <a:off x="3211286" y="3843609"/>
            <a:ext cx="2220686" cy="104067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dirty="0"/>
              <a:t>Test </a:t>
            </a:r>
            <a:r>
              <a:rPr lang="sv-SE" sz="2400" dirty="0" err="1"/>
              <a:t>case</a:t>
            </a:r>
            <a:r>
              <a:rPr lang="sv-SE" sz="2400" dirty="0"/>
              <a:t> generator</a:t>
            </a:r>
          </a:p>
        </p:txBody>
      </p:sp>
      <p:sp>
        <p:nvSpPr>
          <p:cNvPr id="14" name="Parallellogram 13">
            <a:extLst>
              <a:ext uri="{FF2B5EF4-FFF2-40B4-BE49-F238E27FC236}">
                <a16:creationId xmlns:a16="http://schemas.microsoft.com/office/drawing/2014/main" id="{3A4ED97B-6875-89DB-CEAF-13975D5A2B67}"/>
              </a:ext>
            </a:extLst>
          </p:cNvPr>
          <p:cNvSpPr/>
          <p:nvPr/>
        </p:nvSpPr>
        <p:spPr>
          <a:xfrm>
            <a:off x="8595360" y="3843609"/>
            <a:ext cx="2220686" cy="1040674"/>
          </a:xfrm>
          <a:prstGeom prst="parallelogram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i="1" dirty="0"/>
              <a:t>Property</a:t>
            </a:r>
            <a:r>
              <a:rPr lang="sv-SE" sz="2400" dirty="0"/>
              <a:t> </a:t>
            </a:r>
            <a:r>
              <a:rPr lang="sv-SE" sz="2400" dirty="0" err="1"/>
              <a:t>of</a:t>
            </a:r>
            <a:r>
              <a:rPr lang="sv-SE" sz="2400" dirty="0"/>
              <a:t> results</a:t>
            </a:r>
            <a:endParaRPr lang="sv-SE" sz="2400" i="1" dirty="0"/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279615DD-2829-CD12-2D0C-14B46FED601F}"/>
              </a:ext>
            </a:extLst>
          </p:cNvPr>
          <p:cNvGrpSpPr/>
          <p:nvPr/>
        </p:nvGrpSpPr>
        <p:grpSpPr>
          <a:xfrm>
            <a:off x="10728101" y="3948446"/>
            <a:ext cx="1373747" cy="830997"/>
            <a:chOff x="10728101" y="3948446"/>
            <a:chExt cx="1373747" cy="830997"/>
          </a:xfrm>
        </p:grpSpPr>
        <p:sp>
          <p:nvSpPr>
            <p:cNvPr id="15" name="textruta 14">
              <a:extLst>
                <a:ext uri="{FF2B5EF4-FFF2-40B4-BE49-F238E27FC236}">
                  <a16:creationId xmlns:a16="http://schemas.microsoft.com/office/drawing/2014/main" id="{FD595E4A-9036-37FE-C85A-B89333F18DFE}"/>
                </a:ext>
              </a:extLst>
            </p:cNvPr>
            <p:cNvSpPr txBox="1"/>
            <p:nvPr/>
          </p:nvSpPr>
          <p:spPr>
            <a:xfrm>
              <a:off x="11015730" y="3948446"/>
              <a:ext cx="10861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dirty="0">
                  <a:solidFill>
                    <a:srgbClr val="FF0000"/>
                  </a:solidFill>
                </a:rPr>
                <a:t>Test </a:t>
              </a:r>
              <a:r>
                <a:rPr lang="sv-SE" sz="2400" dirty="0" err="1">
                  <a:solidFill>
                    <a:srgbClr val="FF0000"/>
                  </a:solidFill>
                </a:rPr>
                <a:t>oracle</a:t>
              </a:r>
              <a:endParaRPr lang="sv-SE" sz="2400" dirty="0">
                <a:solidFill>
                  <a:srgbClr val="FF0000"/>
                </a:solidFill>
              </a:endParaRPr>
            </a:p>
          </p:txBody>
        </p:sp>
        <p:sp>
          <p:nvSpPr>
            <p:cNvPr id="16" name="Frihandsfigur: Form 15">
              <a:extLst>
                <a:ext uri="{FF2B5EF4-FFF2-40B4-BE49-F238E27FC236}">
                  <a16:creationId xmlns:a16="http://schemas.microsoft.com/office/drawing/2014/main" id="{741678C8-9121-4D21-1F72-E213E43C2EB5}"/>
                </a:ext>
              </a:extLst>
            </p:cNvPr>
            <p:cNvSpPr/>
            <p:nvPr/>
          </p:nvSpPr>
          <p:spPr>
            <a:xfrm>
              <a:off x="10728101" y="4344473"/>
              <a:ext cx="317679" cy="51766"/>
            </a:xfrm>
            <a:custGeom>
              <a:avLst/>
              <a:gdLst>
                <a:gd name="connsiteX0" fmla="*/ 317679 w 317679"/>
                <a:gd name="connsiteY0" fmla="*/ 0 h 51766"/>
                <a:gd name="connsiteX1" fmla="*/ 154547 w 317679"/>
                <a:gd name="connsiteY1" fmla="*/ 47223 h 51766"/>
                <a:gd name="connsiteX2" fmla="*/ 0 w 317679"/>
                <a:gd name="connsiteY2" fmla="*/ 47223 h 5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679" h="51766">
                  <a:moveTo>
                    <a:pt x="317679" y="0"/>
                  </a:moveTo>
                  <a:cubicBezTo>
                    <a:pt x="262586" y="19676"/>
                    <a:pt x="207493" y="39353"/>
                    <a:pt x="154547" y="47223"/>
                  </a:cubicBezTo>
                  <a:cubicBezTo>
                    <a:pt x="101601" y="55093"/>
                    <a:pt x="50800" y="51158"/>
                    <a:pt x="0" y="47223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8" name="Grupp 17">
            <a:extLst>
              <a:ext uri="{FF2B5EF4-FFF2-40B4-BE49-F238E27FC236}">
                <a16:creationId xmlns:a16="http://schemas.microsoft.com/office/drawing/2014/main" id="{F9E9C72A-D826-DFB4-2207-79EAC950FD11}"/>
              </a:ext>
            </a:extLst>
          </p:cNvPr>
          <p:cNvGrpSpPr/>
          <p:nvPr/>
        </p:nvGrpSpPr>
        <p:grpSpPr>
          <a:xfrm>
            <a:off x="9528789" y="4876290"/>
            <a:ext cx="2336103" cy="1182546"/>
            <a:chOff x="10805785" y="3596897"/>
            <a:chExt cx="1296063" cy="1182546"/>
          </a:xfrm>
        </p:grpSpPr>
        <p:sp>
          <p:nvSpPr>
            <p:cNvPr id="19" name="textruta 18">
              <a:extLst>
                <a:ext uri="{FF2B5EF4-FFF2-40B4-BE49-F238E27FC236}">
                  <a16:creationId xmlns:a16="http://schemas.microsoft.com/office/drawing/2014/main" id="{64EB0694-A654-8234-9199-CBB7E4B0856E}"/>
                </a:ext>
              </a:extLst>
            </p:cNvPr>
            <p:cNvSpPr txBox="1"/>
            <p:nvPr/>
          </p:nvSpPr>
          <p:spPr>
            <a:xfrm>
              <a:off x="11015730" y="3948446"/>
              <a:ext cx="108611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dirty="0" err="1">
                  <a:solidFill>
                    <a:srgbClr val="FF0000"/>
                  </a:solidFill>
                </a:rPr>
                <a:t>Specification</a:t>
              </a:r>
              <a:endParaRPr lang="sv-SE" sz="2400" dirty="0">
                <a:solidFill>
                  <a:srgbClr val="FF0000"/>
                </a:solidFill>
              </a:endParaRPr>
            </a:p>
          </p:txBody>
        </p:sp>
        <p:sp>
          <p:nvSpPr>
            <p:cNvPr id="20" name="Frihandsfigur: Form 19">
              <a:extLst>
                <a:ext uri="{FF2B5EF4-FFF2-40B4-BE49-F238E27FC236}">
                  <a16:creationId xmlns:a16="http://schemas.microsoft.com/office/drawing/2014/main" id="{B900FDA6-ED48-D957-3D2A-928D25294BBA}"/>
                </a:ext>
              </a:extLst>
            </p:cNvPr>
            <p:cNvSpPr/>
            <p:nvPr/>
          </p:nvSpPr>
          <p:spPr>
            <a:xfrm rot="4243094">
              <a:off x="10583695" y="3818987"/>
              <a:ext cx="624705" cy="180526"/>
            </a:xfrm>
            <a:custGeom>
              <a:avLst/>
              <a:gdLst>
                <a:gd name="connsiteX0" fmla="*/ 317679 w 317679"/>
                <a:gd name="connsiteY0" fmla="*/ 0 h 51766"/>
                <a:gd name="connsiteX1" fmla="*/ 154547 w 317679"/>
                <a:gd name="connsiteY1" fmla="*/ 47223 h 51766"/>
                <a:gd name="connsiteX2" fmla="*/ 0 w 317679"/>
                <a:gd name="connsiteY2" fmla="*/ 47223 h 51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7679" h="51766">
                  <a:moveTo>
                    <a:pt x="317679" y="0"/>
                  </a:moveTo>
                  <a:cubicBezTo>
                    <a:pt x="262586" y="19676"/>
                    <a:pt x="207493" y="39353"/>
                    <a:pt x="154547" y="47223"/>
                  </a:cubicBezTo>
                  <a:cubicBezTo>
                    <a:pt x="101601" y="55093"/>
                    <a:pt x="50800" y="51158"/>
                    <a:pt x="0" y="47223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pic>
        <p:nvPicPr>
          <p:cNvPr id="22" name="Bildobjekt 21" descr="En bild som visar tärningar, Tärningsspel, Spel, Bordsspel&#10;&#10;Automatiskt genererad beskrivning">
            <a:extLst>
              <a:ext uri="{FF2B5EF4-FFF2-40B4-BE49-F238E27FC236}">
                <a16:creationId xmlns:a16="http://schemas.microsoft.com/office/drawing/2014/main" id="{D104C6DF-8CB5-57C5-2743-199960E371B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3394166" y="5322841"/>
            <a:ext cx="1854926" cy="1156430"/>
          </a:xfrm>
          <a:prstGeom prst="rect">
            <a:avLst/>
          </a:prstGeom>
        </p:spPr>
      </p:pic>
      <p:pic>
        <p:nvPicPr>
          <p:cNvPr id="26" name="Bildobjekt 25" descr="En bild som visar bil, tvättmaskin, silver, redskap&#10;&#10;Automatiskt genererad beskrivning">
            <a:extLst>
              <a:ext uri="{FF2B5EF4-FFF2-40B4-BE49-F238E27FC236}">
                <a16:creationId xmlns:a16="http://schemas.microsoft.com/office/drawing/2014/main" id="{714B9510-F919-3CCB-C1E8-47F6646891B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6096000" y="5068759"/>
            <a:ext cx="1660819" cy="1664594"/>
          </a:xfrm>
          <a:prstGeom prst="rect">
            <a:avLst/>
          </a:prstGeom>
        </p:spPr>
      </p:pic>
      <p:sp>
        <p:nvSpPr>
          <p:cNvPr id="27" name="Pil: cirkelformad 26">
            <a:extLst>
              <a:ext uri="{FF2B5EF4-FFF2-40B4-BE49-F238E27FC236}">
                <a16:creationId xmlns:a16="http://schemas.microsoft.com/office/drawing/2014/main" id="{45187635-1351-8D22-11B4-ED8C164499D5}"/>
              </a:ext>
            </a:extLst>
          </p:cNvPr>
          <p:cNvSpPr/>
          <p:nvPr/>
        </p:nvSpPr>
        <p:spPr>
          <a:xfrm>
            <a:off x="6236844" y="5195184"/>
            <a:ext cx="1379130" cy="1411744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1005621"/>
              <a:gd name="adj5" fmla="val 12500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tx1"/>
              </a:solidFill>
            </a:endParaRPr>
          </a:p>
        </p:txBody>
      </p:sp>
      <p:grpSp>
        <p:nvGrpSpPr>
          <p:cNvPr id="40" name="Grupp 39">
            <a:extLst>
              <a:ext uri="{FF2B5EF4-FFF2-40B4-BE49-F238E27FC236}">
                <a16:creationId xmlns:a16="http://schemas.microsoft.com/office/drawing/2014/main" id="{7AAC772E-8A66-77D3-417A-57C5435F3DDE}"/>
              </a:ext>
            </a:extLst>
          </p:cNvPr>
          <p:cNvGrpSpPr/>
          <p:nvPr/>
        </p:nvGrpSpPr>
        <p:grpSpPr>
          <a:xfrm>
            <a:off x="718276" y="5412504"/>
            <a:ext cx="2077356" cy="1366544"/>
            <a:chOff x="718276" y="5412504"/>
            <a:chExt cx="2077356" cy="1366544"/>
          </a:xfrm>
        </p:grpSpPr>
        <p:sp>
          <p:nvSpPr>
            <p:cNvPr id="36" name="textruta 35">
              <a:extLst>
                <a:ext uri="{FF2B5EF4-FFF2-40B4-BE49-F238E27FC236}">
                  <a16:creationId xmlns:a16="http://schemas.microsoft.com/office/drawing/2014/main" id="{6B8BBE8C-A3DD-E530-A43B-5164AC11C15A}"/>
                </a:ext>
              </a:extLst>
            </p:cNvPr>
            <p:cNvSpPr txBox="1"/>
            <p:nvPr/>
          </p:nvSpPr>
          <p:spPr>
            <a:xfrm>
              <a:off x="879185" y="5412504"/>
              <a:ext cx="175553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sv-SE" sz="2400" b="1" i="0" u="sng" dirty="0">
                  <a:solidFill>
                    <a:srgbClr val="9E358F"/>
                  </a:solidFill>
                  <a:effectLst/>
                  <a:latin typeface="PT Sans" panose="020F0502020204030204" pitchFamily="34" charset="0"/>
                  <a:hlinkClick r:id="rId8"/>
                </a:rPr>
                <a:t>QuickCheck</a:t>
              </a:r>
              <a:endParaRPr lang="sv-SE" sz="2400" b="1" i="0" dirty="0">
                <a:solidFill>
                  <a:srgbClr val="5E5184"/>
                </a:solidFill>
                <a:effectLst/>
                <a:latin typeface="PT Sans" panose="020F0502020204030204" pitchFamily="34" charset="0"/>
              </a:endParaRPr>
            </a:p>
          </p:txBody>
        </p:sp>
        <p:sp>
          <p:nvSpPr>
            <p:cNvPr id="38" name="textruta 37">
              <a:extLst>
                <a:ext uri="{FF2B5EF4-FFF2-40B4-BE49-F238E27FC236}">
                  <a16:creationId xmlns:a16="http://schemas.microsoft.com/office/drawing/2014/main" id="{6753A8E7-F630-EEA3-8C9E-E4532E09DC72}"/>
                </a:ext>
              </a:extLst>
            </p:cNvPr>
            <p:cNvSpPr txBox="1"/>
            <p:nvPr/>
          </p:nvSpPr>
          <p:spPr>
            <a:xfrm>
              <a:off x="1270858" y="5828003"/>
              <a:ext cx="855133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lang="sv-SE" sz="2400" b="1" i="0" dirty="0" err="1">
                  <a:solidFill>
                    <a:srgbClr val="000000"/>
                  </a:solidFill>
                  <a:effectLst/>
                  <a:latin typeface="Verdana" panose="020B0604030504040204" pitchFamily="34" charset="0"/>
                </a:rPr>
                <a:t>eqc</a:t>
              </a:r>
              <a:endParaRPr lang="sv-SE" sz="2400" b="1" i="0" dirty="0">
                <a:solidFill>
                  <a:srgbClr val="000000"/>
                </a:solidFill>
                <a:effectLst/>
                <a:latin typeface="Verdana" panose="020B0604030504040204" pitchFamily="34" charset="0"/>
              </a:endParaRPr>
            </a:p>
          </p:txBody>
        </p:sp>
        <p:sp>
          <p:nvSpPr>
            <p:cNvPr id="39" name="textruta 38">
              <a:extLst>
                <a:ext uri="{FF2B5EF4-FFF2-40B4-BE49-F238E27FC236}">
                  <a16:creationId xmlns:a16="http://schemas.microsoft.com/office/drawing/2014/main" id="{E2E5BE3C-E270-4E04-C7D3-E1D07EBABF11}"/>
                </a:ext>
              </a:extLst>
            </p:cNvPr>
            <p:cNvSpPr txBox="1"/>
            <p:nvPr/>
          </p:nvSpPr>
          <p:spPr>
            <a:xfrm>
              <a:off x="718276" y="6317383"/>
              <a:ext cx="20773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dirty="0"/>
                <a:t>+ many others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15993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-7.40741E-7 L 0.22487 -0.00741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885" y="-3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000"/>
                            </p:stCondLst>
                            <p:childTnLst>
                              <p:par>
                                <p:cTn id="6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8" presetClass="emph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Rot by="64800000">
                                      <p:cBhvr>
                                        <p:cTn id="7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4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4500"/>
                            </p:stCondLst>
                            <p:childTnLst>
                              <p:par>
                                <p:cTn id="8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3.33333E-6 L 0.22058 -0.00254 " pathEditMode="relative" rAng="0" ptsTypes="AA">
                                      <p:cBhvr>
                                        <p:cTn id="81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29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9" grpId="0" animBg="1"/>
      <p:bldP spid="10" grpId="0" animBg="1"/>
      <p:bldP spid="11" grpId="0"/>
      <p:bldP spid="12" grpId="0" animBg="1"/>
      <p:bldP spid="13" grpId="0" animBg="1"/>
      <p:bldP spid="14" grpId="0" animBg="1"/>
      <p:bldP spid="27" grpId="0" animBg="1"/>
      <p:bldP spid="27" grpId="2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D0504E69-2308-BBAA-832B-5D1EEDF19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Systems </a:t>
            </a:r>
            <a:r>
              <a:rPr lang="sv-SE" dirty="0" err="1"/>
              <a:t>with</a:t>
            </a:r>
            <a:r>
              <a:rPr lang="sv-SE" dirty="0"/>
              <a:t> </a:t>
            </a:r>
            <a:r>
              <a:rPr lang="sv-SE" dirty="0" err="1"/>
              <a:t>state</a:t>
            </a:r>
            <a:endParaRPr lang="sv-SE" dirty="0"/>
          </a:p>
        </p:txBody>
      </p:sp>
      <p:pic>
        <p:nvPicPr>
          <p:cNvPr id="4" name="Bildobjekt 3" descr="En bild som visar inomhus, LEGO, bord, tårta&#10;&#10;Beskrivning genererad med mycket hög exakthet">
            <a:extLst>
              <a:ext uri="{FF2B5EF4-FFF2-40B4-BE49-F238E27FC236}">
                <a16:creationId xmlns:a16="http://schemas.microsoft.com/office/drawing/2014/main" id="{96777F32-1E1A-0B4F-918B-79154F0FD7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3344" y="1408596"/>
            <a:ext cx="1430889" cy="1125023"/>
          </a:xfrm>
          <a:prstGeom prst="rect">
            <a:avLst/>
          </a:prstGeom>
        </p:spPr>
      </p:pic>
      <p:grpSp>
        <p:nvGrpSpPr>
          <p:cNvPr id="5" name="Grupp 4">
            <a:extLst>
              <a:ext uri="{FF2B5EF4-FFF2-40B4-BE49-F238E27FC236}">
                <a16:creationId xmlns:a16="http://schemas.microsoft.com/office/drawing/2014/main" id="{AE0DF3C7-988B-CED2-8A2E-D943CA64B9F4}"/>
              </a:ext>
            </a:extLst>
          </p:cNvPr>
          <p:cNvGrpSpPr/>
          <p:nvPr/>
        </p:nvGrpSpPr>
        <p:grpSpPr>
          <a:xfrm>
            <a:off x="1564492" y="2579204"/>
            <a:ext cx="914400" cy="3048000"/>
            <a:chOff x="3276600" y="2362200"/>
            <a:chExt cx="914400" cy="3048000"/>
          </a:xfrm>
          <a:solidFill>
            <a:schemeClr val="bg1"/>
          </a:solidFill>
        </p:grpSpPr>
        <p:sp>
          <p:nvSpPr>
            <p:cNvPr id="51" name="Rektangel 50">
              <a:extLst>
                <a:ext uri="{FF2B5EF4-FFF2-40B4-BE49-F238E27FC236}">
                  <a16:creationId xmlns:a16="http://schemas.microsoft.com/office/drawing/2014/main" id="{4613DB00-1998-18FF-4FFA-B8F484E05963}"/>
                </a:ext>
              </a:extLst>
            </p:cNvPr>
            <p:cNvSpPr/>
            <p:nvPr/>
          </p:nvSpPr>
          <p:spPr>
            <a:xfrm>
              <a:off x="3276600" y="2362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2" name="Rektangel 51">
              <a:extLst>
                <a:ext uri="{FF2B5EF4-FFF2-40B4-BE49-F238E27FC236}">
                  <a16:creationId xmlns:a16="http://schemas.microsoft.com/office/drawing/2014/main" id="{BB465DD9-87A8-AE0C-01E9-52903194622D}"/>
                </a:ext>
              </a:extLst>
            </p:cNvPr>
            <p:cNvSpPr/>
            <p:nvPr/>
          </p:nvSpPr>
          <p:spPr>
            <a:xfrm>
              <a:off x="3276600" y="2743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3" name="Rektangel 52">
              <a:extLst>
                <a:ext uri="{FF2B5EF4-FFF2-40B4-BE49-F238E27FC236}">
                  <a16:creationId xmlns:a16="http://schemas.microsoft.com/office/drawing/2014/main" id="{F2E7A6DC-C18B-D402-A155-66FFABE9E3EF}"/>
                </a:ext>
              </a:extLst>
            </p:cNvPr>
            <p:cNvSpPr/>
            <p:nvPr/>
          </p:nvSpPr>
          <p:spPr>
            <a:xfrm>
              <a:off x="3276600" y="3124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4" name="Rektangel 53">
              <a:extLst>
                <a:ext uri="{FF2B5EF4-FFF2-40B4-BE49-F238E27FC236}">
                  <a16:creationId xmlns:a16="http://schemas.microsoft.com/office/drawing/2014/main" id="{A86CD988-109F-52D1-5BB6-F177D439D34D}"/>
                </a:ext>
              </a:extLst>
            </p:cNvPr>
            <p:cNvSpPr/>
            <p:nvPr/>
          </p:nvSpPr>
          <p:spPr>
            <a:xfrm>
              <a:off x="3276600" y="3505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5" name="Rektangel 54">
              <a:extLst>
                <a:ext uri="{FF2B5EF4-FFF2-40B4-BE49-F238E27FC236}">
                  <a16:creationId xmlns:a16="http://schemas.microsoft.com/office/drawing/2014/main" id="{641BB0E2-482F-F8AA-4568-BC166C83D836}"/>
                </a:ext>
              </a:extLst>
            </p:cNvPr>
            <p:cNvSpPr/>
            <p:nvPr/>
          </p:nvSpPr>
          <p:spPr>
            <a:xfrm>
              <a:off x="3276600" y="3886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6" name="Rektangel 55">
              <a:extLst>
                <a:ext uri="{FF2B5EF4-FFF2-40B4-BE49-F238E27FC236}">
                  <a16:creationId xmlns:a16="http://schemas.microsoft.com/office/drawing/2014/main" id="{CA1F64EE-FCAE-0C3B-18A1-49743F5466A1}"/>
                </a:ext>
              </a:extLst>
            </p:cNvPr>
            <p:cNvSpPr/>
            <p:nvPr/>
          </p:nvSpPr>
          <p:spPr>
            <a:xfrm>
              <a:off x="3276600" y="4267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7" name="Rektangel 56">
              <a:extLst>
                <a:ext uri="{FF2B5EF4-FFF2-40B4-BE49-F238E27FC236}">
                  <a16:creationId xmlns:a16="http://schemas.microsoft.com/office/drawing/2014/main" id="{A8DF1F48-762C-CAB7-6FEE-105582A8B8E7}"/>
                </a:ext>
              </a:extLst>
            </p:cNvPr>
            <p:cNvSpPr/>
            <p:nvPr/>
          </p:nvSpPr>
          <p:spPr>
            <a:xfrm>
              <a:off x="3276600" y="4648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  <p:sp>
          <p:nvSpPr>
            <p:cNvPr id="58" name="Rektangel 57">
              <a:extLst>
                <a:ext uri="{FF2B5EF4-FFF2-40B4-BE49-F238E27FC236}">
                  <a16:creationId xmlns:a16="http://schemas.microsoft.com/office/drawing/2014/main" id="{FD14EBCC-5364-18F3-838B-95D4732FC06C}"/>
                </a:ext>
              </a:extLst>
            </p:cNvPr>
            <p:cNvSpPr/>
            <p:nvPr/>
          </p:nvSpPr>
          <p:spPr>
            <a:xfrm>
              <a:off x="3276600" y="50292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/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3" name="Pennanteckning 12">
                <a:extLst>
                  <a:ext uri="{FF2B5EF4-FFF2-40B4-BE49-F238E27FC236}">
                    <a16:creationId xmlns:a16="http://schemas.microsoft.com/office/drawing/2014/main" id="{ECDAA4EF-3F6A-BF55-DAE6-C8306B4E7639}"/>
                  </a:ext>
                </a:extLst>
              </p14:cNvPr>
              <p14:cNvContentPartPr/>
              <p14:nvPr/>
            </p14:nvContentPartPr>
            <p14:xfrm>
              <a:off x="3187444" y="3660044"/>
              <a:ext cx="1173900" cy="1205160"/>
            </p14:xfrm>
          </p:contentPart>
        </mc:Choice>
        <mc:Fallback xmlns="">
          <p:pic>
            <p:nvPicPr>
              <p:cNvPr id="13" name="Pennanteckning 12">
                <a:extLst>
                  <a:ext uri="{FF2B5EF4-FFF2-40B4-BE49-F238E27FC236}">
                    <a16:creationId xmlns:a16="http://schemas.microsoft.com/office/drawing/2014/main" id="{ECDAA4EF-3F6A-BF55-DAE6-C8306B4E763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73765" y="3646365"/>
                <a:ext cx="1200899" cy="1232157"/>
              </a:xfrm>
              <a:prstGeom prst="rect">
                <a:avLst/>
              </a:prstGeom>
            </p:spPr>
          </p:pic>
        </mc:Fallback>
      </mc:AlternateContent>
      <p:grpSp>
        <p:nvGrpSpPr>
          <p:cNvPr id="6" name="Grupp 5">
            <a:extLst>
              <a:ext uri="{FF2B5EF4-FFF2-40B4-BE49-F238E27FC236}">
                <a16:creationId xmlns:a16="http://schemas.microsoft.com/office/drawing/2014/main" id="{9273AAA9-BEFE-D188-16A2-C53910C50D2F}"/>
              </a:ext>
            </a:extLst>
          </p:cNvPr>
          <p:cNvGrpSpPr/>
          <p:nvPr/>
        </p:nvGrpSpPr>
        <p:grpSpPr>
          <a:xfrm>
            <a:off x="1770442" y="2690276"/>
            <a:ext cx="914400" cy="3429000"/>
            <a:chOff x="3429000" y="1981200"/>
            <a:chExt cx="914400" cy="3429000"/>
          </a:xfrm>
        </p:grpSpPr>
        <p:sp>
          <p:nvSpPr>
            <p:cNvPr id="41" name="Rektangel 40">
              <a:extLst>
                <a:ext uri="{FF2B5EF4-FFF2-40B4-BE49-F238E27FC236}">
                  <a16:creationId xmlns:a16="http://schemas.microsoft.com/office/drawing/2014/main" id="{A9CD0349-7413-4BE7-6681-687875724E80}"/>
                </a:ext>
              </a:extLst>
            </p:cNvPr>
            <p:cNvSpPr/>
            <p:nvPr/>
          </p:nvSpPr>
          <p:spPr>
            <a:xfrm>
              <a:off x="3429000" y="1981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2" name="Rektangel 41">
              <a:extLst>
                <a:ext uri="{FF2B5EF4-FFF2-40B4-BE49-F238E27FC236}">
                  <a16:creationId xmlns:a16="http://schemas.microsoft.com/office/drawing/2014/main" id="{AE873308-4144-5E0A-B8BF-C569A056AE98}"/>
                </a:ext>
              </a:extLst>
            </p:cNvPr>
            <p:cNvSpPr/>
            <p:nvPr/>
          </p:nvSpPr>
          <p:spPr>
            <a:xfrm>
              <a:off x="3429000" y="2362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3" name="Rektangel 42">
              <a:extLst>
                <a:ext uri="{FF2B5EF4-FFF2-40B4-BE49-F238E27FC236}">
                  <a16:creationId xmlns:a16="http://schemas.microsoft.com/office/drawing/2014/main" id="{2B583F76-9A13-2206-4766-10AA104CC4EF}"/>
                </a:ext>
              </a:extLst>
            </p:cNvPr>
            <p:cNvSpPr/>
            <p:nvPr/>
          </p:nvSpPr>
          <p:spPr>
            <a:xfrm>
              <a:off x="3429000" y="2743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4" name="Rektangel 43">
              <a:extLst>
                <a:ext uri="{FF2B5EF4-FFF2-40B4-BE49-F238E27FC236}">
                  <a16:creationId xmlns:a16="http://schemas.microsoft.com/office/drawing/2014/main" id="{D03B8A10-A468-D229-A3E0-1BB95A5E2514}"/>
                </a:ext>
              </a:extLst>
            </p:cNvPr>
            <p:cNvSpPr/>
            <p:nvPr/>
          </p:nvSpPr>
          <p:spPr>
            <a:xfrm>
              <a:off x="3429000" y="3124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5" name="Rektangel 44">
              <a:extLst>
                <a:ext uri="{FF2B5EF4-FFF2-40B4-BE49-F238E27FC236}">
                  <a16:creationId xmlns:a16="http://schemas.microsoft.com/office/drawing/2014/main" id="{13867597-5515-BF2A-CBFA-720C9A8F22C4}"/>
                </a:ext>
              </a:extLst>
            </p:cNvPr>
            <p:cNvSpPr/>
            <p:nvPr/>
          </p:nvSpPr>
          <p:spPr>
            <a:xfrm>
              <a:off x="3429000" y="3505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6" name="Rektangel 45">
              <a:extLst>
                <a:ext uri="{FF2B5EF4-FFF2-40B4-BE49-F238E27FC236}">
                  <a16:creationId xmlns:a16="http://schemas.microsoft.com/office/drawing/2014/main" id="{C5295760-BC7F-6B25-9D27-7AC6C764AB6A}"/>
                </a:ext>
              </a:extLst>
            </p:cNvPr>
            <p:cNvSpPr/>
            <p:nvPr/>
          </p:nvSpPr>
          <p:spPr>
            <a:xfrm>
              <a:off x="3429000" y="3886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7" name="Rektangel 46">
              <a:extLst>
                <a:ext uri="{FF2B5EF4-FFF2-40B4-BE49-F238E27FC236}">
                  <a16:creationId xmlns:a16="http://schemas.microsoft.com/office/drawing/2014/main" id="{5F7D7359-901F-1801-6989-88033D3E9D23}"/>
                </a:ext>
              </a:extLst>
            </p:cNvPr>
            <p:cNvSpPr/>
            <p:nvPr/>
          </p:nvSpPr>
          <p:spPr>
            <a:xfrm>
              <a:off x="3429000" y="4267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8" name="Rektangel 47">
              <a:extLst>
                <a:ext uri="{FF2B5EF4-FFF2-40B4-BE49-F238E27FC236}">
                  <a16:creationId xmlns:a16="http://schemas.microsoft.com/office/drawing/2014/main" id="{4A205A53-6659-DE94-8901-932294873C24}"/>
                </a:ext>
              </a:extLst>
            </p:cNvPr>
            <p:cNvSpPr/>
            <p:nvPr/>
          </p:nvSpPr>
          <p:spPr>
            <a:xfrm>
              <a:off x="3429000" y="4648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9" name="Rektangel 48">
              <a:extLst>
                <a:ext uri="{FF2B5EF4-FFF2-40B4-BE49-F238E27FC236}">
                  <a16:creationId xmlns:a16="http://schemas.microsoft.com/office/drawing/2014/main" id="{3CDC5D59-FD31-AAFE-5C8D-786DFE41E403}"/>
                </a:ext>
              </a:extLst>
            </p:cNvPr>
            <p:cNvSpPr/>
            <p:nvPr/>
          </p:nvSpPr>
          <p:spPr>
            <a:xfrm>
              <a:off x="3429000" y="4648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50" name="Rektangel 49">
              <a:extLst>
                <a:ext uri="{FF2B5EF4-FFF2-40B4-BE49-F238E27FC236}">
                  <a16:creationId xmlns:a16="http://schemas.microsoft.com/office/drawing/2014/main" id="{C0CFAF50-B340-84C9-4287-5ED51D655238}"/>
                </a:ext>
              </a:extLst>
            </p:cNvPr>
            <p:cNvSpPr/>
            <p:nvPr/>
          </p:nvSpPr>
          <p:spPr>
            <a:xfrm>
              <a:off x="3429000" y="50292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</p:grpSp>
      <p:grpSp>
        <p:nvGrpSpPr>
          <p:cNvPr id="8" name="Grupp 7">
            <a:extLst>
              <a:ext uri="{FF2B5EF4-FFF2-40B4-BE49-F238E27FC236}">
                <a16:creationId xmlns:a16="http://schemas.microsoft.com/office/drawing/2014/main" id="{9DBDD9B6-4CC6-5F20-4893-10D24AD49AE5}"/>
              </a:ext>
            </a:extLst>
          </p:cNvPr>
          <p:cNvGrpSpPr/>
          <p:nvPr/>
        </p:nvGrpSpPr>
        <p:grpSpPr>
          <a:xfrm>
            <a:off x="1977108" y="2881880"/>
            <a:ext cx="914400" cy="3048000"/>
            <a:chOff x="3733800" y="2133600"/>
            <a:chExt cx="914400" cy="3048000"/>
          </a:xfrm>
          <a:solidFill>
            <a:srgbClr val="FF0000"/>
          </a:solidFill>
        </p:grpSpPr>
        <p:sp>
          <p:nvSpPr>
            <p:cNvPr id="23" name="Rektangel 22">
              <a:extLst>
                <a:ext uri="{FF2B5EF4-FFF2-40B4-BE49-F238E27FC236}">
                  <a16:creationId xmlns:a16="http://schemas.microsoft.com/office/drawing/2014/main" id="{D422B710-DA64-814B-2D6A-990C38CD9DC8}"/>
                </a:ext>
              </a:extLst>
            </p:cNvPr>
            <p:cNvSpPr/>
            <p:nvPr/>
          </p:nvSpPr>
          <p:spPr>
            <a:xfrm>
              <a:off x="3733800" y="2133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24" name="Rektangel 23">
              <a:extLst>
                <a:ext uri="{FF2B5EF4-FFF2-40B4-BE49-F238E27FC236}">
                  <a16:creationId xmlns:a16="http://schemas.microsoft.com/office/drawing/2014/main" id="{6B4885FF-D63C-6429-5FB7-34252A854B25}"/>
                </a:ext>
              </a:extLst>
            </p:cNvPr>
            <p:cNvSpPr/>
            <p:nvPr/>
          </p:nvSpPr>
          <p:spPr>
            <a:xfrm>
              <a:off x="3733800" y="2514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25" name="Rektangel 24">
              <a:extLst>
                <a:ext uri="{FF2B5EF4-FFF2-40B4-BE49-F238E27FC236}">
                  <a16:creationId xmlns:a16="http://schemas.microsoft.com/office/drawing/2014/main" id="{FF103CAC-A10B-106F-8132-A6B4D7A0A62E}"/>
                </a:ext>
              </a:extLst>
            </p:cNvPr>
            <p:cNvSpPr/>
            <p:nvPr/>
          </p:nvSpPr>
          <p:spPr>
            <a:xfrm>
              <a:off x="3733800" y="2895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26" name="Rektangel 25">
              <a:extLst>
                <a:ext uri="{FF2B5EF4-FFF2-40B4-BE49-F238E27FC236}">
                  <a16:creationId xmlns:a16="http://schemas.microsoft.com/office/drawing/2014/main" id="{3C5C91EC-6824-175E-2D57-60650CE5F554}"/>
                </a:ext>
              </a:extLst>
            </p:cNvPr>
            <p:cNvSpPr/>
            <p:nvPr/>
          </p:nvSpPr>
          <p:spPr>
            <a:xfrm>
              <a:off x="3733800" y="3276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27" name="Rektangel 26">
              <a:extLst>
                <a:ext uri="{FF2B5EF4-FFF2-40B4-BE49-F238E27FC236}">
                  <a16:creationId xmlns:a16="http://schemas.microsoft.com/office/drawing/2014/main" id="{5D595578-3254-2402-7781-5D40E7BAD77F}"/>
                </a:ext>
              </a:extLst>
            </p:cNvPr>
            <p:cNvSpPr/>
            <p:nvPr/>
          </p:nvSpPr>
          <p:spPr>
            <a:xfrm>
              <a:off x="3733800" y="3657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28" name="Rektangel 27">
              <a:extLst>
                <a:ext uri="{FF2B5EF4-FFF2-40B4-BE49-F238E27FC236}">
                  <a16:creationId xmlns:a16="http://schemas.microsoft.com/office/drawing/2014/main" id="{DAF2D2DD-0A98-5F42-A957-4CDD01791EA5}"/>
                </a:ext>
              </a:extLst>
            </p:cNvPr>
            <p:cNvSpPr/>
            <p:nvPr/>
          </p:nvSpPr>
          <p:spPr>
            <a:xfrm>
              <a:off x="3733800" y="4038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29" name="Rektangel 28">
              <a:extLst>
                <a:ext uri="{FF2B5EF4-FFF2-40B4-BE49-F238E27FC236}">
                  <a16:creationId xmlns:a16="http://schemas.microsoft.com/office/drawing/2014/main" id="{9E63BD2C-F91C-7C59-5239-E9FB2E829209}"/>
                </a:ext>
              </a:extLst>
            </p:cNvPr>
            <p:cNvSpPr/>
            <p:nvPr/>
          </p:nvSpPr>
          <p:spPr>
            <a:xfrm>
              <a:off x="3733800" y="4419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0" name="Rektangel 29">
              <a:extLst>
                <a:ext uri="{FF2B5EF4-FFF2-40B4-BE49-F238E27FC236}">
                  <a16:creationId xmlns:a16="http://schemas.microsoft.com/office/drawing/2014/main" id="{89D1F76C-0DAA-4F37-9FFB-CC5E68231219}"/>
                </a:ext>
              </a:extLst>
            </p:cNvPr>
            <p:cNvSpPr/>
            <p:nvPr/>
          </p:nvSpPr>
          <p:spPr>
            <a:xfrm>
              <a:off x="3733800" y="4800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1" name="Rektangel 30">
              <a:extLst>
                <a:ext uri="{FF2B5EF4-FFF2-40B4-BE49-F238E27FC236}">
                  <a16:creationId xmlns:a16="http://schemas.microsoft.com/office/drawing/2014/main" id="{DB8CD847-D197-BBEF-B66F-38D88363FA2F}"/>
                </a:ext>
              </a:extLst>
            </p:cNvPr>
            <p:cNvSpPr/>
            <p:nvPr/>
          </p:nvSpPr>
          <p:spPr>
            <a:xfrm>
              <a:off x="3733800" y="4800600"/>
              <a:ext cx="914400" cy="38100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</p:grpSp>
      <p:grpSp>
        <p:nvGrpSpPr>
          <p:cNvPr id="7" name="Grupp 6">
            <a:extLst>
              <a:ext uri="{FF2B5EF4-FFF2-40B4-BE49-F238E27FC236}">
                <a16:creationId xmlns:a16="http://schemas.microsoft.com/office/drawing/2014/main" id="{B28883B1-2F54-E4ED-CAC7-63C1D5D6C545}"/>
              </a:ext>
            </a:extLst>
          </p:cNvPr>
          <p:cNvGrpSpPr/>
          <p:nvPr/>
        </p:nvGrpSpPr>
        <p:grpSpPr>
          <a:xfrm>
            <a:off x="1977108" y="2880776"/>
            <a:ext cx="914400" cy="3048000"/>
            <a:chOff x="3733800" y="2133600"/>
            <a:chExt cx="914400" cy="3048000"/>
          </a:xfrm>
        </p:grpSpPr>
        <p:sp>
          <p:nvSpPr>
            <p:cNvPr id="32" name="Rektangel 31">
              <a:extLst>
                <a:ext uri="{FF2B5EF4-FFF2-40B4-BE49-F238E27FC236}">
                  <a16:creationId xmlns:a16="http://schemas.microsoft.com/office/drawing/2014/main" id="{78BFFCB3-E234-F5A7-749B-56F2BECB1F2C}"/>
                </a:ext>
              </a:extLst>
            </p:cNvPr>
            <p:cNvSpPr/>
            <p:nvPr/>
          </p:nvSpPr>
          <p:spPr>
            <a:xfrm>
              <a:off x="3733800" y="2133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3" name="Rektangel 32">
              <a:extLst>
                <a:ext uri="{FF2B5EF4-FFF2-40B4-BE49-F238E27FC236}">
                  <a16:creationId xmlns:a16="http://schemas.microsoft.com/office/drawing/2014/main" id="{2CA347BC-A6F8-F516-637E-AC192EA8BCFE}"/>
                </a:ext>
              </a:extLst>
            </p:cNvPr>
            <p:cNvSpPr/>
            <p:nvPr/>
          </p:nvSpPr>
          <p:spPr>
            <a:xfrm>
              <a:off x="3733800" y="2514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4" name="Rektangel 33">
              <a:extLst>
                <a:ext uri="{FF2B5EF4-FFF2-40B4-BE49-F238E27FC236}">
                  <a16:creationId xmlns:a16="http://schemas.microsoft.com/office/drawing/2014/main" id="{CA683C37-337F-73EA-AAC2-AB827610C405}"/>
                </a:ext>
              </a:extLst>
            </p:cNvPr>
            <p:cNvSpPr/>
            <p:nvPr/>
          </p:nvSpPr>
          <p:spPr>
            <a:xfrm>
              <a:off x="3733800" y="2895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5" name="Rektangel 34">
              <a:extLst>
                <a:ext uri="{FF2B5EF4-FFF2-40B4-BE49-F238E27FC236}">
                  <a16:creationId xmlns:a16="http://schemas.microsoft.com/office/drawing/2014/main" id="{2A748EC1-CEDB-31F7-6C64-0C61D1CCF8B2}"/>
                </a:ext>
              </a:extLst>
            </p:cNvPr>
            <p:cNvSpPr/>
            <p:nvPr/>
          </p:nvSpPr>
          <p:spPr>
            <a:xfrm>
              <a:off x="3733800" y="3276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6" name="Rektangel 35">
              <a:extLst>
                <a:ext uri="{FF2B5EF4-FFF2-40B4-BE49-F238E27FC236}">
                  <a16:creationId xmlns:a16="http://schemas.microsoft.com/office/drawing/2014/main" id="{DDA1BE1E-36CE-2466-B6AD-807181672DB8}"/>
                </a:ext>
              </a:extLst>
            </p:cNvPr>
            <p:cNvSpPr/>
            <p:nvPr/>
          </p:nvSpPr>
          <p:spPr>
            <a:xfrm>
              <a:off x="3733800" y="3657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7" name="Rektangel 36">
              <a:extLst>
                <a:ext uri="{FF2B5EF4-FFF2-40B4-BE49-F238E27FC236}">
                  <a16:creationId xmlns:a16="http://schemas.microsoft.com/office/drawing/2014/main" id="{D44D1FF4-8771-49C5-5A1B-EC47B2809757}"/>
                </a:ext>
              </a:extLst>
            </p:cNvPr>
            <p:cNvSpPr/>
            <p:nvPr/>
          </p:nvSpPr>
          <p:spPr>
            <a:xfrm>
              <a:off x="3733800" y="4038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8" name="Rektangel 37">
              <a:extLst>
                <a:ext uri="{FF2B5EF4-FFF2-40B4-BE49-F238E27FC236}">
                  <a16:creationId xmlns:a16="http://schemas.microsoft.com/office/drawing/2014/main" id="{3A07B5C2-DBCC-37B8-7DAD-2AC4EE9F216C}"/>
                </a:ext>
              </a:extLst>
            </p:cNvPr>
            <p:cNvSpPr/>
            <p:nvPr/>
          </p:nvSpPr>
          <p:spPr>
            <a:xfrm>
              <a:off x="3733800" y="4419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39" name="Rektangel 38">
              <a:extLst>
                <a:ext uri="{FF2B5EF4-FFF2-40B4-BE49-F238E27FC236}">
                  <a16:creationId xmlns:a16="http://schemas.microsoft.com/office/drawing/2014/main" id="{0D2EFE31-8CCE-CA5A-3572-92868F2314AC}"/>
                </a:ext>
              </a:extLst>
            </p:cNvPr>
            <p:cNvSpPr/>
            <p:nvPr/>
          </p:nvSpPr>
          <p:spPr>
            <a:xfrm>
              <a:off x="3733800" y="4800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  <p:sp>
          <p:nvSpPr>
            <p:cNvPr id="40" name="Rektangel 39">
              <a:extLst>
                <a:ext uri="{FF2B5EF4-FFF2-40B4-BE49-F238E27FC236}">
                  <a16:creationId xmlns:a16="http://schemas.microsoft.com/office/drawing/2014/main" id="{88FCC709-2444-3157-B6C0-556A3A3133E9}"/>
                </a:ext>
              </a:extLst>
            </p:cNvPr>
            <p:cNvSpPr/>
            <p:nvPr/>
          </p:nvSpPr>
          <p:spPr>
            <a:xfrm>
              <a:off x="3733800" y="4800600"/>
              <a:ext cx="914400" cy="3810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sv-SE" u="sng"/>
            </a:p>
          </p:txBody>
        </p:sp>
      </p:grpSp>
      <p:sp>
        <p:nvSpPr>
          <p:cNvPr id="10" name="Rektangel 9">
            <a:extLst>
              <a:ext uri="{FF2B5EF4-FFF2-40B4-BE49-F238E27FC236}">
                <a16:creationId xmlns:a16="http://schemas.microsoft.com/office/drawing/2014/main" id="{1C342C55-2E6A-153E-B637-082461D3C38B}"/>
              </a:ext>
            </a:extLst>
          </p:cNvPr>
          <p:cNvSpPr/>
          <p:nvPr/>
        </p:nvSpPr>
        <p:spPr>
          <a:xfrm>
            <a:off x="1977108" y="3260672"/>
            <a:ext cx="914400" cy="381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v-SE" u="sng"/>
          </a:p>
        </p:txBody>
      </p:sp>
      <p:sp>
        <p:nvSpPr>
          <p:cNvPr id="11" name="Rektangel 10">
            <a:extLst>
              <a:ext uri="{FF2B5EF4-FFF2-40B4-BE49-F238E27FC236}">
                <a16:creationId xmlns:a16="http://schemas.microsoft.com/office/drawing/2014/main" id="{2BE0DFB0-BAF4-D9E9-7175-93D3CA0F3431}"/>
              </a:ext>
            </a:extLst>
          </p:cNvPr>
          <p:cNvSpPr/>
          <p:nvPr/>
        </p:nvSpPr>
        <p:spPr>
          <a:xfrm>
            <a:off x="1976392" y="4404776"/>
            <a:ext cx="914400" cy="381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v-SE" u="sng"/>
          </a:p>
        </p:txBody>
      </p:sp>
      <p:sp>
        <p:nvSpPr>
          <p:cNvPr id="12" name="Rektangel 11">
            <a:extLst>
              <a:ext uri="{FF2B5EF4-FFF2-40B4-BE49-F238E27FC236}">
                <a16:creationId xmlns:a16="http://schemas.microsoft.com/office/drawing/2014/main" id="{CBACCB2E-700C-F2EC-94C3-364F885E9CC9}"/>
              </a:ext>
            </a:extLst>
          </p:cNvPr>
          <p:cNvSpPr/>
          <p:nvPr/>
        </p:nvSpPr>
        <p:spPr>
          <a:xfrm>
            <a:off x="1976392" y="5165672"/>
            <a:ext cx="914400" cy="3810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sv-SE" u="sng"/>
          </a:p>
        </p:txBody>
      </p:sp>
      <p:grpSp>
        <p:nvGrpSpPr>
          <p:cNvPr id="68" name="Grupp 67">
            <a:extLst>
              <a:ext uri="{FF2B5EF4-FFF2-40B4-BE49-F238E27FC236}">
                <a16:creationId xmlns:a16="http://schemas.microsoft.com/office/drawing/2014/main" id="{C9D33C0F-BA4B-90F7-747F-26ED14C0B06E}"/>
              </a:ext>
            </a:extLst>
          </p:cNvPr>
          <p:cNvGrpSpPr/>
          <p:nvPr/>
        </p:nvGrpSpPr>
        <p:grpSpPr>
          <a:xfrm>
            <a:off x="324166" y="2604604"/>
            <a:ext cx="531774" cy="3084244"/>
            <a:chOff x="324166" y="2604604"/>
            <a:chExt cx="531774" cy="3084244"/>
          </a:xfrm>
        </p:grpSpPr>
        <p:pic>
          <p:nvPicPr>
            <p:cNvPr id="60" name="Bildobjekt 59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C2F35D27-FDB5-3834-50A1-5193240F9F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66" y="2604604"/>
              <a:ext cx="509223" cy="400372"/>
            </a:xfrm>
            <a:prstGeom prst="rect">
              <a:avLst/>
            </a:prstGeom>
          </p:spPr>
        </p:pic>
        <p:pic>
          <p:nvPicPr>
            <p:cNvPr id="61" name="Bildobjekt 60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C8A10A12-9C0A-3407-26E7-BF35D06AB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66" y="2985604"/>
              <a:ext cx="509223" cy="400372"/>
            </a:xfrm>
            <a:prstGeom prst="rect">
              <a:avLst/>
            </a:prstGeom>
          </p:spPr>
        </p:pic>
        <p:pic>
          <p:nvPicPr>
            <p:cNvPr id="62" name="Bildobjekt 61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2D9092CE-F432-521F-D038-C8FDD61E72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66" y="3366604"/>
              <a:ext cx="509223" cy="400372"/>
            </a:xfrm>
            <a:prstGeom prst="rect">
              <a:avLst/>
            </a:prstGeom>
          </p:spPr>
        </p:pic>
        <p:pic>
          <p:nvPicPr>
            <p:cNvPr id="63" name="Bildobjekt 62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5A5FC08F-BAFC-DA19-40E9-F4C4A8E13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4166" y="3747604"/>
              <a:ext cx="509223" cy="400372"/>
            </a:xfrm>
            <a:prstGeom prst="rect">
              <a:avLst/>
            </a:prstGeom>
          </p:spPr>
        </p:pic>
        <p:pic>
          <p:nvPicPr>
            <p:cNvPr id="64" name="Bildobjekt 63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A4996017-D8AF-C34C-6303-15CE6BED569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17" y="4145476"/>
              <a:ext cx="509223" cy="400372"/>
            </a:xfrm>
            <a:prstGeom prst="rect">
              <a:avLst/>
            </a:prstGeom>
          </p:spPr>
        </p:pic>
        <p:pic>
          <p:nvPicPr>
            <p:cNvPr id="65" name="Bildobjekt 64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027F2BBD-CABC-F51D-E195-49725E72EE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17" y="4526476"/>
              <a:ext cx="509223" cy="400372"/>
            </a:xfrm>
            <a:prstGeom prst="rect">
              <a:avLst/>
            </a:prstGeom>
          </p:spPr>
        </p:pic>
        <p:pic>
          <p:nvPicPr>
            <p:cNvPr id="66" name="Bildobjekt 65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2291D4DB-917E-3989-2C54-253F9227AA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17" y="4907476"/>
              <a:ext cx="509223" cy="400372"/>
            </a:xfrm>
            <a:prstGeom prst="rect">
              <a:avLst/>
            </a:prstGeom>
          </p:spPr>
        </p:pic>
        <p:pic>
          <p:nvPicPr>
            <p:cNvPr id="67" name="Bildobjekt 66" descr="En bild som visar inomhus, LEGO, bord, tårta&#10;&#10;Beskrivning genererad med mycket hög exakthet">
              <a:extLst>
                <a:ext uri="{FF2B5EF4-FFF2-40B4-BE49-F238E27FC236}">
                  <a16:creationId xmlns:a16="http://schemas.microsoft.com/office/drawing/2014/main" id="{477C2B1B-B730-6B80-A7AC-D4E0E39DF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6717" y="5288476"/>
              <a:ext cx="509223" cy="400372"/>
            </a:xfrm>
            <a:prstGeom prst="rect">
              <a:avLst/>
            </a:prstGeom>
          </p:spPr>
        </p:pic>
      </p:grpSp>
      <p:grpSp>
        <p:nvGrpSpPr>
          <p:cNvPr id="77" name="Grupp 76">
            <a:extLst>
              <a:ext uri="{FF2B5EF4-FFF2-40B4-BE49-F238E27FC236}">
                <a16:creationId xmlns:a16="http://schemas.microsoft.com/office/drawing/2014/main" id="{D58C1F47-2327-3D0A-DFCB-D62A83263351}"/>
              </a:ext>
            </a:extLst>
          </p:cNvPr>
          <p:cNvGrpSpPr/>
          <p:nvPr/>
        </p:nvGrpSpPr>
        <p:grpSpPr>
          <a:xfrm>
            <a:off x="889266" y="2649726"/>
            <a:ext cx="572680" cy="2866701"/>
            <a:chOff x="889266" y="2649726"/>
            <a:chExt cx="572680" cy="2866701"/>
          </a:xfrm>
        </p:grpSpPr>
        <p:sp>
          <p:nvSpPr>
            <p:cNvPr id="69" name="Pil: vänster-höger 68">
              <a:extLst>
                <a:ext uri="{FF2B5EF4-FFF2-40B4-BE49-F238E27FC236}">
                  <a16:creationId xmlns:a16="http://schemas.microsoft.com/office/drawing/2014/main" id="{E9FBB965-0942-A35C-1D0B-B44F135E5F48}"/>
                </a:ext>
              </a:extLst>
            </p:cNvPr>
            <p:cNvSpPr/>
            <p:nvPr/>
          </p:nvSpPr>
          <p:spPr>
            <a:xfrm>
              <a:off x="889659" y="2649726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0" name="Pil: vänster-höger 69">
              <a:extLst>
                <a:ext uri="{FF2B5EF4-FFF2-40B4-BE49-F238E27FC236}">
                  <a16:creationId xmlns:a16="http://schemas.microsoft.com/office/drawing/2014/main" id="{49EA8D57-9F5F-71B6-DA0D-82831EC14284}"/>
                </a:ext>
              </a:extLst>
            </p:cNvPr>
            <p:cNvSpPr/>
            <p:nvPr/>
          </p:nvSpPr>
          <p:spPr>
            <a:xfrm>
              <a:off x="890446" y="3001773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1" name="Pil: vänster-höger 70">
              <a:extLst>
                <a:ext uri="{FF2B5EF4-FFF2-40B4-BE49-F238E27FC236}">
                  <a16:creationId xmlns:a16="http://schemas.microsoft.com/office/drawing/2014/main" id="{17F06521-8A25-C7FD-CDBF-0EF71185E589}"/>
                </a:ext>
              </a:extLst>
            </p:cNvPr>
            <p:cNvSpPr/>
            <p:nvPr/>
          </p:nvSpPr>
          <p:spPr>
            <a:xfrm>
              <a:off x="889659" y="3385976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2" name="Pil: vänster-höger 71">
              <a:extLst>
                <a:ext uri="{FF2B5EF4-FFF2-40B4-BE49-F238E27FC236}">
                  <a16:creationId xmlns:a16="http://schemas.microsoft.com/office/drawing/2014/main" id="{E07F742F-1B2D-BA49-52AA-02C185E6C3BC}"/>
                </a:ext>
              </a:extLst>
            </p:cNvPr>
            <p:cNvSpPr/>
            <p:nvPr/>
          </p:nvSpPr>
          <p:spPr>
            <a:xfrm>
              <a:off x="890446" y="3738023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3" name="Pil: vänster-höger 72">
              <a:extLst>
                <a:ext uri="{FF2B5EF4-FFF2-40B4-BE49-F238E27FC236}">
                  <a16:creationId xmlns:a16="http://schemas.microsoft.com/office/drawing/2014/main" id="{CC134F29-2BF7-7745-6AF2-5F57DF5617EC}"/>
                </a:ext>
              </a:extLst>
            </p:cNvPr>
            <p:cNvSpPr/>
            <p:nvPr/>
          </p:nvSpPr>
          <p:spPr>
            <a:xfrm>
              <a:off x="889266" y="4122226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4" name="Pil: vänster-höger 73">
              <a:extLst>
                <a:ext uri="{FF2B5EF4-FFF2-40B4-BE49-F238E27FC236}">
                  <a16:creationId xmlns:a16="http://schemas.microsoft.com/office/drawing/2014/main" id="{400CE94E-1002-0B62-5F0C-3E63BA1A0724}"/>
                </a:ext>
              </a:extLst>
            </p:cNvPr>
            <p:cNvSpPr/>
            <p:nvPr/>
          </p:nvSpPr>
          <p:spPr>
            <a:xfrm>
              <a:off x="890053" y="4474273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5" name="Pil: vänster-höger 74">
              <a:extLst>
                <a:ext uri="{FF2B5EF4-FFF2-40B4-BE49-F238E27FC236}">
                  <a16:creationId xmlns:a16="http://schemas.microsoft.com/office/drawing/2014/main" id="{8CE1439D-3524-BB0C-1466-1DD2DFFE3F9C}"/>
                </a:ext>
              </a:extLst>
            </p:cNvPr>
            <p:cNvSpPr/>
            <p:nvPr/>
          </p:nvSpPr>
          <p:spPr>
            <a:xfrm>
              <a:off x="889266" y="4858476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  <p:sp>
          <p:nvSpPr>
            <p:cNvPr id="76" name="Pil: vänster-höger 75">
              <a:extLst>
                <a:ext uri="{FF2B5EF4-FFF2-40B4-BE49-F238E27FC236}">
                  <a16:creationId xmlns:a16="http://schemas.microsoft.com/office/drawing/2014/main" id="{59D5DB75-50E8-B74C-4815-1634C29EEDEF}"/>
                </a:ext>
              </a:extLst>
            </p:cNvPr>
            <p:cNvSpPr/>
            <p:nvPr/>
          </p:nvSpPr>
          <p:spPr>
            <a:xfrm>
              <a:off x="890053" y="5210523"/>
              <a:ext cx="571500" cy="305904"/>
            </a:xfrm>
            <a:prstGeom prst="leftRightArrow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dirty="0"/>
                <a:t>?</a:t>
              </a:r>
            </a:p>
          </p:txBody>
        </p:sp>
      </p:grpSp>
      <p:sp>
        <p:nvSpPr>
          <p:cNvPr id="79" name="textruta 78">
            <a:extLst>
              <a:ext uri="{FF2B5EF4-FFF2-40B4-BE49-F238E27FC236}">
                <a16:creationId xmlns:a16="http://schemas.microsoft.com/office/drawing/2014/main" id="{141DE7DA-447E-EEAF-3C3A-85C47936F7EE}"/>
              </a:ext>
            </a:extLst>
          </p:cNvPr>
          <p:cNvSpPr txBox="1"/>
          <p:nvPr/>
        </p:nvSpPr>
        <p:spPr>
          <a:xfrm>
            <a:off x="5722512" y="2447798"/>
            <a:ext cx="630206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size(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*q)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{ return (q-&gt;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- q-&gt;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outp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) % q -&gt; size;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80" name="textruta 79">
            <a:extLst>
              <a:ext uri="{FF2B5EF4-FFF2-40B4-BE49-F238E27FC236}">
                <a16:creationId xmlns:a16="http://schemas.microsoft.com/office/drawing/2014/main" id="{4E9A365C-2757-40AF-43AE-B3340CC33CE0}"/>
              </a:ext>
            </a:extLst>
          </p:cNvPr>
          <p:cNvSpPr txBox="1"/>
          <p:nvPr/>
        </p:nvSpPr>
        <p:spPr>
          <a:xfrm>
            <a:off x="6885904" y="818776"/>
            <a:ext cx="43187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800" b="1" dirty="0" err="1">
                <a:solidFill>
                  <a:srgbClr val="FF0000"/>
                </a:solidFill>
              </a:rPr>
              <a:t>Example</a:t>
            </a:r>
            <a:r>
              <a:rPr lang="sv-SE" sz="2800" b="1" dirty="0">
                <a:solidFill>
                  <a:srgbClr val="FF0000"/>
                </a:solidFill>
              </a:rPr>
              <a:t>: </a:t>
            </a:r>
            <a:r>
              <a:rPr lang="sv-SE" sz="2800" b="1" dirty="0" err="1">
                <a:solidFill>
                  <a:srgbClr val="FF0000"/>
                </a:solidFill>
              </a:rPr>
              <a:t>circular</a:t>
            </a:r>
            <a:r>
              <a:rPr lang="sv-SE" sz="2800" b="1" dirty="0">
                <a:solidFill>
                  <a:srgbClr val="FF0000"/>
                </a:solidFill>
              </a:rPr>
              <a:t> </a:t>
            </a:r>
            <a:r>
              <a:rPr lang="sv-SE" sz="2800" b="1" dirty="0" err="1">
                <a:solidFill>
                  <a:srgbClr val="FF0000"/>
                </a:solidFill>
              </a:rPr>
              <a:t>buffer</a:t>
            </a:r>
            <a:endParaRPr lang="sv-SE" sz="2800" b="1" dirty="0">
              <a:solidFill>
                <a:srgbClr val="FF0000"/>
              </a:solidFill>
            </a:endParaRPr>
          </a:p>
        </p:txBody>
      </p:sp>
      <p:sp>
        <p:nvSpPr>
          <p:cNvPr id="82" name="textruta 81">
            <a:extLst>
              <a:ext uri="{FF2B5EF4-FFF2-40B4-BE49-F238E27FC236}">
                <a16:creationId xmlns:a16="http://schemas.microsoft.com/office/drawing/2014/main" id="{A1689B9B-1609-61AE-CAED-B3F8EBDA6F93}"/>
              </a:ext>
            </a:extLst>
          </p:cNvPr>
          <p:cNvSpPr txBox="1"/>
          <p:nvPr/>
        </p:nvSpPr>
        <p:spPr>
          <a:xfrm>
            <a:off x="5722512" y="3864435"/>
            <a:ext cx="60960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q:new(1) -&gt; {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ptr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, "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sv-SE" sz="105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1959398271824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q:put({ptr, "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sv-SE" sz="105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1959398271824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}, 0) -&gt; ok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q:get({ptr, "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sv-SE" sz="105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1959398271824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    -&gt; 0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q:put({ptr, "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sv-SE" sz="105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1959398271824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}, 0) -&gt; ok</a:t>
            </a:r>
          </a:p>
          <a:p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q:size({ptr, "</a:t>
            </a:r>
            <a:r>
              <a:rPr lang="sv-SE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Queue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", </a:t>
            </a:r>
            <a:r>
              <a:rPr lang="sv-SE" sz="1050" dirty="0">
                <a:solidFill>
                  <a:schemeClr val="bg1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1959398271824</a:t>
            </a:r>
            <a:r>
              <a:rPr lang="sv-SE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})   -&gt; </a:t>
            </a:r>
            <a:r>
              <a:rPr lang="sv-SE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</a:p>
        </p:txBody>
      </p:sp>
      <p:grpSp>
        <p:nvGrpSpPr>
          <p:cNvPr id="85" name="Grupp 84">
            <a:extLst>
              <a:ext uri="{FF2B5EF4-FFF2-40B4-BE49-F238E27FC236}">
                <a16:creationId xmlns:a16="http://schemas.microsoft.com/office/drawing/2014/main" id="{188409A6-D9D5-C88B-C6C2-EC6A3C60A51B}"/>
              </a:ext>
            </a:extLst>
          </p:cNvPr>
          <p:cNvGrpSpPr/>
          <p:nvPr/>
        </p:nvGrpSpPr>
        <p:grpSpPr>
          <a:xfrm>
            <a:off x="10091599" y="1558554"/>
            <a:ext cx="2100401" cy="1184646"/>
            <a:chOff x="10091599" y="1558554"/>
            <a:chExt cx="2100401" cy="1184646"/>
          </a:xfrm>
        </p:grpSpPr>
        <p:sp>
          <p:nvSpPr>
            <p:cNvPr id="83" name="textruta 82">
              <a:extLst>
                <a:ext uri="{FF2B5EF4-FFF2-40B4-BE49-F238E27FC236}">
                  <a16:creationId xmlns:a16="http://schemas.microsoft.com/office/drawing/2014/main" id="{766F3FF5-041C-9423-2F9D-F03A8A163375}"/>
                </a:ext>
              </a:extLst>
            </p:cNvPr>
            <p:cNvSpPr txBox="1"/>
            <p:nvPr/>
          </p:nvSpPr>
          <p:spPr>
            <a:xfrm>
              <a:off x="10238704" y="1558554"/>
              <a:ext cx="195329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sz="2400" i="1" dirty="0">
                  <a:solidFill>
                    <a:srgbClr val="FF0000"/>
                  </a:solidFill>
                </a:rPr>
                <a:t>Not </a:t>
              </a:r>
              <a:r>
                <a:rPr lang="sv-SE" sz="2400" i="1" dirty="0" err="1">
                  <a:solidFill>
                    <a:srgbClr val="FF0000"/>
                  </a:solidFill>
                </a:rPr>
                <a:t>modulo</a:t>
              </a:r>
              <a:r>
                <a:rPr lang="sv-SE" sz="2400" i="1" dirty="0">
                  <a:solidFill>
                    <a:srgbClr val="FF0000"/>
                  </a:solidFill>
                </a:rPr>
                <a:t>: </a:t>
              </a:r>
              <a:r>
                <a:rPr lang="sv-SE" sz="2400" i="1" dirty="0" err="1">
                  <a:solidFill>
                    <a:srgbClr val="FF0000"/>
                  </a:solidFill>
                </a:rPr>
                <a:t>remainder</a:t>
              </a:r>
              <a:r>
                <a:rPr lang="sv-SE" sz="2400" i="1" dirty="0">
                  <a:solidFill>
                    <a:srgbClr val="FF0000"/>
                  </a:solidFill>
                </a:rPr>
                <a:t> </a:t>
              </a:r>
            </a:p>
          </p:txBody>
        </p:sp>
        <p:sp>
          <p:nvSpPr>
            <p:cNvPr id="84" name="Frihandsfigur: Form 83">
              <a:extLst>
                <a:ext uri="{FF2B5EF4-FFF2-40B4-BE49-F238E27FC236}">
                  <a16:creationId xmlns:a16="http://schemas.microsoft.com/office/drawing/2014/main" id="{2A1A3607-1381-5F22-D031-9A884F1727AB}"/>
                </a:ext>
              </a:extLst>
            </p:cNvPr>
            <p:cNvSpPr/>
            <p:nvPr/>
          </p:nvSpPr>
          <p:spPr>
            <a:xfrm>
              <a:off x="10091599" y="2046824"/>
              <a:ext cx="329959" cy="696376"/>
            </a:xfrm>
            <a:custGeom>
              <a:avLst/>
              <a:gdLst>
                <a:gd name="connsiteX0" fmla="*/ 439026 w 439026"/>
                <a:gd name="connsiteY0" fmla="*/ 0 h 824248"/>
                <a:gd name="connsiteX1" fmla="*/ 44074 w 439026"/>
                <a:gd name="connsiteY1" fmla="*/ 304800 h 824248"/>
                <a:gd name="connsiteX2" fmla="*/ 26902 w 439026"/>
                <a:gd name="connsiteY2" fmla="*/ 824248 h 82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026" h="824248">
                  <a:moveTo>
                    <a:pt x="439026" y="0"/>
                  </a:moveTo>
                  <a:cubicBezTo>
                    <a:pt x="275893" y="83712"/>
                    <a:pt x="112761" y="167425"/>
                    <a:pt x="44074" y="304800"/>
                  </a:cubicBezTo>
                  <a:cubicBezTo>
                    <a:pt x="-24613" y="442175"/>
                    <a:pt x="1144" y="633211"/>
                    <a:pt x="26902" y="824248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86" name="Grupp 85">
            <a:extLst>
              <a:ext uri="{FF2B5EF4-FFF2-40B4-BE49-F238E27FC236}">
                <a16:creationId xmlns:a16="http://schemas.microsoft.com/office/drawing/2014/main" id="{2AA2D11A-66BE-1343-0DD9-8B0F364C229A}"/>
              </a:ext>
            </a:extLst>
          </p:cNvPr>
          <p:cNvGrpSpPr/>
          <p:nvPr/>
        </p:nvGrpSpPr>
        <p:grpSpPr>
          <a:xfrm>
            <a:off x="7809712" y="1461263"/>
            <a:ext cx="1953296" cy="1339923"/>
            <a:chOff x="10238704" y="1558554"/>
            <a:chExt cx="1953296" cy="1339923"/>
          </a:xfrm>
        </p:grpSpPr>
        <p:sp>
          <p:nvSpPr>
            <p:cNvPr id="87" name="textruta 86">
              <a:extLst>
                <a:ext uri="{FF2B5EF4-FFF2-40B4-BE49-F238E27FC236}">
                  <a16:creationId xmlns:a16="http://schemas.microsoft.com/office/drawing/2014/main" id="{32DA6692-370D-7431-72CB-1F6F0896F337}"/>
                </a:ext>
              </a:extLst>
            </p:cNvPr>
            <p:cNvSpPr txBox="1"/>
            <p:nvPr/>
          </p:nvSpPr>
          <p:spPr>
            <a:xfrm>
              <a:off x="10238704" y="1558554"/>
              <a:ext cx="195329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sz="20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+ q-&gt;size</a:t>
              </a:r>
            </a:p>
          </p:txBody>
        </p:sp>
        <p:sp>
          <p:nvSpPr>
            <p:cNvPr id="88" name="Frihandsfigur: Form 87">
              <a:extLst>
                <a:ext uri="{FF2B5EF4-FFF2-40B4-BE49-F238E27FC236}">
                  <a16:creationId xmlns:a16="http://schemas.microsoft.com/office/drawing/2014/main" id="{4C2E8467-187C-0A2B-9857-235AD56631B4}"/>
                </a:ext>
              </a:extLst>
            </p:cNvPr>
            <p:cNvSpPr/>
            <p:nvPr/>
          </p:nvSpPr>
          <p:spPr>
            <a:xfrm flipH="1">
              <a:off x="11284622" y="1958664"/>
              <a:ext cx="907378" cy="939813"/>
            </a:xfrm>
            <a:custGeom>
              <a:avLst/>
              <a:gdLst>
                <a:gd name="connsiteX0" fmla="*/ 439026 w 439026"/>
                <a:gd name="connsiteY0" fmla="*/ 0 h 824248"/>
                <a:gd name="connsiteX1" fmla="*/ 44074 w 439026"/>
                <a:gd name="connsiteY1" fmla="*/ 304800 h 824248"/>
                <a:gd name="connsiteX2" fmla="*/ 26902 w 439026"/>
                <a:gd name="connsiteY2" fmla="*/ 824248 h 824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9026" h="824248">
                  <a:moveTo>
                    <a:pt x="439026" y="0"/>
                  </a:moveTo>
                  <a:cubicBezTo>
                    <a:pt x="275893" y="83712"/>
                    <a:pt x="112761" y="167425"/>
                    <a:pt x="44074" y="304800"/>
                  </a:cubicBezTo>
                  <a:cubicBezTo>
                    <a:pt x="-24613" y="442175"/>
                    <a:pt x="1144" y="633211"/>
                    <a:pt x="26902" y="824248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89" name="textruta 88">
            <a:extLst>
              <a:ext uri="{FF2B5EF4-FFF2-40B4-BE49-F238E27FC236}">
                <a16:creationId xmlns:a16="http://schemas.microsoft.com/office/drawing/2014/main" id="{FA1F82EB-4C0B-7B94-5B20-734474D12E27}"/>
              </a:ext>
            </a:extLst>
          </p:cNvPr>
          <p:cNvSpPr txBox="1"/>
          <p:nvPr/>
        </p:nvSpPr>
        <p:spPr>
          <a:xfrm>
            <a:off x="7499360" y="2995492"/>
            <a:ext cx="38021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600" b="1" dirty="0">
                <a:solidFill>
                  <a:srgbClr val="FF0000"/>
                </a:solidFill>
              </a:rPr>
              <a:t>0      -      1       %     2</a:t>
            </a:r>
          </a:p>
        </p:txBody>
      </p:sp>
    </p:spTree>
    <p:extLst>
      <p:ext uri="{BB962C8B-B14F-4D97-AF65-F5344CB8AC3E}">
        <p14:creationId xmlns:p14="http://schemas.microsoft.com/office/powerpoint/2010/main" val="82637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42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7.40741E-7 L 0.21276 0.05532 " pathEditMode="relative" rAng="0" ptsTypes="AA">
                                      <p:cBhvr>
                                        <p:cTn id="54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38" y="2755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11111E-6 L 0.21341 -0.05602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64" y="-2801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48148E-6 L 0.21302 -0.11134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51" y="-55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79" grpId="0"/>
      <p:bldP spid="80" grpId="0"/>
      <p:bldP spid="82" grpId="0"/>
      <p:bldP spid="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14AB2E95-B6E7-BEBB-BC41-B2BDBD6A7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Testing</a:t>
            </a:r>
            <a:r>
              <a:rPr lang="sv-SE" dirty="0"/>
              <a:t> Safety </a:t>
            </a:r>
            <a:r>
              <a:rPr lang="sv-SE" dirty="0" err="1"/>
              <a:t>PLCs</a:t>
            </a:r>
            <a:endParaRPr lang="sv-SE" dirty="0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5AE23F1E-BA9B-5088-A1A2-719786D69D29}"/>
              </a:ext>
            </a:extLst>
          </p:cNvPr>
          <p:cNvSpPr txBox="1"/>
          <p:nvPr/>
        </p:nvSpPr>
        <p:spPr>
          <a:xfrm>
            <a:off x="8547100" y="137055"/>
            <a:ext cx="3572932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 u="none" strike="noStrike" baseline="0" dirty="0" err="1">
                <a:latin typeface="Times New Roman" panose="02020603050405020304" pitchFamily="18" charset="0"/>
              </a:rPr>
              <a:t>Thonnessen</a:t>
            </a:r>
            <a:r>
              <a:rPr lang="en-US" sz="1100" b="0" i="0" u="none" strike="noStrike" baseline="0" dirty="0">
                <a:latin typeface="Times New Roman" panose="02020603050405020304" pitchFamily="18" charset="0"/>
              </a:rPr>
              <a:t>, D., Smallbone, N., Fabian, M. et al (2019). Testing Safety PLCs Using QuickCheck. IEEE International Conference on Automation Science and Engineering, 2019</a:t>
            </a:r>
            <a:endParaRPr lang="sv-SE" sz="1100" dirty="0"/>
          </a:p>
        </p:txBody>
      </p:sp>
      <p:grpSp>
        <p:nvGrpSpPr>
          <p:cNvPr id="50" name="Grupp 49">
            <a:extLst>
              <a:ext uri="{FF2B5EF4-FFF2-40B4-BE49-F238E27FC236}">
                <a16:creationId xmlns:a16="http://schemas.microsoft.com/office/drawing/2014/main" id="{B83E432D-6640-8FFD-A832-A5D1119FBAE6}"/>
              </a:ext>
            </a:extLst>
          </p:cNvPr>
          <p:cNvGrpSpPr/>
          <p:nvPr/>
        </p:nvGrpSpPr>
        <p:grpSpPr>
          <a:xfrm>
            <a:off x="151409" y="1985540"/>
            <a:ext cx="5739904" cy="3042685"/>
            <a:chOff x="151409" y="1985540"/>
            <a:chExt cx="5739904" cy="3042685"/>
          </a:xfrm>
        </p:grpSpPr>
        <p:sp>
          <p:nvSpPr>
            <p:cNvPr id="20" name="textruta 19">
              <a:extLst>
                <a:ext uri="{FF2B5EF4-FFF2-40B4-BE49-F238E27FC236}">
                  <a16:creationId xmlns:a16="http://schemas.microsoft.com/office/drawing/2014/main" id="{2493FA6A-8E2D-15BA-B6B3-CB2C5F66A49E}"/>
                </a:ext>
              </a:extLst>
            </p:cNvPr>
            <p:cNvSpPr txBox="1"/>
            <p:nvPr/>
          </p:nvSpPr>
          <p:spPr>
            <a:xfrm>
              <a:off x="4183938" y="3108124"/>
              <a:ext cx="170737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000" i="1" dirty="0">
                  <a:solidFill>
                    <a:srgbClr val="FF0000"/>
                  </a:solidFill>
                </a:rPr>
                <a:t>Robot enabled</a:t>
              </a:r>
            </a:p>
          </p:txBody>
        </p:sp>
        <p:grpSp>
          <p:nvGrpSpPr>
            <p:cNvPr id="49" name="Grupp 48">
              <a:extLst>
                <a:ext uri="{FF2B5EF4-FFF2-40B4-BE49-F238E27FC236}">
                  <a16:creationId xmlns:a16="http://schemas.microsoft.com/office/drawing/2014/main" id="{49D0CF4C-7FC6-42A1-2E35-63B16C8620E4}"/>
                </a:ext>
              </a:extLst>
            </p:cNvPr>
            <p:cNvGrpSpPr/>
            <p:nvPr/>
          </p:nvGrpSpPr>
          <p:grpSpPr>
            <a:xfrm>
              <a:off x="151409" y="1985540"/>
              <a:ext cx="5515144" cy="3042685"/>
              <a:chOff x="151409" y="1985540"/>
              <a:chExt cx="5515144" cy="3042685"/>
            </a:xfrm>
          </p:grpSpPr>
          <p:sp>
            <p:nvSpPr>
              <p:cNvPr id="6" name="Rektangel 5">
                <a:extLst>
                  <a:ext uri="{FF2B5EF4-FFF2-40B4-BE49-F238E27FC236}">
                    <a16:creationId xmlns:a16="http://schemas.microsoft.com/office/drawing/2014/main" id="{CE16AB0F-9F24-CCC5-A9D2-4C52BA3A0A1E}"/>
                  </a:ext>
                </a:extLst>
              </p:cNvPr>
              <p:cNvSpPr/>
              <p:nvPr/>
            </p:nvSpPr>
            <p:spPr>
              <a:xfrm>
                <a:off x="2171266" y="2988279"/>
                <a:ext cx="1320800" cy="1282700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7" name="textruta 6">
                <a:extLst>
                  <a:ext uri="{FF2B5EF4-FFF2-40B4-BE49-F238E27FC236}">
                    <a16:creationId xmlns:a16="http://schemas.microsoft.com/office/drawing/2014/main" id="{FB5239C5-7A47-43A6-8601-5647A6BA1AA6}"/>
                  </a:ext>
                </a:extLst>
              </p:cNvPr>
              <p:cNvSpPr txBox="1"/>
              <p:nvPr/>
            </p:nvSpPr>
            <p:spPr>
              <a:xfrm>
                <a:off x="605635" y="1985540"/>
                <a:ext cx="15656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i="1" dirty="0" err="1">
                    <a:solidFill>
                      <a:srgbClr val="FF0000"/>
                    </a:solidFill>
                  </a:rPr>
                  <a:t>Emergency</a:t>
                </a:r>
                <a:r>
                  <a:rPr lang="sv-SE" sz="2000" i="1" dirty="0">
                    <a:solidFill>
                      <a:srgbClr val="FF0000"/>
                    </a:solidFill>
                  </a:rPr>
                  <a:t> stop </a:t>
                </a:r>
                <a:r>
                  <a:rPr lang="sv-SE" sz="2000" i="1" dirty="0" err="1">
                    <a:solidFill>
                      <a:srgbClr val="FF0000"/>
                    </a:solidFill>
                  </a:rPr>
                  <a:t>buttons</a:t>
                </a:r>
                <a:endParaRPr lang="sv-SE" sz="2000" i="1" dirty="0">
                  <a:solidFill>
                    <a:srgbClr val="FF0000"/>
                  </a:solidFill>
                </a:endParaRPr>
              </a:p>
            </p:txBody>
          </p:sp>
          <p:cxnSp>
            <p:nvCxnSpPr>
              <p:cNvPr id="9" name="Rak pilkoppling 8">
                <a:extLst>
                  <a:ext uri="{FF2B5EF4-FFF2-40B4-BE49-F238E27FC236}">
                    <a16:creationId xmlns:a16="http://schemas.microsoft.com/office/drawing/2014/main" id="{42338E94-428C-3B3F-61B8-2DBBA4FCE6F5}"/>
                  </a:ext>
                </a:extLst>
              </p:cNvPr>
              <p:cNvCxnSpPr>
                <a:stCxn id="7" idx="2"/>
              </p:cNvCxnSpPr>
              <p:nvPr/>
            </p:nvCxnSpPr>
            <p:spPr>
              <a:xfrm>
                <a:off x="1388451" y="2693426"/>
                <a:ext cx="782815" cy="56719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textruta 9">
                <a:extLst>
                  <a:ext uri="{FF2B5EF4-FFF2-40B4-BE49-F238E27FC236}">
                    <a16:creationId xmlns:a16="http://schemas.microsoft.com/office/drawing/2014/main" id="{1E97516E-5904-BE0D-0C6E-24DA32870759}"/>
                  </a:ext>
                </a:extLst>
              </p:cNvPr>
              <p:cNvSpPr txBox="1"/>
              <p:nvPr/>
            </p:nvSpPr>
            <p:spPr>
              <a:xfrm>
                <a:off x="151409" y="3243441"/>
                <a:ext cx="1565631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i="1" dirty="0">
                    <a:solidFill>
                      <a:srgbClr val="FF0000"/>
                    </a:solidFill>
                  </a:rPr>
                  <a:t>Door sensors</a:t>
                </a:r>
              </a:p>
            </p:txBody>
          </p:sp>
          <p:cxnSp>
            <p:nvCxnSpPr>
              <p:cNvPr id="11" name="Rak pilkoppling 10">
                <a:extLst>
                  <a:ext uri="{FF2B5EF4-FFF2-40B4-BE49-F238E27FC236}">
                    <a16:creationId xmlns:a16="http://schemas.microsoft.com/office/drawing/2014/main" id="{2BB9241F-701F-F0AF-40BC-487A6DFB2BBF}"/>
                  </a:ext>
                </a:extLst>
              </p:cNvPr>
              <p:cNvCxnSpPr>
                <a:cxnSpLocks/>
                <a:endCxn id="6" idx="1"/>
              </p:cNvCxnSpPr>
              <p:nvPr/>
            </p:nvCxnSpPr>
            <p:spPr>
              <a:xfrm>
                <a:off x="1199871" y="3629629"/>
                <a:ext cx="971395" cy="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ruta 13">
                <a:extLst>
                  <a:ext uri="{FF2B5EF4-FFF2-40B4-BE49-F238E27FC236}">
                    <a16:creationId xmlns:a16="http://schemas.microsoft.com/office/drawing/2014/main" id="{546D8858-3DF7-2913-C903-5E158D3E0283}"/>
                  </a:ext>
                </a:extLst>
              </p:cNvPr>
              <p:cNvSpPr txBox="1"/>
              <p:nvPr/>
            </p:nvSpPr>
            <p:spPr>
              <a:xfrm>
                <a:off x="463891" y="4320339"/>
                <a:ext cx="17073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i="1" dirty="0">
                    <a:solidFill>
                      <a:srgbClr val="FF0000"/>
                    </a:solidFill>
                  </a:rPr>
                  <a:t>Key (</a:t>
                </a:r>
                <a:r>
                  <a:rPr lang="sv-SE" sz="2000" i="1" dirty="0" err="1">
                    <a:solidFill>
                      <a:srgbClr val="FF0000"/>
                    </a:solidFill>
                  </a:rPr>
                  <a:t>override</a:t>
                </a:r>
                <a:r>
                  <a:rPr lang="sv-SE" sz="2000" i="1" dirty="0">
                    <a:solidFill>
                      <a:srgbClr val="FF0000"/>
                    </a:solidFill>
                  </a:rPr>
                  <a:t>) switch</a:t>
                </a:r>
              </a:p>
            </p:txBody>
          </p:sp>
          <p:cxnSp>
            <p:nvCxnSpPr>
              <p:cNvPr id="15" name="Rak pilkoppling 14">
                <a:extLst>
                  <a:ext uri="{FF2B5EF4-FFF2-40B4-BE49-F238E27FC236}">
                    <a16:creationId xmlns:a16="http://schemas.microsoft.com/office/drawing/2014/main" id="{E0B2D19D-B4CB-C037-F2D7-30FA5D97896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01718" y="3992137"/>
                <a:ext cx="869548" cy="375393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ruta 16">
                <a:extLst>
                  <a:ext uri="{FF2B5EF4-FFF2-40B4-BE49-F238E27FC236}">
                    <a16:creationId xmlns:a16="http://schemas.microsoft.com/office/drawing/2014/main" id="{6659A80F-D107-7CBC-EAA6-4D997E749115}"/>
                  </a:ext>
                </a:extLst>
              </p:cNvPr>
              <p:cNvSpPr txBox="1"/>
              <p:nvPr/>
            </p:nvSpPr>
            <p:spPr>
              <a:xfrm>
                <a:off x="3939354" y="1985540"/>
                <a:ext cx="17073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i="1" dirty="0">
                    <a:solidFill>
                      <a:srgbClr val="FF0000"/>
                    </a:solidFill>
                  </a:rPr>
                  <a:t>Motors enabled</a:t>
                </a:r>
              </a:p>
            </p:txBody>
          </p:sp>
          <p:cxnSp>
            <p:nvCxnSpPr>
              <p:cNvPr id="18" name="Rak pilkoppling 17">
                <a:extLst>
                  <a:ext uri="{FF2B5EF4-FFF2-40B4-BE49-F238E27FC236}">
                    <a16:creationId xmlns:a16="http://schemas.microsoft.com/office/drawing/2014/main" id="{3A7F97B7-1D41-50C4-5C57-FCA29B2C343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92066" y="2653156"/>
                <a:ext cx="691872" cy="581091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Rak pilkoppling 20">
                <a:extLst>
                  <a:ext uri="{FF2B5EF4-FFF2-40B4-BE49-F238E27FC236}">
                    <a16:creationId xmlns:a16="http://schemas.microsoft.com/office/drawing/2014/main" id="{974D389F-B639-D5BB-58A5-6D4B0CA1A50B}"/>
                  </a:ext>
                </a:extLst>
              </p:cNvPr>
              <p:cNvCxnSpPr>
                <a:cxnSpLocks/>
                <a:stCxn id="6" idx="3"/>
                <a:endCxn id="20" idx="1"/>
              </p:cNvCxnSpPr>
              <p:nvPr/>
            </p:nvCxnSpPr>
            <p:spPr>
              <a:xfrm flipV="1">
                <a:off x="3492066" y="3462067"/>
                <a:ext cx="691872" cy="167562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textruta 22">
                <a:extLst>
                  <a:ext uri="{FF2B5EF4-FFF2-40B4-BE49-F238E27FC236}">
                    <a16:creationId xmlns:a16="http://schemas.microsoft.com/office/drawing/2014/main" id="{A628CF21-6EC7-1D80-8DB5-23B51330AC7B}"/>
                  </a:ext>
                </a:extLst>
              </p:cNvPr>
              <p:cNvSpPr txBox="1"/>
              <p:nvPr/>
            </p:nvSpPr>
            <p:spPr>
              <a:xfrm>
                <a:off x="3959178" y="4144856"/>
                <a:ext cx="1707375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i="1" dirty="0">
                    <a:solidFill>
                      <a:srgbClr val="FF0000"/>
                    </a:solidFill>
                  </a:rPr>
                  <a:t>Laser enabled</a:t>
                </a:r>
              </a:p>
            </p:txBody>
          </p:sp>
          <p:cxnSp>
            <p:nvCxnSpPr>
              <p:cNvPr id="24" name="Rak pilkoppling 23">
                <a:extLst>
                  <a:ext uri="{FF2B5EF4-FFF2-40B4-BE49-F238E27FC236}">
                    <a16:creationId xmlns:a16="http://schemas.microsoft.com/office/drawing/2014/main" id="{F5AD79BD-9994-585C-8C85-CF7AC0A11C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92066" y="3991017"/>
                <a:ext cx="515434" cy="544274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8" name="textruta 27">
            <a:extLst>
              <a:ext uri="{FF2B5EF4-FFF2-40B4-BE49-F238E27FC236}">
                <a16:creationId xmlns:a16="http://schemas.microsoft.com/office/drawing/2014/main" id="{AB9C9828-C848-D094-DE26-321713CFCFF1}"/>
              </a:ext>
            </a:extLst>
          </p:cNvPr>
          <p:cNvSpPr txBox="1"/>
          <p:nvPr/>
        </p:nvSpPr>
        <p:spPr>
          <a:xfrm>
            <a:off x="605635" y="5356427"/>
            <a:ext cx="49731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/>
              <a:t>Input and outputs:</a:t>
            </a:r>
          </a:p>
          <a:p>
            <a:r>
              <a:rPr lang="sv-SE" sz="2400" dirty="0" err="1"/>
              <a:t>Boolean</a:t>
            </a:r>
            <a:r>
              <a:rPr lang="sv-SE" sz="2400" dirty="0"/>
              <a:t> signals, </a:t>
            </a:r>
            <a:r>
              <a:rPr lang="sv-SE" sz="2400" dirty="0" err="1"/>
              <a:t>changing</a:t>
            </a:r>
            <a:r>
              <a:rPr lang="sv-SE" sz="2400" dirty="0"/>
              <a:t> over </a:t>
            </a:r>
            <a:r>
              <a:rPr lang="sv-SE" sz="2400" dirty="0" err="1"/>
              <a:t>time</a:t>
            </a:r>
            <a:endParaRPr lang="sv-SE" sz="2400" dirty="0"/>
          </a:p>
        </p:txBody>
      </p:sp>
      <p:sp>
        <p:nvSpPr>
          <p:cNvPr id="30" name="textruta 29">
            <a:extLst>
              <a:ext uri="{FF2B5EF4-FFF2-40B4-BE49-F238E27FC236}">
                <a16:creationId xmlns:a16="http://schemas.microsoft.com/office/drawing/2014/main" id="{EAA3CC7E-BABA-D408-84B5-4AF59AEC8A14}"/>
              </a:ext>
            </a:extLst>
          </p:cNvPr>
          <p:cNvSpPr txBox="1"/>
          <p:nvPr/>
        </p:nvSpPr>
        <p:spPr>
          <a:xfrm>
            <a:off x="6414181" y="1910808"/>
            <a:ext cx="422544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input 1 high, wait 500 </a:t>
            </a:r>
            <a:r>
              <a:rPr lang="en-US" sz="2000" b="1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b="1" i="0" u="none" strike="noStrike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input 3 high, wait 200 </a:t>
            </a:r>
            <a:r>
              <a:rPr lang="en-US" sz="2000" b="1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b="1" i="0" u="none" strike="noStrike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input 2 high, wait 800 </a:t>
            </a:r>
            <a:r>
              <a:rPr lang="en-US" sz="2000" b="1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b="1" i="0" u="none" strike="noStrike" baseline="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i="0" u="none" strike="noStrike" baseline="0" dirty="0">
                <a:latin typeface="Courier New" panose="02070309020205020404" pitchFamily="49" charset="0"/>
                <a:cs typeface="Courier New" panose="02070309020205020404" pitchFamily="49" charset="0"/>
              </a:rPr>
              <a:t>input 1 low,  wait 200 </a:t>
            </a:r>
            <a:r>
              <a:rPr lang="en-US" sz="2000" b="1" i="0" u="none" strike="noStrike" baseline="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sv-SE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1" name="textruta 30">
            <a:extLst>
              <a:ext uri="{FF2B5EF4-FFF2-40B4-BE49-F238E27FC236}">
                <a16:creationId xmlns:a16="http://schemas.microsoft.com/office/drawing/2014/main" id="{3870A6E9-2408-0E46-C819-154245EDDE89}"/>
              </a:ext>
            </a:extLst>
          </p:cNvPr>
          <p:cNvSpPr txBox="1"/>
          <p:nvPr/>
        </p:nvSpPr>
        <p:spPr>
          <a:xfrm>
            <a:off x="6414181" y="1170719"/>
            <a:ext cx="34078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>
                <a:solidFill>
                  <a:srgbClr val="FF0000"/>
                </a:solidFill>
              </a:rPr>
              <a:t>What is a test </a:t>
            </a:r>
            <a:r>
              <a:rPr lang="sv-SE" sz="2400" b="1" dirty="0" err="1">
                <a:solidFill>
                  <a:srgbClr val="FF0000"/>
                </a:solidFill>
              </a:rPr>
              <a:t>case</a:t>
            </a:r>
            <a:r>
              <a:rPr lang="sv-SE" sz="2400" b="1" dirty="0">
                <a:solidFill>
                  <a:srgbClr val="FF0000"/>
                </a:solidFill>
              </a:rPr>
              <a:t>?</a:t>
            </a:r>
          </a:p>
        </p:txBody>
      </p:sp>
      <p:grpSp>
        <p:nvGrpSpPr>
          <p:cNvPr id="35" name="Grupp 34">
            <a:extLst>
              <a:ext uri="{FF2B5EF4-FFF2-40B4-BE49-F238E27FC236}">
                <a16:creationId xmlns:a16="http://schemas.microsoft.com/office/drawing/2014/main" id="{4F4C3E32-FF89-00BE-D4BD-2FB6AFB0F81E}"/>
              </a:ext>
            </a:extLst>
          </p:cNvPr>
          <p:cNvGrpSpPr/>
          <p:nvPr/>
        </p:nvGrpSpPr>
        <p:grpSpPr>
          <a:xfrm>
            <a:off x="9331340" y="1170719"/>
            <a:ext cx="2860660" cy="1139814"/>
            <a:chOff x="9331340" y="1170719"/>
            <a:chExt cx="2860660" cy="1139814"/>
          </a:xfrm>
        </p:grpSpPr>
        <p:sp>
          <p:nvSpPr>
            <p:cNvPr id="32" name="Ellips 31">
              <a:extLst>
                <a:ext uri="{FF2B5EF4-FFF2-40B4-BE49-F238E27FC236}">
                  <a16:creationId xmlns:a16="http://schemas.microsoft.com/office/drawing/2014/main" id="{056C8B9D-320A-5D8C-215A-A9502A7D8CC0}"/>
                </a:ext>
              </a:extLst>
            </p:cNvPr>
            <p:cNvSpPr/>
            <p:nvPr/>
          </p:nvSpPr>
          <p:spPr>
            <a:xfrm>
              <a:off x="9331340" y="1855563"/>
              <a:ext cx="624469" cy="45497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3" name="Frihandsfigur: Form 32">
              <a:extLst>
                <a:ext uri="{FF2B5EF4-FFF2-40B4-BE49-F238E27FC236}">
                  <a16:creationId xmlns:a16="http://schemas.microsoft.com/office/drawing/2014/main" id="{44F398F5-FAD8-DD6B-6027-D96262B5231D}"/>
                </a:ext>
              </a:extLst>
            </p:cNvPr>
            <p:cNvSpPr/>
            <p:nvPr/>
          </p:nvSpPr>
          <p:spPr>
            <a:xfrm>
              <a:off x="9839837" y="1579013"/>
              <a:ext cx="441588" cy="330076"/>
            </a:xfrm>
            <a:custGeom>
              <a:avLst/>
              <a:gdLst>
                <a:gd name="connsiteX0" fmla="*/ 0 w 700297"/>
                <a:gd name="connsiteY0" fmla="*/ 307774 h 307774"/>
                <a:gd name="connsiteX1" fmla="*/ 272090 w 700297"/>
                <a:gd name="connsiteY1" fmla="*/ 66907 h 307774"/>
                <a:gd name="connsiteX2" fmla="*/ 700297 w 700297"/>
                <a:gd name="connsiteY2" fmla="*/ 0 h 30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0297" h="307774">
                  <a:moveTo>
                    <a:pt x="0" y="307774"/>
                  </a:moveTo>
                  <a:cubicBezTo>
                    <a:pt x="77687" y="212988"/>
                    <a:pt x="155374" y="118203"/>
                    <a:pt x="272090" y="66907"/>
                  </a:cubicBezTo>
                  <a:cubicBezTo>
                    <a:pt x="388806" y="15611"/>
                    <a:pt x="544551" y="7805"/>
                    <a:pt x="700297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4" name="textruta 33">
              <a:extLst>
                <a:ext uri="{FF2B5EF4-FFF2-40B4-BE49-F238E27FC236}">
                  <a16:creationId xmlns:a16="http://schemas.microsoft.com/office/drawing/2014/main" id="{E7E30655-DC4C-D96D-F784-2856A71FC4D4}"/>
                </a:ext>
              </a:extLst>
            </p:cNvPr>
            <p:cNvSpPr txBox="1"/>
            <p:nvPr/>
          </p:nvSpPr>
          <p:spPr>
            <a:xfrm>
              <a:off x="10281424" y="1170719"/>
              <a:ext cx="191057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000" i="1" dirty="0" err="1">
                  <a:solidFill>
                    <a:srgbClr val="FF0000"/>
                  </a:solidFill>
                </a:rPr>
                <a:t>Generate</a:t>
              </a:r>
              <a:r>
                <a:rPr lang="sv-SE" sz="2000" i="1" dirty="0">
                  <a:solidFill>
                    <a:srgbClr val="FF0000"/>
                  </a:solidFill>
                </a:rPr>
                <a:t> </a:t>
              </a:r>
              <a:r>
                <a:rPr lang="sv-SE" sz="20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0 </a:t>
              </a:r>
              <a:r>
                <a:rPr lang="sv-SE" sz="2000" b="1" dirty="0" err="1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ms</a:t>
              </a:r>
              <a:r>
                <a:rPr lang="sv-SE" sz="2000" i="1" dirty="0">
                  <a:solidFill>
                    <a:srgbClr val="FF0000"/>
                  </a:solidFill>
                </a:rPr>
                <a:t> </a:t>
              </a:r>
              <a:r>
                <a:rPr lang="sv-SE" sz="2000" i="1" dirty="0" err="1">
                  <a:solidFill>
                    <a:srgbClr val="FF0000"/>
                  </a:solidFill>
                </a:rPr>
                <a:t>half</a:t>
              </a:r>
              <a:r>
                <a:rPr lang="sv-SE" sz="2000" i="1" dirty="0">
                  <a:solidFill>
                    <a:srgbClr val="FF0000"/>
                  </a:solidFill>
                </a:rPr>
                <a:t> the </a:t>
              </a:r>
              <a:r>
                <a:rPr lang="sv-SE" sz="2000" i="1" dirty="0" err="1">
                  <a:solidFill>
                    <a:srgbClr val="FF0000"/>
                  </a:solidFill>
                </a:rPr>
                <a:t>time</a:t>
              </a:r>
              <a:endParaRPr lang="sv-SE" sz="2000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36" name="Grupp 35">
            <a:extLst>
              <a:ext uri="{FF2B5EF4-FFF2-40B4-BE49-F238E27FC236}">
                <a16:creationId xmlns:a16="http://schemas.microsoft.com/office/drawing/2014/main" id="{D3E467FF-F55C-A5B7-9D57-68A9952F1889}"/>
              </a:ext>
            </a:extLst>
          </p:cNvPr>
          <p:cNvGrpSpPr/>
          <p:nvPr/>
        </p:nvGrpSpPr>
        <p:grpSpPr>
          <a:xfrm>
            <a:off x="6414180" y="2504699"/>
            <a:ext cx="5175529" cy="1496303"/>
            <a:chOff x="9331340" y="1855563"/>
            <a:chExt cx="5175529" cy="1496303"/>
          </a:xfrm>
        </p:grpSpPr>
        <p:sp>
          <p:nvSpPr>
            <p:cNvPr id="37" name="Ellips 36">
              <a:extLst>
                <a:ext uri="{FF2B5EF4-FFF2-40B4-BE49-F238E27FC236}">
                  <a16:creationId xmlns:a16="http://schemas.microsoft.com/office/drawing/2014/main" id="{F717B332-5384-8970-C436-CCF03BF6CD21}"/>
                </a:ext>
              </a:extLst>
            </p:cNvPr>
            <p:cNvSpPr/>
            <p:nvPr/>
          </p:nvSpPr>
          <p:spPr>
            <a:xfrm>
              <a:off x="9331340" y="1855563"/>
              <a:ext cx="2012673" cy="454970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8" name="Frihandsfigur: Form 37">
              <a:extLst>
                <a:ext uri="{FF2B5EF4-FFF2-40B4-BE49-F238E27FC236}">
                  <a16:creationId xmlns:a16="http://schemas.microsoft.com/office/drawing/2014/main" id="{11CDAD9D-8DFD-CDEB-EC0D-EDBA68C8381A}"/>
                </a:ext>
              </a:extLst>
            </p:cNvPr>
            <p:cNvSpPr/>
            <p:nvPr/>
          </p:nvSpPr>
          <p:spPr>
            <a:xfrm flipV="1">
              <a:off x="10281424" y="2321937"/>
              <a:ext cx="441588" cy="490994"/>
            </a:xfrm>
            <a:custGeom>
              <a:avLst/>
              <a:gdLst>
                <a:gd name="connsiteX0" fmla="*/ 0 w 700297"/>
                <a:gd name="connsiteY0" fmla="*/ 307774 h 307774"/>
                <a:gd name="connsiteX1" fmla="*/ 272090 w 700297"/>
                <a:gd name="connsiteY1" fmla="*/ 66907 h 307774"/>
                <a:gd name="connsiteX2" fmla="*/ 700297 w 700297"/>
                <a:gd name="connsiteY2" fmla="*/ 0 h 3077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00297" h="307774">
                  <a:moveTo>
                    <a:pt x="0" y="307774"/>
                  </a:moveTo>
                  <a:cubicBezTo>
                    <a:pt x="77687" y="212988"/>
                    <a:pt x="155374" y="118203"/>
                    <a:pt x="272090" y="66907"/>
                  </a:cubicBezTo>
                  <a:cubicBezTo>
                    <a:pt x="388806" y="15611"/>
                    <a:pt x="544551" y="7805"/>
                    <a:pt x="700297" y="0"/>
                  </a:cubicBezTo>
                </a:path>
              </a:pathLst>
            </a:custGeom>
            <a:noFill/>
            <a:ln>
              <a:solidFill>
                <a:srgbClr val="FF0000"/>
              </a:solidFill>
              <a:head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39" name="textruta 38">
              <a:extLst>
                <a:ext uri="{FF2B5EF4-FFF2-40B4-BE49-F238E27FC236}">
                  <a16:creationId xmlns:a16="http://schemas.microsoft.com/office/drawing/2014/main" id="{5B2A5DA7-685B-061E-8B1A-CB8D286AE6A9}"/>
                </a:ext>
              </a:extLst>
            </p:cNvPr>
            <p:cNvSpPr txBox="1"/>
            <p:nvPr/>
          </p:nvSpPr>
          <p:spPr>
            <a:xfrm>
              <a:off x="10723012" y="2643980"/>
              <a:ext cx="378385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000" i="1" dirty="0" err="1">
                  <a:solidFill>
                    <a:srgbClr val="FF0000"/>
                  </a:solidFill>
                </a:rPr>
                <a:t>Generate</a:t>
              </a:r>
              <a:r>
                <a:rPr lang="sv-SE" sz="2000" i="1" dirty="0">
                  <a:solidFill>
                    <a:srgbClr val="FF0000"/>
                  </a:solidFill>
                </a:rPr>
                <a:t> transitions likely to stop the system </a:t>
              </a:r>
              <a:r>
                <a:rPr lang="sv-SE" sz="2000" b="1" i="1" dirty="0">
                  <a:solidFill>
                    <a:srgbClr val="FF0000"/>
                  </a:solidFill>
                </a:rPr>
                <a:t>much</a:t>
              </a:r>
              <a:r>
                <a:rPr lang="sv-SE" sz="2000" i="1" dirty="0">
                  <a:solidFill>
                    <a:srgbClr val="FF0000"/>
                  </a:solidFill>
                </a:rPr>
                <a:t> less </a:t>
              </a:r>
              <a:r>
                <a:rPr lang="sv-SE" sz="2000" i="1" dirty="0" err="1">
                  <a:solidFill>
                    <a:srgbClr val="FF0000"/>
                  </a:solidFill>
                </a:rPr>
                <a:t>often</a:t>
              </a:r>
              <a:endParaRPr lang="sv-SE" sz="2000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48" name="Grupp 47">
            <a:extLst>
              <a:ext uri="{FF2B5EF4-FFF2-40B4-BE49-F238E27FC236}">
                <a16:creationId xmlns:a16="http://schemas.microsoft.com/office/drawing/2014/main" id="{A7D7B5B2-A9F8-A7D2-42B7-4D6748808060}"/>
              </a:ext>
            </a:extLst>
          </p:cNvPr>
          <p:cNvGrpSpPr/>
          <p:nvPr/>
        </p:nvGrpSpPr>
        <p:grpSpPr>
          <a:xfrm>
            <a:off x="6342814" y="1933850"/>
            <a:ext cx="5243551" cy="798334"/>
            <a:chOff x="6342814" y="1933850"/>
            <a:chExt cx="5243551" cy="798334"/>
          </a:xfrm>
        </p:grpSpPr>
        <p:grpSp>
          <p:nvGrpSpPr>
            <p:cNvPr id="47" name="Grupp 46">
              <a:extLst>
                <a:ext uri="{FF2B5EF4-FFF2-40B4-BE49-F238E27FC236}">
                  <a16:creationId xmlns:a16="http://schemas.microsoft.com/office/drawing/2014/main" id="{FE4F87C7-5658-2D18-051F-BB06C1911D3D}"/>
                </a:ext>
              </a:extLst>
            </p:cNvPr>
            <p:cNvGrpSpPr/>
            <p:nvPr/>
          </p:nvGrpSpPr>
          <p:grpSpPr>
            <a:xfrm>
              <a:off x="6342814" y="1933850"/>
              <a:ext cx="5243551" cy="798334"/>
              <a:chOff x="6342814" y="1933850"/>
              <a:chExt cx="5243551" cy="798334"/>
            </a:xfrm>
          </p:grpSpPr>
          <p:cxnSp>
            <p:nvCxnSpPr>
              <p:cNvPr id="41" name="Rak koppling 40">
                <a:extLst>
                  <a:ext uri="{FF2B5EF4-FFF2-40B4-BE49-F238E27FC236}">
                    <a16:creationId xmlns:a16="http://schemas.microsoft.com/office/drawing/2014/main" id="{3807D92A-55DE-0330-42A9-98EA3055E457}"/>
                  </a:ext>
                </a:extLst>
              </p:cNvPr>
              <p:cNvCxnSpPr/>
              <p:nvPr/>
            </p:nvCxnSpPr>
            <p:spPr>
              <a:xfrm>
                <a:off x="6342814" y="2732184"/>
                <a:ext cx="4143793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Rak koppling 41">
                <a:extLst>
                  <a:ext uri="{FF2B5EF4-FFF2-40B4-BE49-F238E27FC236}">
                    <a16:creationId xmlns:a16="http://schemas.microsoft.com/office/drawing/2014/main" id="{8C661946-EDAF-262C-F64B-67FAACBF18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331340" y="2416232"/>
                <a:ext cx="580608" cy="0"/>
              </a:xfrm>
              <a:prstGeom prst="line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ruta 43">
                <a:extLst>
                  <a:ext uri="{FF2B5EF4-FFF2-40B4-BE49-F238E27FC236}">
                    <a16:creationId xmlns:a16="http://schemas.microsoft.com/office/drawing/2014/main" id="{216D39CF-D51D-8363-C1C6-BF1D3084E812}"/>
                  </a:ext>
                </a:extLst>
              </p:cNvPr>
              <p:cNvSpPr txBox="1"/>
              <p:nvPr/>
            </p:nvSpPr>
            <p:spPr>
              <a:xfrm>
                <a:off x="10512853" y="1933850"/>
                <a:ext cx="107351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000" b="1" dirty="0">
                    <a:solidFill>
                      <a:srgbClr val="FF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1000</a:t>
                </a:r>
              </a:p>
            </p:txBody>
          </p:sp>
        </p:grpSp>
        <p:sp>
          <p:nvSpPr>
            <p:cNvPr id="46" name="Frihandsfigur: Form 45">
              <a:extLst>
                <a:ext uri="{FF2B5EF4-FFF2-40B4-BE49-F238E27FC236}">
                  <a16:creationId xmlns:a16="http://schemas.microsoft.com/office/drawing/2014/main" id="{2AF9ED6E-D0B1-A74F-B279-8F0EA5060E7A}"/>
                </a:ext>
              </a:extLst>
            </p:cNvPr>
            <p:cNvSpPr/>
            <p:nvPr/>
          </p:nvSpPr>
          <p:spPr>
            <a:xfrm rot="20774219">
              <a:off x="9853771" y="2207229"/>
              <a:ext cx="706527" cy="46759"/>
            </a:xfrm>
            <a:custGeom>
              <a:avLst/>
              <a:gdLst>
                <a:gd name="connsiteX0" fmla="*/ 526337 w 526337"/>
                <a:gd name="connsiteY0" fmla="*/ 4460 h 17842"/>
                <a:gd name="connsiteX1" fmla="*/ 93670 w 526337"/>
                <a:gd name="connsiteY1" fmla="*/ 0 h 17842"/>
                <a:gd name="connsiteX2" fmla="*/ 0 w 526337"/>
                <a:gd name="connsiteY2" fmla="*/ 17842 h 17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6337" h="17842">
                  <a:moveTo>
                    <a:pt x="526337" y="4460"/>
                  </a:moveTo>
                  <a:lnTo>
                    <a:pt x="93670" y="0"/>
                  </a:lnTo>
                  <a:cubicBezTo>
                    <a:pt x="5947" y="2230"/>
                    <a:pt x="2973" y="10036"/>
                    <a:pt x="0" y="17842"/>
                  </a:cubicBezTo>
                </a:path>
              </a:pathLst>
            </a:custGeom>
            <a:noFill/>
            <a:ln w="1905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52" name="textruta 51">
            <a:extLst>
              <a:ext uri="{FF2B5EF4-FFF2-40B4-BE49-F238E27FC236}">
                <a16:creationId xmlns:a16="http://schemas.microsoft.com/office/drawing/2014/main" id="{F76B4FE7-E0C0-B43C-6DF7-2839C6862481}"/>
              </a:ext>
            </a:extLst>
          </p:cNvPr>
          <p:cNvSpPr txBox="1"/>
          <p:nvPr/>
        </p:nvSpPr>
        <p:spPr>
          <a:xfrm>
            <a:off x="6414180" y="3391276"/>
            <a:ext cx="611293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EStop_Right</a:t>
            </a:r>
            <a:r>
              <a:rPr lang="en-US" sz="2000" b="1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press, wait 300 </a:t>
            </a:r>
            <a:r>
              <a:rPr lang="en-US" sz="2000" b="1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en-US" sz="2000" b="1" i="0" u="none" strike="noStrike" baseline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sv-SE" sz="2000" b="1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Door_Back</a:t>
            </a:r>
            <a:r>
              <a:rPr lang="sv-SE" sz="2000" b="1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open, wait 100 </a:t>
            </a:r>
            <a:r>
              <a:rPr lang="sv-SE" sz="2000" b="1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sv-SE" sz="2000" b="1" i="0" u="none" strike="noStrike" baseline="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EStop_Right</a:t>
            </a:r>
            <a:r>
              <a:rPr lang="en-US" sz="2000" b="1" i="0" u="none" strike="noStrike" baseline="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release, wait 100 </a:t>
            </a:r>
            <a:r>
              <a:rPr lang="en-US" sz="2000" b="1" i="0" u="none" strike="noStrike" baseline="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ms</a:t>
            </a:r>
            <a:endParaRPr lang="sv-SE" sz="20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4" name="Bildobjekt 53">
            <a:extLst>
              <a:ext uri="{FF2B5EF4-FFF2-40B4-BE49-F238E27FC236}">
                <a16:creationId xmlns:a16="http://schemas.microsoft.com/office/drawing/2014/main" id="{EB82DBDF-D520-42AA-6134-EF421374BF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658" t="71734" r="58436" b="7839"/>
          <a:stretch/>
        </p:blipFill>
        <p:spPr>
          <a:xfrm>
            <a:off x="7244485" y="4320339"/>
            <a:ext cx="3903636" cy="2537662"/>
          </a:xfrm>
          <a:prstGeom prst="rect">
            <a:avLst/>
          </a:prstGeom>
        </p:spPr>
      </p:pic>
      <p:sp>
        <p:nvSpPr>
          <p:cNvPr id="4" name="textruta 3">
            <a:extLst>
              <a:ext uri="{FF2B5EF4-FFF2-40B4-BE49-F238E27FC236}">
                <a16:creationId xmlns:a16="http://schemas.microsoft.com/office/drawing/2014/main" id="{572F1E4A-6E87-025C-EE36-5D38B78AB171}"/>
              </a:ext>
            </a:extLst>
          </p:cNvPr>
          <p:cNvSpPr txBox="1"/>
          <p:nvPr/>
        </p:nvSpPr>
        <p:spPr>
          <a:xfrm>
            <a:off x="7417377" y="208096"/>
            <a:ext cx="1107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24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SyTeC</a:t>
            </a:r>
            <a:endParaRPr lang="sv-SE" sz="2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72625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1" grpId="0"/>
      <p:bldP spid="5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4876" y="342901"/>
            <a:ext cx="6242248" cy="15780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6600" y="2385468"/>
            <a:ext cx="5785048" cy="4091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" name="Bildobjekt 7" descr="En bild som visar Teckensnitt, logotyp, design&#10;&#10;Automatiskt genererad beskrivning">
            <a:extLst>
              <a:ext uri="{FF2B5EF4-FFF2-40B4-BE49-F238E27FC236}">
                <a16:creationId xmlns:a16="http://schemas.microsoft.com/office/drawing/2014/main" id="{36E9D264-87B7-F0DF-6455-562F2703F8E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739" y="271393"/>
            <a:ext cx="1228794" cy="45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03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7B7EFC56-EEC9-CD83-FFB5-645B6D24C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How do </a:t>
            </a:r>
            <a:r>
              <a:rPr lang="sv-SE" dirty="0" err="1"/>
              <a:t>we</a:t>
            </a:r>
            <a:r>
              <a:rPr lang="sv-SE" dirty="0"/>
              <a:t> model this?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99D9E58-D496-56CF-5D8D-52E5CE73ED6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484" t="26559" r="32099" b="783"/>
          <a:stretch/>
        </p:blipFill>
        <p:spPr bwMode="auto">
          <a:xfrm>
            <a:off x="936487" y="1849076"/>
            <a:ext cx="1382644" cy="4327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upp 9">
            <a:extLst>
              <a:ext uri="{FF2B5EF4-FFF2-40B4-BE49-F238E27FC236}">
                <a16:creationId xmlns:a16="http://schemas.microsoft.com/office/drawing/2014/main" id="{536E6B81-4A9B-8316-6D85-2AF1C72F31B8}"/>
              </a:ext>
            </a:extLst>
          </p:cNvPr>
          <p:cNvGrpSpPr/>
          <p:nvPr/>
        </p:nvGrpSpPr>
        <p:grpSpPr>
          <a:xfrm>
            <a:off x="1305065" y="2609581"/>
            <a:ext cx="668790" cy="2283445"/>
            <a:chOff x="1305065" y="2609581"/>
            <a:chExt cx="668790" cy="2283445"/>
          </a:xfrm>
        </p:grpSpPr>
        <p:sp>
          <p:nvSpPr>
            <p:cNvPr id="5" name="Pil: upp-ned 4">
              <a:extLst>
                <a:ext uri="{FF2B5EF4-FFF2-40B4-BE49-F238E27FC236}">
                  <a16:creationId xmlns:a16="http://schemas.microsoft.com/office/drawing/2014/main" id="{B362C2EF-86F2-1F9F-9F10-3BFD3EAF69BB}"/>
                </a:ext>
              </a:extLst>
            </p:cNvPr>
            <p:cNvSpPr/>
            <p:nvPr/>
          </p:nvSpPr>
          <p:spPr>
            <a:xfrm>
              <a:off x="1305339" y="3149384"/>
              <a:ext cx="644939" cy="279616"/>
            </a:xfrm>
            <a:prstGeom prst="upDownArrow">
              <a:avLst>
                <a:gd name="adj1" fmla="val 53938"/>
                <a:gd name="adj2" fmla="val 99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Pil: upp-ned 5">
              <a:extLst>
                <a:ext uri="{FF2B5EF4-FFF2-40B4-BE49-F238E27FC236}">
                  <a16:creationId xmlns:a16="http://schemas.microsoft.com/office/drawing/2014/main" id="{9A9725B9-2F88-BA2A-89BB-E4462B8CAF09}"/>
                </a:ext>
              </a:extLst>
            </p:cNvPr>
            <p:cNvSpPr/>
            <p:nvPr/>
          </p:nvSpPr>
          <p:spPr>
            <a:xfrm>
              <a:off x="1305338" y="3649702"/>
              <a:ext cx="644939" cy="279616"/>
            </a:xfrm>
            <a:prstGeom prst="upDownArrow">
              <a:avLst>
                <a:gd name="adj1" fmla="val 53938"/>
                <a:gd name="adj2" fmla="val 99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7" name="Pil: upp-ned 6">
              <a:extLst>
                <a:ext uri="{FF2B5EF4-FFF2-40B4-BE49-F238E27FC236}">
                  <a16:creationId xmlns:a16="http://schemas.microsoft.com/office/drawing/2014/main" id="{B4AE31A3-8D6D-075A-7742-4306D47DD2EE}"/>
                </a:ext>
              </a:extLst>
            </p:cNvPr>
            <p:cNvSpPr/>
            <p:nvPr/>
          </p:nvSpPr>
          <p:spPr>
            <a:xfrm>
              <a:off x="1305337" y="4133398"/>
              <a:ext cx="644939" cy="279616"/>
            </a:xfrm>
            <a:prstGeom prst="upDownArrow">
              <a:avLst>
                <a:gd name="adj1" fmla="val 53938"/>
                <a:gd name="adj2" fmla="val 99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8" name="Pil: upp-ned 7">
              <a:extLst>
                <a:ext uri="{FF2B5EF4-FFF2-40B4-BE49-F238E27FC236}">
                  <a16:creationId xmlns:a16="http://schemas.microsoft.com/office/drawing/2014/main" id="{B92DC2AC-7DAB-ECB0-8882-8D9725DD8F1B}"/>
                </a:ext>
              </a:extLst>
            </p:cNvPr>
            <p:cNvSpPr/>
            <p:nvPr/>
          </p:nvSpPr>
          <p:spPr>
            <a:xfrm>
              <a:off x="1305065" y="2609581"/>
              <a:ext cx="644939" cy="279616"/>
            </a:xfrm>
            <a:prstGeom prst="upDownArrow">
              <a:avLst>
                <a:gd name="adj1" fmla="val 53938"/>
                <a:gd name="adj2" fmla="val 99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9" name="Pil: upp-ned 8">
              <a:extLst>
                <a:ext uri="{FF2B5EF4-FFF2-40B4-BE49-F238E27FC236}">
                  <a16:creationId xmlns:a16="http://schemas.microsoft.com/office/drawing/2014/main" id="{7638257D-A285-A425-C90F-A5C727B325AE}"/>
                </a:ext>
              </a:extLst>
            </p:cNvPr>
            <p:cNvSpPr/>
            <p:nvPr/>
          </p:nvSpPr>
          <p:spPr>
            <a:xfrm>
              <a:off x="1328916" y="4613410"/>
              <a:ext cx="644939" cy="279616"/>
            </a:xfrm>
            <a:prstGeom prst="upDownArrow">
              <a:avLst>
                <a:gd name="adj1" fmla="val 53938"/>
                <a:gd name="adj2" fmla="val 9960"/>
              </a:avLst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4" name="Grupp 13">
            <a:extLst>
              <a:ext uri="{FF2B5EF4-FFF2-40B4-BE49-F238E27FC236}">
                <a16:creationId xmlns:a16="http://schemas.microsoft.com/office/drawing/2014/main" id="{B06FE3CB-80B2-7EEA-9043-5B0E700F5D54}"/>
              </a:ext>
            </a:extLst>
          </p:cNvPr>
          <p:cNvGrpSpPr/>
          <p:nvPr/>
        </p:nvGrpSpPr>
        <p:grpSpPr>
          <a:xfrm>
            <a:off x="1677143" y="1980457"/>
            <a:ext cx="3082031" cy="588784"/>
            <a:chOff x="1677143" y="1980457"/>
            <a:chExt cx="3082031" cy="588784"/>
          </a:xfrm>
        </p:grpSpPr>
        <p:sp>
          <p:nvSpPr>
            <p:cNvPr id="11" name="textruta 10">
              <a:extLst>
                <a:ext uri="{FF2B5EF4-FFF2-40B4-BE49-F238E27FC236}">
                  <a16:creationId xmlns:a16="http://schemas.microsoft.com/office/drawing/2014/main" id="{D0B2C228-DA0E-95DA-8566-CFE517DCC28A}"/>
                </a:ext>
              </a:extLst>
            </p:cNvPr>
            <p:cNvSpPr txBox="1"/>
            <p:nvPr/>
          </p:nvSpPr>
          <p:spPr>
            <a:xfrm>
              <a:off x="2417418" y="1980457"/>
              <a:ext cx="234175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i="1" dirty="0">
                  <a:solidFill>
                    <a:srgbClr val="FF0000"/>
                  </a:solidFill>
                </a:rPr>
                <a:t>Top-</a:t>
              </a:r>
              <a:r>
                <a:rPr lang="sv-SE" sz="2400" i="1" dirty="0" err="1">
                  <a:solidFill>
                    <a:srgbClr val="FF0000"/>
                  </a:solidFill>
                </a:rPr>
                <a:t>level</a:t>
              </a:r>
              <a:r>
                <a:rPr lang="sv-SE" sz="2400" i="1" dirty="0">
                  <a:solidFill>
                    <a:srgbClr val="FF0000"/>
                  </a:solidFill>
                </a:rPr>
                <a:t> API</a:t>
              </a:r>
            </a:p>
          </p:txBody>
        </p:sp>
        <p:sp>
          <p:nvSpPr>
            <p:cNvPr id="13" name="Frihandsfigur: Form 12">
              <a:extLst>
                <a:ext uri="{FF2B5EF4-FFF2-40B4-BE49-F238E27FC236}">
                  <a16:creationId xmlns:a16="http://schemas.microsoft.com/office/drawing/2014/main" id="{9674526B-DEBA-3BA9-0039-EF9E4C4A6666}"/>
                </a:ext>
              </a:extLst>
            </p:cNvPr>
            <p:cNvSpPr/>
            <p:nvPr/>
          </p:nvSpPr>
          <p:spPr>
            <a:xfrm>
              <a:off x="1677143" y="2216862"/>
              <a:ext cx="780586" cy="352379"/>
            </a:xfrm>
            <a:custGeom>
              <a:avLst/>
              <a:gdLst>
                <a:gd name="connsiteX0" fmla="*/ 780586 w 780586"/>
                <a:gd name="connsiteY0" fmla="*/ 0 h 352379"/>
                <a:gd name="connsiteX1" fmla="*/ 330077 w 780586"/>
                <a:gd name="connsiteY1" fmla="*/ 84750 h 352379"/>
                <a:gd name="connsiteX2" fmla="*/ 0 w 780586"/>
                <a:gd name="connsiteY2" fmla="*/ 352379 h 35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0586" h="352379">
                  <a:moveTo>
                    <a:pt x="780586" y="0"/>
                  </a:moveTo>
                  <a:cubicBezTo>
                    <a:pt x="620380" y="13010"/>
                    <a:pt x="460175" y="26020"/>
                    <a:pt x="330077" y="84750"/>
                  </a:cubicBezTo>
                  <a:cubicBezTo>
                    <a:pt x="199979" y="143480"/>
                    <a:pt x="99989" y="247929"/>
                    <a:pt x="0" y="35237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15" name="Grupp 14">
            <a:extLst>
              <a:ext uri="{FF2B5EF4-FFF2-40B4-BE49-F238E27FC236}">
                <a16:creationId xmlns:a16="http://schemas.microsoft.com/office/drawing/2014/main" id="{0A602469-4057-1419-5D1E-9B97CDBC5BEA}"/>
              </a:ext>
            </a:extLst>
          </p:cNvPr>
          <p:cNvGrpSpPr/>
          <p:nvPr/>
        </p:nvGrpSpPr>
        <p:grpSpPr>
          <a:xfrm>
            <a:off x="1740333" y="4933366"/>
            <a:ext cx="3082031" cy="991053"/>
            <a:chOff x="1677143" y="1820401"/>
            <a:chExt cx="3082031" cy="991053"/>
          </a:xfrm>
        </p:grpSpPr>
        <p:sp>
          <p:nvSpPr>
            <p:cNvPr id="16" name="textruta 15">
              <a:extLst>
                <a:ext uri="{FF2B5EF4-FFF2-40B4-BE49-F238E27FC236}">
                  <a16:creationId xmlns:a16="http://schemas.microsoft.com/office/drawing/2014/main" id="{0465845F-E509-07C8-58C2-60B3F7DB5428}"/>
                </a:ext>
              </a:extLst>
            </p:cNvPr>
            <p:cNvSpPr txBox="1"/>
            <p:nvPr/>
          </p:nvSpPr>
          <p:spPr>
            <a:xfrm>
              <a:off x="2417418" y="1980457"/>
              <a:ext cx="23417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i="1" dirty="0">
                  <a:solidFill>
                    <a:srgbClr val="FF0000"/>
                  </a:solidFill>
                </a:rPr>
                <a:t>Talks to the hardware driver</a:t>
              </a:r>
            </a:p>
          </p:txBody>
        </p:sp>
        <p:sp>
          <p:nvSpPr>
            <p:cNvPr id="17" name="Frihandsfigur: Form 16">
              <a:extLst>
                <a:ext uri="{FF2B5EF4-FFF2-40B4-BE49-F238E27FC236}">
                  <a16:creationId xmlns:a16="http://schemas.microsoft.com/office/drawing/2014/main" id="{37932F1D-793A-CC61-AAFA-54B76FFB57CA}"/>
                </a:ext>
              </a:extLst>
            </p:cNvPr>
            <p:cNvSpPr/>
            <p:nvPr/>
          </p:nvSpPr>
          <p:spPr>
            <a:xfrm flipV="1">
              <a:off x="1677143" y="1820401"/>
              <a:ext cx="780586" cy="396461"/>
            </a:xfrm>
            <a:custGeom>
              <a:avLst/>
              <a:gdLst>
                <a:gd name="connsiteX0" fmla="*/ 780586 w 780586"/>
                <a:gd name="connsiteY0" fmla="*/ 0 h 352379"/>
                <a:gd name="connsiteX1" fmla="*/ 330077 w 780586"/>
                <a:gd name="connsiteY1" fmla="*/ 84750 h 352379"/>
                <a:gd name="connsiteX2" fmla="*/ 0 w 780586"/>
                <a:gd name="connsiteY2" fmla="*/ 352379 h 35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0586" h="352379">
                  <a:moveTo>
                    <a:pt x="780586" y="0"/>
                  </a:moveTo>
                  <a:cubicBezTo>
                    <a:pt x="620380" y="13010"/>
                    <a:pt x="460175" y="26020"/>
                    <a:pt x="330077" y="84750"/>
                  </a:cubicBezTo>
                  <a:cubicBezTo>
                    <a:pt x="199979" y="143480"/>
                    <a:pt x="99989" y="247929"/>
                    <a:pt x="0" y="35237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18" name="Rektangel 17">
            <a:extLst>
              <a:ext uri="{FF2B5EF4-FFF2-40B4-BE49-F238E27FC236}">
                <a16:creationId xmlns:a16="http://schemas.microsoft.com/office/drawing/2014/main" id="{7A504D39-3FCC-D02C-A8CF-BE2DD0B26291}"/>
              </a:ext>
            </a:extLst>
          </p:cNvPr>
          <p:cNvSpPr/>
          <p:nvPr/>
        </p:nvSpPr>
        <p:spPr>
          <a:xfrm>
            <a:off x="5331459" y="2072717"/>
            <a:ext cx="2011680" cy="901018"/>
          </a:xfrm>
          <a:prstGeom prst="rect">
            <a:avLst/>
          </a:prstGeom>
          <a:solidFill>
            <a:srgbClr val="99CC00"/>
          </a:solidFill>
          <a:ln>
            <a:noFill/>
          </a:ln>
          <a:effectLst>
            <a:outerShdw blurRad="50800" dist="38100" dir="2700000" sx="103000" sy="103000" algn="tl" rotWithShape="0">
              <a:srgbClr val="85AA14"/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2400" dirty="0" err="1">
                <a:solidFill>
                  <a:schemeClr val="tx1"/>
                </a:solidFill>
              </a:rPr>
              <a:t>CanNm</a:t>
            </a:r>
            <a:endParaRPr lang="sv-SE" sz="2400" dirty="0">
              <a:solidFill>
                <a:schemeClr val="tx1"/>
              </a:solidFill>
            </a:endParaRPr>
          </a:p>
        </p:txBody>
      </p:sp>
      <p:grpSp>
        <p:nvGrpSpPr>
          <p:cNvPr id="19" name="Grupp 18">
            <a:extLst>
              <a:ext uri="{FF2B5EF4-FFF2-40B4-BE49-F238E27FC236}">
                <a16:creationId xmlns:a16="http://schemas.microsoft.com/office/drawing/2014/main" id="{78705776-45CC-77D4-1942-5DCECFB91C14}"/>
              </a:ext>
            </a:extLst>
          </p:cNvPr>
          <p:cNvGrpSpPr/>
          <p:nvPr/>
        </p:nvGrpSpPr>
        <p:grpSpPr>
          <a:xfrm>
            <a:off x="6451041" y="992845"/>
            <a:ext cx="3920768" cy="1079872"/>
            <a:chOff x="1382750" y="1980457"/>
            <a:chExt cx="3920768" cy="1079872"/>
          </a:xfrm>
        </p:grpSpPr>
        <p:sp>
          <p:nvSpPr>
            <p:cNvPr id="20" name="textruta 19">
              <a:extLst>
                <a:ext uri="{FF2B5EF4-FFF2-40B4-BE49-F238E27FC236}">
                  <a16:creationId xmlns:a16="http://schemas.microsoft.com/office/drawing/2014/main" id="{5340BE74-FD50-8C1B-38FF-E68FE179C0FC}"/>
                </a:ext>
              </a:extLst>
            </p:cNvPr>
            <p:cNvSpPr txBox="1"/>
            <p:nvPr/>
          </p:nvSpPr>
          <p:spPr>
            <a:xfrm>
              <a:off x="2417417" y="1980457"/>
              <a:ext cx="288610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i="1" dirty="0">
                  <a:solidFill>
                    <a:srgbClr val="FF0000"/>
                  </a:solidFill>
                </a:rPr>
                <a:t>Make top-</a:t>
              </a:r>
              <a:r>
                <a:rPr lang="sv-SE" sz="2400" i="1" dirty="0" err="1">
                  <a:solidFill>
                    <a:srgbClr val="FF0000"/>
                  </a:solidFill>
                </a:rPr>
                <a:t>level</a:t>
              </a:r>
              <a:r>
                <a:rPr lang="sv-SE" sz="2400" i="1" dirty="0">
                  <a:solidFill>
                    <a:srgbClr val="FF0000"/>
                  </a:solidFill>
                </a:rPr>
                <a:t> calls</a:t>
              </a:r>
            </a:p>
          </p:txBody>
        </p:sp>
        <p:sp>
          <p:nvSpPr>
            <p:cNvPr id="21" name="Frihandsfigur: Form 20">
              <a:extLst>
                <a:ext uri="{FF2B5EF4-FFF2-40B4-BE49-F238E27FC236}">
                  <a16:creationId xmlns:a16="http://schemas.microsoft.com/office/drawing/2014/main" id="{565D151B-5B00-3074-2458-7F6B319BBBA7}"/>
                </a:ext>
              </a:extLst>
            </p:cNvPr>
            <p:cNvSpPr/>
            <p:nvPr/>
          </p:nvSpPr>
          <p:spPr>
            <a:xfrm>
              <a:off x="1382750" y="2216862"/>
              <a:ext cx="1074979" cy="843467"/>
            </a:xfrm>
            <a:custGeom>
              <a:avLst/>
              <a:gdLst>
                <a:gd name="connsiteX0" fmla="*/ 780586 w 780586"/>
                <a:gd name="connsiteY0" fmla="*/ 0 h 352379"/>
                <a:gd name="connsiteX1" fmla="*/ 330077 w 780586"/>
                <a:gd name="connsiteY1" fmla="*/ 84750 h 352379"/>
                <a:gd name="connsiteX2" fmla="*/ 0 w 780586"/>
                <a:gd name="connsiteY2" fmla="*/ 352379 h 35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0586" h="352379">
                  <a:moveTo>
                    <a:pt x="780586" y="0"/>
                  </a:moveTo>
                  <a:cubicBezTo>
                    <a:pt x="620380" y="13010"/>
                    <a:pt x="460175" y="26020"/>
                    <a:pt x="330077" y="84750"/>
                  </a:cubicBezTo>
                  <a:cubicBezTo>
                    <a:pt x="199979" y="143480"/>
                    <a:pt x="99989" y="247929"/>
                    <a:pt x="0" y="35237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grpSp>
        <p:nvGrpSpPr>
          <p:cNvPr id="22" name="Grupp 21">
            <a:extLst>
              <a:ext uri="{FF2B5EF4-FFF2-40B4-BE49-F238E27FC236}">
                <a16:creationId xmlns:a16="http://schemas.microsoft.com/office/drawing/2014/main" id="{5ACDC09F-D7EE-4326-CF4F-59AA251A19EC}"/>
              </a:ext>
            </a:extLst>
          </p:cNvPr>
          <p:cNvGrpSpPr/>
          <p:nvPr/>
        </p:nvGrpSpPr>
        <p:grpSpPr>
          <a:xfrm>
            <a:off x="6488210" y="3078598"/>
            <a:ext cx="3122342" cy="1466333"/>
            <a:chOff x="1677143" y="1820400"/>
            <a:chExt cx="3122342" cy="1466333"/>
          </a:xfrm>
        </p:grpSpPr>
        <p:sp>
          <p:nvSpPr>
            <p:cNvPr id="23" name="textruta 22">
              <a:extLst>
                <a:ext uri="{FF2B5EF4-FFF2-40B4-BE49-F238E27FC236}">
                  <a16:creationId xmlns:a16="http://schemas.microsoft.com/office/drawing/2014/main" id="{A99FAA20-F2BF-4FF3-E412-CF5748ED90AC}"/>
                </a:ext>
              </a:extLst>
            </p:cNvPr>
            <p:cNvSpPr txBox="1"/>
            <p:nvPr/>
          </p:nvSpPr>
          <p:spPr>
            <a:xfrm>
              <a:off x="2457729" y="2455736"/>
              <a:ext cx="234175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i="1" dirty="0" err="1">
                  <a:solidFill>
                    <a:srgbClr val="FF0000"/>
                  </a:solidFill>
                </a:rPr>
                <a:t>Mock</a:t>
              </a:r>
              <a:r>
                <a:rPr lang="sv-SE" sz="2400" i="1" dirty="0">
                  <a:solidFill>
                    <a:srgbClr val="FF0000"/>
                  </a:solidFill>
                </a:rPr>
                <a:t> the </a:t>
              </a:r>
              <a:r>
                <a:rPr lang="sv-SE" sz="2400" i="1" dirty="0" err="1">
                  <a:solidFill>
                    <a:srgbClr val="FF0000"/>
                  </a:solidFill>
                </a:rPr>
                <a:t>lower</a:t>
              </a:r>
              <a:r>
                <a:rPr lang="sv-SE" sz="2400" i="1" dirty="0">
                  <a:solidFill>
                    <a:srgbClr val="FF0000"/>
                  </a:solidFill>
                </a:rPr>
                <a:t> </a:t>
              </a:r>
              <a:r>
                <a:rPr lang="sv-SE" sz="2400" i="1" dirty="0" err="1">
                  <a:solidFill>
                    <a:srgbClr val="FF0000"/>
                  </a:solidFill>
                </a:rPr>
                <a:t>level</a:t>
              </a:r>
              <a:r>
                <a:rPr lang="sv-SE" sz="2400" i="1" dirty="0">
                  <a:solidFill>
                    <a:srgbClr val="FF0000"/>
                  </a:solidFill>
                </a:rPr>
                <a:t> calls</a:t>
              </a:r>
            </a:p>
          </p:txBody>
        </p:sp>
        <p:sp>
          <p:nvSpPr>
            <p:cNvPr id="24" name="Frihandsfigur: Form 23">
              <a:extLst>
                <a:ext uri="{FF2B5EF4-FFF2-40B4-BE49-F238E27FC236}">
                  <a16:creationId xmlns:a16="http://schemas.microsoft.com/office/drawing/2014/main" id="{C49ED5AC-787F-7954-E64E-B660E29DE377}"/>
                </a:ext>
              </a:extLst>
            </p:cNvPr>
            <p:cNvSpPr/>
            <p:nvPr/>
          </p:nvSpPr>
          <p:spPr>
            <a:xfrm flipV="1">
              <a:off x="1677143" y="1820400"/>
              <a:ext cx="780586" cy="901016"/>
            </a:xfrm>
            <a:custGeom>
              <a:avLst/>
              <a:gdLst>
                <a:gd name="connsiteX0" fmla="*/ 780586 w 780586"/>
                <a:gd name="connsiteY0" fmla="*/ 0 h 352379"/>
                <a:gd name="connsiteX1" fmla="*/ 330077 w 780586"/>
                <a:gd name="connsiteY1" fmla="*/ 84750 h 352379"/>
                <a:gd name="connsiteX2" fmla="*/ 0 w 780586"/>
                <a:gd name="connsiteY2" fmla="*/ 352379 h 3523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80586" h="352379">
                  <a:moveTo>
                    <a:pt x="780586" y="0"/>
                  </a:moveTo>
                  <a:cubicBezTo>
                    <a:pt x="620380" y="13010"/>
                    <a:pt x="460175" y="26020"/>
                    <a:pt x="330077" y="84750"/>
                  </a:cubicBezTo>
                  <a:cubicBezTo>
                    <a:pt x="199979" y="143480"/>
                    <a:pt x="99989" y="247929"/>
                    <a:pt x="0" y="352379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tail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</p:grpSp>
      <p:sp>
        <p:nvSpPr>
          <p:cNvPr id="25" name="textruta 24">
            <a:extLst>
              <a:ext uri="{FF2B5EF4-FFF2-40B4-BE49-F238E27FC236}">
                <a16:creationId xmlns:a16="http://schemas.microsoft.com/office/drawing/2014/main" id="{F6487610-C46B-9445-C43D-77E12DB3115B}"/>
              </a:ext>
            </a:extLst>
          </p:cNvPr>
          <p:cNvSpPr txBox="1"/>
          <p:nvPr/>
        </p:nvSpPr>
        <p:spPr>
          <a:xfrm>
            <a:off x="9475252" y="3078598"/>
            <a:ext cx="210981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Check the </a:t>
            </a:r>
            <a:r>
              <a:rPr lang="sv-SE" sz="2000" dirty="0" err="1"/>
              <a:t>expected</a:t>
            </a:r>
            <a:r>
              <a:rPr lang="sv-SE" sz="2000" dirty="0"/>
              <a:t> calls </a:t>
            </a:r>
            <a:r>
              <a:rPr lang="sv-SE" sz="2000" dirty="0" err="1"/>
              <a:t>are</a:t>
            </a:r>
            <a:r>
              <a:rPr lang="sv-SE" sz="2000" dirty="0"/>
              <a:t> made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sv-SE" sz="2000" dirty="0"/>
              <a:t>Provide return </a:t>
            </a:r>
            <a:r>
              <a:rPr lang="sv-SE" sz="2000" dirty="0" err="1"/>
              <a:t>values</a:t>
            </a:r>
            <a:r>
              <a:rPr lang="sv-SE" sz="2000" dirty="0"/>
              <a:t>—</a:t>
            </a:r>
            <a:r>
              <a:rPr lang="sv-SE" sz="2000" i="1" dirty="0"/>
              <a:t>inputs</a:t>
            </a:r>
            <a:r>
              <a:rPr lang="sv-SE" sz="2000" dirty="0"/>
              <a:t> to the </a:t>
            </a:r>
            <a:r>
              <a:rPr lang="sv-SE" sz="2000" dirty="0" err="1"/>
              <a:t>component</a:t>
            </a:r>
            <a:endParaRPr lang="sv-SE" sz="2000" dirty="0"/>
          </a:p>
        </p:txBody>
      </p:sp>
      <p:sp>
        <p:nvSpPr>
          <p:cNvPr id="26" name="textruta 25">
            <a:extLst>
              <a:ext uri="{FF2B5EF4-FFF2-40B4-BE49-F238E27FC236}">
                <a16:creationId xmlns:a16="http://schemas.microsoft.com/office/drawing/2014/main" id="{77CF0982-343E-2BBE-89DD-D5811216EDEE}"/>
              </a:ext>
            </a:extLst>
          </p:cNvPr>
          <p:cNvSpPr txBox="1"/>
          <p:nvPr/>
        </p:nvSpPr>
        <p:spPr>
          <a:xfrm>
            <a:off x="5535465" y="5508920"/>
            <a:ext cx="56380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b="1" dirty="0"/>
              <a:t>What is a test </a:t>
            </a:r>
            <a:r>
              <a:rPr lang="sv-SE" sz="2400" b="1" dirty="0" err="1"/>
              <a:t>case</a:t>
            </a:r>
            <a:r>
              <a:rPr lang="sv-SE" sz="2400" b="1" dirty="0"/>
              <a:t> step?</a:t>
            </a:r>
          </a:p>
          <a:p>
            <a:r>
              <a:rPr lang="sv-SE" sz="2400" dirty="0"/>
              <a:t>An API call, </a:t>
            </a:r>
            <a:r>
              <a:rPr lang="sv-SE" sz="2400" dirty="0" err="1"/>
              <a:t>along</a:t>
            </a:r>
            <a:r>
              <a:rPr lang="sv-SE" sz="2400" dirty="0"/>
              <a:t> with </a:t>
            </a:r>
            <a:r>
              <a:rPr lang="sv-SE" sz="2400" i="1" dirty="0" err="1"/>
              <a:t>expected</a:t>
            </a:r>
            <a:r>
              <a:rPr lang="sv-SE" sz="2400" dirty="0"/>
              <a:t> calls out</a:t>
            </a:r>
          </a:p>
        </p:txBody>
      </p:sp>
    </p:spTree>
    <p:extLst>
      <p:ext uri="{BB962C8B-B14F-4D97-AF65-F5344CB8AC3E}">
        <p14:creationId xmlns:p14="http://schemas.microsoft.com/office/powerpoint/2010/main" val="1446487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5" grpId="0"/>
      <p:bldP spid="2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3F162EBB-2CF3-E9E4-FB51-76B2BA7C4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How do </a:t>
            </a:r>
            <a:r>
              <a:rPr lang="sv-SE" dirty="0" err="1"/>
              <a:t>we</a:t>
            </a:r>
            <a:r>
              <a:rPr lang="sv-SE" dirty="0"/>
              <a:t> test using the </a:t>
            </a:r>
            <a:r>
              <a:rPr lang="sv-SE" dirty="0" err="1"/>
              <a:t>models</a:t>
            </a:r>
            <a:r>
              <a:rPr lang="sv-SE" dirty="0"/>
              <a:t>?</a:t>
            </a:r>
          </a:p>
        </p:txBody>
      </p:sp>
      <p:grpSp>
        <p:nvGrpSpPr>
          <p:cNvPr id="11" name="Grupp 10">
            <a:extLst>
              <a:ext uri="{FF2B5EF4-FFF2-40B4-BE49-F238E27FC236}">
                <a16:creationId xmlns:a16="http://schemas.microsoft.com/office/drawing/2014/main" id="{53FCC4B5-6BB2-8535-8A68-756609759E0A}"/>
              </a:ext>
            </a:extLst>
          </p:cNvPr>
          <p:cNvGrpSpPr/>
          <p:nvPr/>
        </p:nvGrpSpPr>
        <p:grpSpPr>
          <a:xfrm>
            <a:off x="936487" y="1849076"/>
            <a:ext cx="1382644" cy="4327887"/>
            <a:chOff x="936487" y="1849076"/>
            <a:chExt cx="1382644" cy="4327887"/>
          </a:xfrm>
        </p:grpSpPr>
        <p:pic>
          <p:nvPicPr>
            <p:cNvPr id="4" name="Picture 2">
              <a:extLst>
                <a:ext uri="{FF2B5EF4-FFF2-40B4-BE49-F238E27FC236}">
                  <a16:creationId xmlns:a16="http://schemas.microsoft.com/office/drawing/2014/main" id="{5642E475-D4DC-57AF-B9C7-95A2721D2E8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484" t="26559" r="32099" b="783"/>
            <a:stretch/>
          </p:blipFill>
          <p:spPr bwMode="auto">
            <a:xfrm>
              <a:off x="936487" y="1849076"/>
              <a:ext cx="1382644" cy="43278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5" name="Grupp 4">
              <a:extLst>
                <a:ext uri="{FF2B5EF4-FFF2-40B4-BE49-F238E27FC236}">
                  <a16:creationId xmlns:a16="http://schemas.microsoft.com/office/drawing/2014/main" id="{2EEDE14A-4A72-615E-AFFE-1635FC92741B}"/>
                </a:ext>
              </a:extLst>
            </p:cNvPr>
            <p:cNvGrpSpPr/>
            <p:nvPr/>
          </p:nvGrpSpPr>
          <p:grpSpPr>
            <a:xfrm>
              <a:off x="1305065" y="2609581"/>
              <a:ext cx="668790" cy="2283445"/>
              <a:chOff x="1305065" y="2609581"/>
              <a:chExt cx="668790" cy="2283445"/>
            </a:xfrm>
          </p:grpSpPr>
          <p:sp>
            <p:nvSpPr>
              <p:cNvPr id="6" name="Pil: upp-ned 5">
                <a:extLst>
                  <a:ext uri="{FF2B5EF4-FFF2-40B4-BE49-F238E27FC236}">
                    <a16:creationId xmlns:a16="http://schemas.microsoft.com/office/drawing/2014/main" id="{4FBCAA13-7D66-21C1-80D6-FCF593541924}"/>
                  </a:ext>
                </a:extLst>
              </p:cNvPr>
              <p:cNvSpPr/>
              <p:nvPr/>
            </p:nvSpPr>
            <p:spPr>
              <a:xfrm>
                <a:off x="1305339" y="3149384"/>
                <a:ext cx="644939" cy="279616"/>
              </a:xfrm>
              <a:prstGeom prst="upDownArrow">
                <a:avLst>
                  <a:gd name="adj1" fmla="val 53938"/>
                  <a:gd name="adj2" fmla="val 9960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7" name="Pil: upp-ned 6">
                <a:extLst>
                  <a:ext uri="{FF2B5EF4-FFF2-40B4-BE49-F238E27FC236}">
                    <a16:creationId xmlns:a16="http://schemas.microsoft.com/office/drawing/2014/main" id="{DB2E8298-38BB-E779-58A9-5E851295A184}"/>
                  </a:ext>
                </a:extLst>
              </p:cNvPr>
              <p:cNvSpPr/>
              <p:nvPr/>
            </p:nvSpPr>
            <p:spPr>
              <a:xfrm>
                <a:off x="1305338" y="3649702"/>
                <a:ext cx="644939" cy="279616"/>
              </a:xfrm>
              <a:prstGeom prst="upDownArrow">
                <a:avLst>
                  <a:gd name="adj1" fmla="val 53938"/>
                  <a:gd name="adj2" fmla="val 9960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8" name="Pil: upp-ned 7">
                <a:extLst>
                  <a:ext uri="{FF2B5EF4-FFF2-40B4-BE49-F238E27FC236}">
                    <a16:creationId xmlns:a16="http://schemas.microsoft.com/office/drawing/2014/main" id="{A4C62D41-CB7E-1CD4-64D4-26DBBD32326E}"/>
                  </a:ext>
                </a:extLst>
              </p:cNvPr>
              <p:cNvSpPr/>
              <p:nvPr/>
            </p:nvSpPr>
            <p:spPr>
              <a:xfrm>
                <a:off x="1305337" y="4133398"/>
                <a:ext cx="644939" cy="279616"/>
              </a:xfrm>
              <a:prstGeom prst="upDownArrow">
                <a:avLst>
                  <a:gd name="adj1" fmla="val 53938"/>
                  <a:gd name="adj2" fmla="val 9960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9" name="Pil: upp-ned 8">
                <a:extLst>
                  <a:ext uri="{FF2B5EF4-FFF2-40B4-BE49-F238E27FC236}">
                    <a16:creationId xmlns:a16="http://schemas.microsoft.com/office/drawing/2014/main" id="{7D1A920F-54AC-AC17-EC62-F8DD2711D2BE}"/>
                  </a:ext>
                </a:extLst>
              </p:cNvPr>
              <p:cNvSpPr/>
              <p:nvPr/>
            </p:nvSpPr>
            <p:spPr>
              <a:xfrm>
                <a:off x="1305065" y="2609581"/>
                <a:ext cx="644939" cy="279616"/>
              </a:xfrm>
              <a:prstGeom prst="upDownArrow">
                <a:avLst>
                  <a:gd name="adj1" fmla="val 53938"/>
                  <a:gd name="adj2" fmla="val 9960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  <p:sp>
            <p:nvSpPr>
              <p:cNvPr id="10" name="Pil: upp-ned 9">
                <a:extLst>
                  <a:ext uri="{FF2B5EF4-FFF2-40B4-BE49-F238E27FC236}">
                    <a16:creationId xmlns:a16="http://schemas.microsoft.com/office/drawing/2014/main" id="{F0701C43-AF8B-CC85-3D04-B3E7F9E7BB2C}"/>
                  </a:ext>
                </a:extLst>
              </p:cNvPr>
              <p:cNvSpPr/>
              <p:nvPr/>
            </p:nvSpPr>
            <p:spPr>
              <a:xfrm>
                <a:off x="1328916" y="4613410"/>
                <a:ext cx="644939" cy="279616"/>
              </a:xfrm>
              <a:prstGeom prst="upDownArrow">
                <a:avLst>
                  <a:gd name="adj1" fmla="val 53938"/>
                  <a:gd name="adj2" fmla="val 9960"/>
                </a:avLst>
              </a:prstGeom>
              <a:solidFill>
                <a:schemeClr val="tx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sp>
        <p:nvSpPr>
          <p:cNvPr id="12" name="Rektangel 11">
            <a:extLst>
              <a:ext uri="{FF2B5EF4-FFF2-40B4-BE49-F238E27FC236}">
                <a16:creationId xmlns:a16="http://schemas.microsoft.com/office/drawing/2014/main" id="{F24F8D65-E0FC-3434-4252-85B52739BD10}"/>
              </a:ext>
            </a:extLst>
          </p:cNvPr>
          <p:cNvSpPr/>
          <p:nvPr/>
        </p:nvSpPr>
        <p:spPr>
          <a:xfrm>
            <a:off x="3279820" y="2687393"/>
            <a:ext cx="1171977" cy="210354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grpSp>
        <p:nvGrpSpPr>
          <p:cNvPr id="20" name="Grupp 19">
            <a:extLst>
              <a:ext uri="{FF2B5EF4-FFF2-40B4-BE49-F238E27FC236}">
                <a16:creationId xmlns:a16="http://schemas.microsoft.com/office/drawing/2014/main" id="{1E9D05A2-B85F-AC59-30BC-32820010A08B}"/>
              </a:ext>
            </a:extLst>
          </p:cNvPr>
          <p:cNvGrpSpPr/>
          <p:nvPr/>
        </p:nvGrpSpPr>
        <p:grpSpPr>
          <a:xfrm>
            <a:off x="7004764" y="1753640"/>
            <a:ext cx="5040350" cy="2271114"/>
            <a:chOff x="5822734" y="1849075"/>
            <a:chExt cx="5040350" cy="2271114"/>
          </a:xfrm>
        </p:grpSpPr>
        <p:sp>
          <p:nvSpPr>
            <p:cNvPr id="13" name="Rektangel 12">
              <a:extLst>
                <a:ext uri="{FF2B5EF4-FFF2-40B4-BE49-F238E27FC236}">
                  <a16:creationId xmlns:a16="http://schemas.microsoft.com/office/drawing/2014/main" id="{31B425B4-F1DF-AA6C-E907-6F586443520E}"/>
                </a:ext>
              </a:extLst>
            </p:cNvPr>
            <p:cNvSpPr/>
            <p:nvPr/>
          </p:nvSpPr>
          <p:spPr>
            <a:xfrm>
              <a:off x="5822734" y="2318727"/>
              <a:ext cx="2011680" cy="901018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  <a:effectLst>
              <a:outerShdw blurRad="50800" dist="38100" dir="2700000" sx="103000" sy="103000" algn="tl" rotWithShape="0">
                <a:srgbClr val="85AA14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2400" dirty="0" err="1">
                  <a:solidFill>
                    <a:schemeClr val="tx1"/>
                  </a:solidFill>
                </a:rPr>
                <a:t>CanNm</a:t>
              </a:r>
              <a:endParaRPr lang="sv-SE" sz="2400" dirty="0">
                <a:solidFill>
                  <a:schemeClr val="tx1"/>
                </a:solidFill>
              </a:endParaRPr>
            </a:p>
          </p:txBody>
        </p:sp>
        <p:grpSp>
          <p:nvGrpSpPr>
            <p:cNvPr id="14" name="Grupp 13">
              <a:extLst>
                <a:ext uri="{FF2B5EF4-FFF2-40B4-BE49-F238E27FC236}">
                  <a16:creationId xmlns:a16="http://schemas.microsoft.com/office/drawing/2014/main" id="{5B0878F0-2DC3-FCE1-A485-46A21475F746}"/>
                </a:ext>
              </a:extLst>
            </p:cNvPr>
            <p:cNvGrpSpPr/>
            <p:nvPr/>
          </p:nvGrpSpPr>
          <p:grpSpPr>
            <a:xfrm>
              <a:off x="6942316" y="1849075"/>
              <a:ext cx="3920768" cy="469651"/>
              <a:chOff x="1382750" y="1980457"/>
              <a:chExt cx="3920768" cy="1079872"/>
            </a:xfrm>
          </p:grpSpPr>
          <p:sp>
            <p:nvSpPr>
              <p:cNvPr id="15" name="textruta 14">
                <a:extLst>
                  <a:ext uri="{FF2B5EF4-FFF2-40B4-BE49-F238E27FC236}">
                    <a16:creationId xmlns:a16="http://schemas.microsoft.com/office/drawing/2014/main" id="{739FCA9E-1719-B332-4EE3-F0BABED2F574}"/>
                  </a:ext>
                </a:extLst>
              </p:cNvPr>
              <p:cNvSpPr txBox="1"/>
              <p:nvPr/>
            </p:nvSpPr>
            <p:spPr>
              <a:xfrm>
                <a:off x="2417417" y="1980457"/>
                <a:ext cx="2886101" cy="1061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i="1" dirty="0">
                    <a:solidFill>
                      <a:srgbClr val="FF0000"/>
                    </a:solidFill>
                  </a:rPr>
                  <a:t>Top-</a:t>
                </a:r>
                <a:r>
                  <a:rPr lang="sv-SE" sz="2400" i="1" dirty="0" err="1">
                    <a:solidFill>
                      <a:srgbClr val="FF0000"/>
                    </a:solidFill>
                  </a:rPr>
                  <a:t>level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calls</a:t>
                </a:r>
              </a:p>
            </p:txBody>
          </p:sp>
          <p:sp>
            <p:nvSpPr>
              <p:cNvPr id="16" name="Frihandsfigur: Form 15">
                <a:extLst>
                  <a:ext uri="{FF2B5EF4-FFF2-40B4-BE49-F238E27FC236}">
                    <a16:creationId xmlns:a16="http://schemas.microsoft.com/office/drawing/2014/main" id="{4EB596D5-8258-6569-134A-63186F9873C3}"/>
                  </a:ext>
                </a:extLst>
              </p:cNvPr>
              <p:cNvSpPr/>
              <p:nvPr/>
            </p:nvSpPr>
            <p:spPr>
              <a:xfrm>
                <a:off x="1382750" y="2477409"/>
                <a:ext cx="1074979" cy="582920"/>
              </a:xfrm>
              <a:custGeom>
                <a:avLst/>
                <a:gdLst>
                  <a:gd name="connsiteX0" fmla="*/ 780586 w 780586"/>
                  <a:gd name="connsiteY0" fmla="*/ 0 h 352379"/>
                  <a:gd name="connsiteX1" fmla="*/ 330077 w 780586"/>
                  <a:gd name="connsiteY1" fmla="*/ 84750 h 352379"/>
                  <a:gd name="connsiteX2" fmla="*/ 0 w 780586"/>
                  <a:gd name="connsiteY2" fmla="*/ 352379 h 352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0586" h="352379">
                    <a:moveTo>
                      <a:pt x="780586" y="0"/>
                    </a:moveTo>
                    <a:cubicBezTo>
                      <a:pt x="620380" y="13010"/>
                      <a:pt x="460175" y="26020"/>
                      <a:pt x="330077" y="84750"/>
                    </a:cubicBezTo>
                    <a:cubicBezTo>
                      <a:pt x="199979" y="143480"/>
                      <a:pt x="99989" y="247929"/>
                      <a:pt x="0" y="352379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17" name="Grupp 16">
              <a:extLst>
                <a:ext uri="{FF2B5EF4-FFF2-40B4-BE49-F238E27FC236}">
                  <a16:creationId xmlns:a16="http://schemas.microsoft.com/office/drawing/2014/main" id="{41A25E9B-7CD1-C577-CB0E-14A7CEFAE310}"/>
                </a:ext>
              </a:extLst>
            </p:cNvPr>
            <p:cNvGrpSpPr/>
            <p:nvPr/>
          </p:nvGrpSpPr>
          <p:grpSpPr>
            <a:xfrm>
              <a:off x="6979485" y="3289192"/>
              <a:ext cx="3450702" cy="830997"/>
              <a:chOff x="1677143" y="1570839"/>
              <a:chExt cx="2668273" cy="5855502"/>
            </a:xfrm>
          </p:grpSpPr>
          <p:sp>
            <p:nvSpPr>
              <p:cNvPr id="18" name="textruta 17">
                <a:extLst>
                  <a:ext uri="{FF2B5EF4-FFF2-40B4-BE49-F238E27FC236}">
                    <a16:creationId xmlns:a16="http://schemas.microsoft.com/office/drawing/2014/main" id="{685DC3D9-CEFB-ECBB-9261-2ADB1764D732}"/>
                  </a:ext>
                </a:extLst>
              </p:cNvPr>
              <p:cNvSpPr txBox="1"/>
              <p:nvPr/>
            </p:nvSpPr>
            <p:spPr>
              <a:xfrm>
                <a:off x="2479635" y="1570839"/>
                <a:ext cx="1865781" cy="5855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i="1" dirty="0" err="1">
                    <a:solidFill>
                      <a:srgbClr val="FF0000"/>
                    </a:solidFill>
                  </a:rPr>
                  <a:t>Mock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sv-SE" sz="2400" i="1" dirty="0" err="1">
                    <a:solidFill>
                      <a:srgbClr val="FF0000"/>
                    </a:solidFill>
                  </a:rPr>
                  <a:t>lower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sv-SE" sz="2400" i="1" dirty="0" err="1">
                    <a:solidFill>
                      <a:srgbClr val="FF0000"/>
                    </a:solidFill>
                  </a:rPr>
                  <a:t>level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calls</a:t>
                </a:r>
              </a:p>
            </p:txBody>
          </p:sp>
          <p:sp>
            <p:nvSpPr>
              <p:cNvPr id="19" name="Frihandsfigur: Form 18">
                <a:extLst>
                  <a:ext uri="{FF2B5EF4-FFF2-40B4-BE49-F238E27FC236}">
                    <a16:creationId xmlns:a16="http://schemas.microsoft.com/office/drawing/2014/main" id="{48FE9E0C-AF8D-3146-E7F8-BABD70C96F4F}"/>
                  </a:ext>
                </a:extLst>
              </p:cNvPr>
              <p:cNvSpPr/>
              <p:nvPr/>
            </p:nvSpPr>
            <p:spPr>
              <a:xfrm flipV="1">
                <a:off x="1677143" y="1820400"/>
                <a:ext cx="802492" cy="1403465"/>
              </a:xfrm>
              <a:custGeom>
                <a:avLst/>
                <a:gdLst>
                  <a:gd name="connsiteX0" fmla="*/ 780586 w 780586"/>
                  <a:gd name="connsiteY0" fmla="*/ 0 h 352379"/>
                  <a:gd name="connsiteX1" fmla="*/ 330077 w 780586"/>
                  <a:gd name="connsiteY1" fmla="*/ 84750 h 352379"/>
                  <a:gd name="connsiteX2" fmla="*/ 0 w 780586"/>
                  <a:gd name="connsiteY2" fmla="*/ 352379 h 352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0586" h="352379">
                    <a:moveTo>
                      <a:pt x="780586" y="0"/>
                    </a:moveTo>
                    <a:cubicBezTo>
                      <a:pt x="620380" y="13010"/>
                      <a:pt x="460175" y="26020"/>
                      <a:pt x="330077" y="84750"/>
                    </a:cubicBezTo>
                    <a:cubicBezTo>
                      <a:pt x="199979" y="143480"/>
                      <a:pt x="99989" y="247929"/>
                      <a:pt x="0" y="352379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grpSp>
        <p:nvGrpSpPr>
          <p:cNvPr id="21" name="Grupp 20">
            <a:extLst>
              <a:ext uri="{FF2B5EF4-FFF2-40B4-BE49-F238E27FC236}">
                <a16:creationId xmlns:a16="http://schemas.microsoft.com/office/drawing/2014/main" id="{397FAD55-97A7-5595-CEF7-0F1A69D6793A}"/>
              </a:ext>
            </a:extLst>
          </p:cNvPr>
          <p:cNvGrpSpPr/>
          <p:nvPr/>
        </p:nvGrpSpPr>
        <p:grpSpPr>
          <a:xfrm>
            <a:off x="7028343" y="4085128"/>
            <a:ext cx="5040350" cy="2271114"/>
            <a:chOff x="5822734" y="1849075"/>
            <a:chExt cx="5040350" cy="2271114"/>
          </a:xfrm>
        </p:grpSpPr>
        <p:sp>
          <p:nvSpPr>
            <p:cNvPr id="22" name="Rektangel 21">
              <a:extLst>
                <a:ext uri="{FF2B5EF4-FFF2-40B4-BE49-F238E27FC236}">
                  <a16:creationId xmlns:a16="http://schemas.microsoft.com/office/drawing/2014/main" id="{CC8032E2-D8B9-781C-A698-A87BA8687E6D}"/>
                </a:ext>
              </a:extLst>
            </p:cNvPr>
            <p:cNvSpPr/>
            <p:nvPr/>
          </p:nvSpPr>
          <p:spPr>
            <a:xfrm>
              <a:off x="5822734" y="2318727"/>
              <a:ext cx="2011680" cy="901018"/>
            </a:xfrm>
            <a:prstGeom prst="rect">
              <a:avLst/>
            </a:prstGeom>
            <a:solidFill>
              <a:srgbClr val="99CC00"/>
            </a:solidFill>
            <a:ln>
              <a:noFill/>
            </a:ln>
            <a:effectLst>
              <a:outerShdw blurRad="50800" dist="38100" dir="2700000" sx="103000" sy="103000" algn="tl" rotWithShape="0">
                <a:srgbClr val="85AA14"/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2400" dirty="0" err="1">
                  <a:solidFill>
                    <a:schemeClr val="tx1"/>
                  </a:solidFill>
                </a:rPr>
                <a:t>CanSm</a:t>
              </a:r>
              <a:endParaRPr lang="sv-SE" sz="2400" dirty="0">
                <a:solidFill>
                  <a:schemeClr val="tx1"/>
                </a:solidFill>
              </a:endParaRPr>
            </a:p>
          </p:txBody>
        </p:sp>
        <p:grpSp>
          <p:nvGrpSpPr>
            <p:cNvPr id="23" name="Grupp 22">
              <a:extLst>
                <a:ext uri="{FF2B5EF4-FFF2-40B4-BE49-F238E27FC236}">
                  <a16:creationId xmlns:a16="http://schemas.microsoft.com/office/drawing/2014/main" id="{2BA96CCE-299E-34B9-8C2A-0DA44563538C}"/>
                </a:ext>
              </a:extLst>
            </p:cNvPr>
            <p:cNvGrpSpPr/>
            <p:nvPr/>
          </p:nvGrpSpPr>
          <p:grpSpPr>
            <a:xfrm>
              <a:off x="6942316" y="1849075"/>
              <a:ext cx="3920768" cy="469651"/>
              <a:chOff x="1382750" y="1980457"/>
              <a:chExt cx="3920768" cy="1079872"/>
            </a:xfrm>
          </p:grpSpPr>
          <p:sp>
            <p:nvSpPr>
              <p:cNvPr id="27" name="textruta 26">
                <a:extLst>
                  <a:ext uri="{FF2B5EF4-FFF2-40B4-BE49-F238E27FC236}">
                    <a16:creationId xmlns:a16="http://schemas.microsoft.com/office/drawing/2014/main" id="{D54623E8-25BB-0B1E-9A66-0E747DBFF36B}"/>
                  </a:ext>
                </a:extLst>
              </p:cNvPr>
              <p:cNvSpPr txBox="1"/>
              <p:nvPr/>
            </p:nvSpPr>
            <p:spPr>
              <a:xfrm>
                <a:off x="2417417" y="1980457"/>
                <a:ext cx="2886101" cy="1061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i="1" dirty="0">
                    <a:solidFill>
                      <a:srgbClr val="FF0000"/>
                    </a:solidFill>
                  </a:rPr>
                  <a:t>Top-</a:t>
                </a:r>
                <a:r>
                  <a:rPr lang="sv-SE" sz="2400" i="1" dirty="0" err="1">
                    <a:solidFill>
                      <a:srgbClr val="FF0000"/>
                    </a:solidFill>
                  </a:rPr>
                  <a:t>level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calls</a:t>
                </a:r>
              </a:p>
            </p:txBody>
          </p:sp>
          <p:sp>
            <p:nvSpPr>
              <p:cNvPr id="28" name="Frihandsfigur: Form 27">
                <a:extLst>
                  <a:ext uri="{FF2B5EF4-FFF2-40B4-BE49-F238E27FC236}">
                    <a16:creationId xmlns:a16="http://schemas.microsoft.com/office/drawing/2014/main" id="{C5DD2037-8B30-7616-476D-463117BA3F94}"/>
                  </a:ext>
                </a:extLst>
              </p:cNvPr>
              <p:cNvSpPr/>
              <p:nvPr/>
            </p:nvSpPr>
            <p:spPr>
              <a:xfrm>
                <a:off x="1382750" y="2477409"/>
                <a:ext cx="1074979" cy="582920"/>
              </a:xfrm>
              <a:custGeom>
                <a:avLst/>
                <a:gdLst>
                  <a:gd name="connsiteX0" fmla="*/ 780586 w 780586"/>
                  <a:gd name="connsiteY0" fmla="*/ 0 h 352379"/>
                  <a:gd name="connsiteX1" fmla="*/ 330077 w 780586"/>
                  <a:gd name="connsiteY1" fmla="*/ 84750 h 352379"/>
                  <a:gd name="connsiteX2" fmla="*/ 0 w 780586"/>
                  <a:gd name="connsiteY2" fmla="*/ 352379 h 352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0586" h="352379">
                    <a:moveTo>
                      <a:pt x="780586" y="0"/>
                    </a:moveTo>
                    <a:cubicBezTo>
                      <a:pt x="620380" y="13010"/>
                      <a:pt x="460175" y="26020"/>
                      <a:pt x="330077" y="84750"/>
                    </a:cubicBezTo>
                    <a:cubicBezTo>
                      <a:pt x="199979" y="143480"/>
                      <a:pt x="99989" y="247929"/>
                      <a:pt x="0" y="352379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  <p:grpSp>
          <p:nvGrpSpPr>
            <p:cNvPr id="24" name="Grupp 23">
              <a:extLst>
                <a:ext uri="{FF2B5EF4-FFF2-40B4-BE49-F238E27FC236}">
                  <a16:creationId xmlns:a16="http://schemas.microsoft.com/office/drawing/2014/main" id="{2DC1D2C5-3204-B1AC-1D08-DB05BDCCB2F6}"/>
                </a:ext>
              </a:extLst>
            </p:cNvPr>
            <p:cNvGrpSpPr/>
            <p:nvPr/>
          </p:nvGrpSpPr>
          <p:grpSpPr>
            <a:xfrm>
              <a:off x="6979485" y="3289192"/>
              <a:ext cx="3450702" cy="830997"/>
              <a:chOff x="1677143" y="1570839"/>
              <a:chExt cx="2668273" cy="5855502"/>
            </a:xfrm>
          </p:grpSpPr>
          <p:sp>
            <p:nvSpPr>
              <p:cNvPr id="25" name="textruta 24">
                <a:extLst>
                  <a:ext uri="{FF2B5EF4-FFF2-40B4-BE49-F238E27FC236}">
                    <a16:creationId xmlns:a16="http://schemas.microsoft.com/office/drawing/2014/main" id="{C73FAB68-310B-B910-DB91-7918B45F2870}"/>
                  </a:ext>
                </a:extLst>
              </p:cNvPr>
              <p:cNvSpPr txBox="1"/>
              <p:nvPr/>
            </p:nvSpPr>
            <p:spPr>
              <a:xfrm>
                <a:off x="2479635" y="1570839"/>
                <a:ext cx="1865781" cy="585550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i="1" dirty="0" err="1">
                    <a:solidFill>
                      <a:srgbClr val="FF0000"/>
                    </a:solidFill>
                  </a:rPr>
                  <a:t>Mock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sv-SE" sz="2400" i="1" dirty="0" err="1">
                    <a:solidFill>
                      <a:srgbClr val="FF0000"/>
                    </a:solidFill>
                  </a:rPr>
                  <a:t>lower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</a:t>
                </a:r>
                <a:r>
                  <a:rPr lang="sv-SE" sz="2400" i="1" dirty="0" err="1">
                    <a:solidFill>
                      <a:srgbClr val="FF0000"/>
                    </a:solidFill>
                  </a:rPr>
                  <a:t>level</a:t>
                </a:r>
                <a:r>
                  <a:rPr lang="sv-SE" sz="2400" i="1" dirty="0">
                    <a:solidFill>
                      <a:srgbClr val="FF0000"/>
                    </a:solidFill>
                  </a:rPr>
                  <a:t> calls</a:t>
                </a:r>
              </a:p>
            </p:txBody>
          </p:sp>
          <p:sp>
            <p:nvSpPr>
              <p:cNvPr id="26" name="Frihandsfigur: Form 25">
                <a:extLst>
                  <a:ext uri="{FF2B5EF4-FFF2-40B4-BE49-F238E27FC236}">
                    <a16:creationId xmlns:a16="http://schemas.microsoft.com/office/drawing/2014/main" id="{AFFF4E59-1B49-F308-0231-A3B20CBD251C}"/>
                  </a:ext>
                </a:extLst>
              </p:cNvPr>
              <p:cNvSpPr/>
              <p:nvPr/>
            </p:nvSpPr>
            <p:spPr>
              <a:xfrm flipV="1">
                <a:off x="1677143" y="1820400"/>
                <a:ext cx="802492" cy="1403465"/>
              </a:xfrm>
              <a:custGeom>
                <a:avLst/>
                <a:gdLst>
                  <a:gd name="connsiteX0" fmla="*/ 780586 w 780586"/>
                  <a:gd name="connsiteY0" fmla="*/ 0 h 352379"/>
                  <a:gd name="connsiteX1" fmla="*/ 330077 w 780586"/>
                  <a:gd name="connsiteY1" fmla="*/ 84750 h 352379"/>
                  <a:gd name="connsiteX2" fmla="*/ 0 w 780586"/>
                  <a:gd name="connsiteY2" fmla="*/ 352379 h 35237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80586" h="352379">
                    <a:moveTo>
                      <a:pt x="780586" y="0"/>
                    </a:moveTo>
                    <a:cubicBezTo>
                      <a:pt x="620380" y="13010"/>
                      <a:pt x="460175" y="26020"/>
                      <a:pt x="330077" y="84750"/>
                    </a:cubicBezTo>
                    <a:cubicBezTo>
                      <a:pt x="199979" y="143480"/>
                      <a:pt x="99989" y="247929"/>
                      <a:pt x="0" y="352379"/>
                    </a:cubicBezTo>
                  </a:path>
                </a:pathLst>
              </a:custGeom>
              <a:noFill/>
              <a:ln w="25400">
                <a:solidFill>
                  <a:srgbClr val="FF0000"/>
                </a:solidFill>
                <a:tailEnd type="stealth" w="lg" len="lg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sv-SE"/>
              </a:p>
            </p:txBody>
          </p:sp>
        </p:grpSp>
      </p:grpSp>
      <p:sp>
        <p:nvSpPr>
          <p:cNvPr id="29" name="Frihandsfigur: Form 28">
            <a:extLst>
              <a:ext uri="{FF2B5EF4-FFF2-40B4-BE49-F238E27FC236}">
                <a16:creationId xmlns:a16="http://schemas.microsoft.com/office/drawing/2014/main" id="{B5B15D2E-6840-277C-01FA-D75911178910}"/>
              </a:ext>
            </a:extLst>
          </p:cNvPr>
          <p:cNvSpPr/>
          <p:nvPr/>
        </p:nvSpPr>
        <p:spPr>
          <a:xfrm>
            <a:off x="8196723" y="3235900"/>
            <a:ext cx="567329" cy="1320664"/>
          </a:xfrm>
          <a:custGeom>
            <a:avLst/>
            <a:gdLst>
              <a:gd name="connsiteX0" fmla="*/ 0 w 567329"/>
              <a:gd name="connsiteY0" fmla="*/ 0 h 1320664"/>
              <a:gd name="connsiteX1" fmla="*/ 343437 w 567329"/>
              <a:gd name="connsiteY1" fmla="*/ 145961 h 1320664"/>
              <a:gd name="connsiteX2" fmla="*/ 566670 w 567329"/>
              <a:gd name="connsiteY2" fmla="*/ 579550 h 1320664"/>
              <a:gd name="connsiteX3" fmla="*/ 274749 w 567329"/>
              <a:gd name="connsiteY3" fmla="*/ 1146220 h 1320664"/>
              <a:gd name="connsiteX4" fmla="*/ 47222 w 567329"/>
              <a:gd name="connsiteY4" fmla="*/ 1309352 h 1320664"/>
              <a:gd name="connsiteX5" fmla="*/ 38637 w 567329"/>
              <a:gd name="connsiteY5" fmla="*/ 1305059 h 1320664"/>
              <a:gd name="connsiteX6" fmla="*/ 42930 w 567329"/>
              <a:gd name="connsiteY6" fmla="*/ 1292180 h 13206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7329" h="1320664">
                <a:moveTo>
                  <a:pt x="0" y="0"/>
                </a:moveTo>
                <a:cubicBezTo>
                  <a:pt x="124496" y="24684"/>
                  <a:pt x="248992" y="49369"/>
                  <a:pt x="343437" y="145961"/>
                </a:cubicBezTo>
                <a:cubicBezTo>
                  <a:pt x="437882" y="242553"/>
                  <a:pt x="578118" y="412840"/>
                  <a:pt x="566670" y="579550"/>
                </a:cubicBezTo>
                <a:cubicBezTo>
                  <a:pt x="555222" y="746260"/>
                  <a:pt x="361324" y="1024586"/>
                  <a:pt x="274749" y="1146220"/>
                </a:cubicBezTo>
                <a:cubicBezTo>
                  <a:pt x="188174" y="1267854"/>
                  <a:pt x="86574" y="1282879"/>
                  <a:pt x="47222" y="1309352"/>
                </a:cubicBezTo>
                <a:cubicBezTo>
                  <a:pt x="7870" y="1335825"/>
                  <a:pt x="39352" y="1307921"/>
                  <a:pt x="38637" y="1305059"/>
                </a:cubicBezTo>
                <a:cubicBezTo>
                  <a:pt x="37922" y="1302197"/>
                  <a:pt x="40426" y="1297188"/>
                  <a:pt x="42930" y="1292180"/>
                </a:cubicBezTo>
              </a:path>
            </a:pathLst>
          </a:custGeom>
          <a:noFill/>
          <a:ln w="63500">
            <a:solidFill>
              <a:srgbClr val="FF0000"/>
            </a:solidFill>
            <a:headEnd type="stealth" w="lg" len="lg"/>
            <a:tailEnd type="stealth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30" name="Pil: höger 29">
            <a:extLst>
              <a:ext uri="{FF2B5EF4-FFF2-40B4-BE49-F238E27FC236}">
                <a16:creationId xmlns:a16="http://schemas.microsoft.com/office/drawing/2014/main" id="{3AC79738-3485-AA8A-1B41-5F49499AEFC6}"/>
              </a:ext>
            </a:extLst>
          </p:cNvPr>
          <p:cNvSpPr/>
          <p:nvPr/>
        </p:nvSpPr>
        <p:spPr>
          <a:xfrm>
            <a:off x="4790564" y="1654841"/>
            <a:ext cx="2145387" cy="10325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Generate</a:t>
            </a:r>
            <a:r>
              <a:rPr lang="sv-SE" dirty="0"/>
              <a:t> a top-</a:t>
            </a:r>
            <a:r>
              <a:rPr lang="sv-SE" dirty="0" err="1"/>
              <a:t>level</a:t>
            </a:r>
            <a:r>
              <a:rPr lang="sv-SE" dirty="0"/>
              <a:t> call</a:t>
            </a:r>
          </a:p>
        </p:txBody>
      </p:sp>
      <p:sp>
        <p:nvSpPr>
          <p:cNvPr id="31" name="Pil: höger 30">
            <a:extLst>
              <a:ext uri="{FF2B5EF4-FFF2-40B4-BE49-F238E27FC236}">
                <a16:creationId xmlns:a16="http://schemas.microsoft.com/office/drawing/2014/main" id="{6266F7B8-62F8-88D3-0950-B0E39605C875}"/>
              </a:ext>
            </a:extLst>
          </p:cNvPr>
          <p:cNvSpPr/>
          <p:nvPr/>
        </p:nvSpPr>
        <p:spPr>
          <a:xfrm>
            <a:off x="4790564" y="2772916"/>
            <a:ext cx="2145387" cy="10325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Compute</a:t>
            </a:r>
            <a:r>
              <a:rPr lang="sv-SE" dirty="0"/>
              <a:t> </a:t>
            </a:r>
            <a:r>
              <a:rPr lang="sv-SE" dirty="0" err="1"/>
              <a:t>expected</a:t>
            </a:r>
            <a:r>
              <a:rPr lang="sv-SE" dirty="0"/>
              <a:t> calls</a:t>
            </a:r>
          </a:p>
        </p:txBody>
      </p:sp>
      <p:sp>
        <p:nvSpPr>
          <p:cNvPr id="32" name="Pil: höger 31">
            <a:extLst>
              <a:ext uri="{FF2B5EF4-FFF2-40B4-BE49-F238E27FC236}">
                <a16:creationId xmlns:a16="http://schemas.microsoft.com/office/drawing/2014/main" id="{0910C8AE-FBBF-700B-F3F0-B6E9C2FFFD70}"/>
              </a:ext>
            </a:extLst>
          </p:cNvPr>
          <p:cNvSpPr/>
          <p:nvPr/>
        </p:nvSpPr>
        <p:spPr>
          <a:xfrm>
            <a:off x="4790564" y="3972737"/>
            <a:ext cx="2145387" cy="103255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/>
              <a:t>Use the model to </a:t>
            </a:r>
            <a:r>
              <a:rPr lang="sv-SE" dirty="0" err="1"/>
              <a:t>compute</a:t>
            </a:r>
            <a:r>
              <a:rPr lang="sv-SE" dirty="0"/>
              <a:t> results</a:t>
            </a:r>
          </a:p>
        </p:txBody>
      </p:sp>
      <p:sp>
        <p:nvSpPr>
          <p:cNvPr id="33" name="Pil: höger 32">
            <a:extLst>
              <a:ext uri="{FF2B5EF4-FFF2-40B4-BE49-F238E27FC236}">
                <a16:creationId xmlns:a16="http://schemas.microsoft.com/office/drawing/2014/main" id="{EBA91E4D-CAFF-27B5-DAC4-BCCACDFB0F69}"/>
              </a:ext>
            </a:extLst>
          </p:cNvPr>
          <p:cNvSpPr/>
          <p:nvPr/>
        </p:nvSpPr>
        <p:spPr>
          <a:xfrm>
            <a:off x="4790563" y="5143973"/>
            <a:ext cx="2145387" cy="1609205"/>
          </a:xfrm>
          <a:prstGeom prst="rightArrow">
            <a:avLst>
              <a:gd name="adj1" fmla="val 50000"/>
              <a:gd name="adj2" fmla="val 31706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dirty="0" err="1"/>
              <a:t>Compute</a:t>
            </a:r>
            <a:r>
              <a:rPr lang="sv-SE" dirty="0"/>
              <a:t> </a:t>
            </a:r>
            <a:r>
              <a:rPr lang="sv-SE" dirty="0" err="1"/>
              <a:t>expected</a:t>
            </a:r>
            <a:r>
              <a:rPr lang="sv-SE" dirty="0"/>
              <a:t> </a:t>
            </a:r>
            <a:r>
              <a:rPr lang="sv-SE" dirty="0" err="1"/>
              <a:t>low-level</a:t>
            </a:r>
            <a:r>
              <a:rPr lang="sv-SE" dirty="0"/>
              <a:t> calls</a:t>
            </a:r>
          </a:p>
        </p:txBody>
      </p:sp>
    </p:spTree>
    <p:extLst>
      <p:ext uri="{BB962C8B-B14F-4D97-AF65-F5344CB8AC3E}">
        <p14:creationId xmlns:p14="http://schemas.microsoft.com/office/powerpoint/2010/main" val="2076693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Bug in a vendor’s CAN stack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F590-D770-4372-AF98-553753C786FD}" type="slidenum">
              <a:rPr lang="en-US" smtClean="0"/>
              <a:pPr/>
              <a:t>8</a:t>
            </a:fld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981200" y="1904998"/>
            <a:ext cx="8077200" cy="3581402"/>
            <a:chOff x="948506" y="2699629"/>
            <a:chExt cx="4540582" cy="1449452"/>
          </a:xfrm>
        </p:grpSpPr>
        <p:sp>
          <p:nvSpPr>
            <p:cNvPr id="9" name="Rektangel med rundade hörn 20"/>
            <p:cNvSpPr/>
            <p:nvPr/>
          </p:nvSpPr>
          <p:spPr>
            <a:xfrm>
              <a:off x="2460526" y="278092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send</a:t>
              </a:r>
              <a:r>
                <a:rPr lang="sv-SE" sz="3200" dirty="0">
                  <a:solidFill>
                    <a:schemeClr val="tx1"/>
                  </a:solidFill>
                </a:rPr>
                <a:t> </a:t>
              </a:r>
              <a:r>
                <a:rPr lang="sv-SE" sz="3200" dirty="0" err="1">
                  <a:solidFill>
                    <a:schemeClr val="tx1"/>
                  </a:solidFill>
                </a:rPr>
                <a:t>priority</a:t>
              </a:r>
              <a:r>
                <a:rPr lang="sv-SE" sz="3200" dirty="0">
                  <a:solidFill>
                    <a:schemeClr val="tx1"/>
                  </a:solidFill>
                </a:rPr>
                <a:t> 1</a:t>
              </a:r>
            </a:p>
          </p:txBody>
        </p:sp>
        <p:sp>
          <p:nvSpPr>
            <p:cNvPr id="10" name="Rektangel med rundade hörn 30"/>
            <p:cNvSpPr/>
            <p:nvPr/>
          </p:nvSpPr>
          <p:spPr>
            <a:xfrm>
              <a:off x="2460526" y="314096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send</a:t>
              </a:r>
              <a:r>
                <a:rPr lang="sv-SE" sz="3200" dirty="0">
                  <a:solidFill>
                    <a:schemeClr val="tx1"/>
                  </a:solidFill>
                </a:rPr>
                <a:t> </a:t>
              </a:r>
              <a:r>
                <a:rPr lang="sv-SE" sz="3200" dirty="0" err="1">
                  <a:solidFill>
                    <a:schemeClr val="tx1"/>
                  </a:solidFill>
                </a:rPr>
                <a:t>priority</a:t>
              </a:r>
              <a:r>
                <a:rPr lang="sv-SE" sz="3200" dirty="0">
                  <a:solidFill>
                    <a:schemeClr val="tx1"/>
                  </a:solidFill>
                </a:rPr>
                <a:t> 2</a:t>
              </a:r>
            </a:p>
          </p:txBody>
        </p:sp>
        <p:sp>
          <p:nvSpPr>
            <p:cNvPr id="11" name="Rektangel med rundade hörn 31"/>
            <p:cNvSpPr/>
            <p:nvPr/>
          </p:nvSpPr>
          <p:spPr>
            <a:xfrm>
              <a:off x="2460526" y="350100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send</a:t>
              </a:r>
              <a:r>
                <a:rPr lang="sv-SE" sz="3200" dirty="0">
                  <a:solidFill>
                    <a:schemeClr val="tx1"/>
                  </a:solidFill>
                </a:rPr>
                <a:t> </a:t>
              </a:r>
              <a:r>
                <a:rPr lang="sv-SE" sz="3200" dirty="0" err="1">
                  <a:solidFill>
                    <a:schemeClr val="tx1"/>
                  </a:solidFill>
                </a:rPr>
                <a:t>priority</a:t>
              </a:r>
              <a:r>
                <a:rPr lang="sv-SE" sz="3200" dirty="0">
                  <a:solidFill>
                    <a:schemeClr val="tx1"/>
                  </a:solidFill>
                </a:rPr>
                <a:t> 3</a:t>
              </a:r>
            </a:p>
          </p:txBody>
        </p:sp>
        <p:sp>
          <p:nvSpPr>
            <p:cNvPr id="12" name="Rektangel med rundade hörn 32"/>
            <p:cNvSpPr/>
            <p:nvPr/>
          </p:nvSpPr>
          <p:spPr>
            <a:xfrm>
              <a:off x="2460526" y="386104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tx_confirm</a:t>
              </a:r>
              <a:endParaRPr lang="sv-SE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Rak pil 22"/>
            <p:cNvCxnSpPr/>
            <p:nvPr/>
          </p:nvCxnSpPr>
          <p:spPr>
            <a:xfrm>
              <a:off x="4095543" y="2996953"/>
              <a:ext cx="131308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ruta 23"/>
            <p:cNvSpPr txBox="1"/>
            <p:nvPr/>
          </p:nvSpPr>
          <p:spPr>
            <a:xfrm>
              <a:off x="4188718" y="2699629"/>
              <a:ext cx="1080120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3200" dirty="0" err="1"/>
                <a:t>sending</a:t>
              </a:r>
              <a:r>
                <a:rPr lang="sv-SE" sz="3200" dirty="0"/>
                <a:t> 1</a:t>
              </a:r>
            </a:p>
          </p:txBody>
        </p:sp>
        <p:cxnSp>
          <p:nvCxnSpPr>
            <p:cNvPr id="15" name="Rak pil 36"/>
            <p:cNvCxnSpPr/>
            <p:nvPr/>
          </p:nvCxnSpPr>
          <p:spPr>
            <a:xfrm>
              <a:off x="4116710" y="4077073"/>
              <a:ext cx="131308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ruta 37"/>
            <p:cNvSpPr txBox="1"/>
            <p:nvPr/>
          </p:nvSpPr>
          <p:spPr>
            <a:xfrm>
              <a:off x="4209885" y="3779749"/>
              <a:ext cx="1198743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3200" dirty="0" err="1">
                  <a:solidFill>
                    <a:srgbClr val="FF0000"/>
                  </a:solidFill>
                </a:rPr>
                <a:t>sending</a:t>
              </a:r>
              <a:r>
                <a:rPr lang="sv-SE" sz="3200" dirty="0">
                  <a:solidFill>
                    <a:srgbClr val="FF0000"/>
                  </a:solidFill>
                </a:rPr>
                <a:t> 3</a:t>
              </a:r>
            </a:p>
          </p:txBody>
        </p:sp>
        <p:cxnSp>
          <p:nvCxnSpPr>
            <p:cNvPr id="17" name="Rak pil 38"/>
            <p:cNvCxnSpPr/>
            <p:nvPr/>
          </p:nvCxnSpPr>
          <p:spPr>
            <a:xfrm>
              <a:off x="1147441" y="4086365"/>
              <a:ext cx="131308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ruta 39"/>
            <p:cNvSpPr txBox="1"/>
            <p:nvPr/>
          </p:nvSpPr>
          <p:spPr>
            <a:xfrm>
              <a:off x="1240616" y="3789041"/>
              <a:ext cx="1080120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sz="3200" dirty="0"/>
                <a:t>1 sent</a:t>
              </a:r>
            </a:p>
          </p:txBody>
        </p:sp>
        <p:sp>
          <p:nvSpPr>
            <p:cNvPr id="19" name="Rundad rektangulär 26"/>
            <p:cNvSpPr/>
            <p:nvPr/>
          </p:nvSpPr>
          <p:spPr>
            <a:xfrm rot="20411715">
              <a:off x="948506" y="2885102"/>
              <a:ext cx="1173295" cy="504056"/>
            </a:xfrm>
            <a:prstGeom prst="wedgeRoundRectCallout">
              <a:avLst>
                <a:gd name="adj1" fmla="val 42767"/>
                <a:gd name="adj2" fmla="val 102282"/>
                <a:gd name="adj3" fmla="val 16667"/>
              </a:avLst>
            </a:prstGeom>
            <a:solidFill>
              <a:srgbClr val="FAEAA8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>
                  <a:solidFill>
                    <a:schemeClr val="tx1"/>
                  </a:solidFill>
                </a:rPr>
                <a:t>CAN bus</a:t>
              </a:r>
            </a:p>
          </p:txBody>
        </p:sp>
        <p:sp>
          <p:nvSpPr>
            <p:cNvPr id="20" name="Höger klammerparentes 27"/>
            <p:cNvSpPr/>
            <p:nvPr/>
          </p:nvSpPr>
          <p:spPr>
            <a:xfrm>
              <a:off x="4188718" y="3140969"/>
              <a:ext cx="255639" cy="638780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 sz="3200"/>
            </a:p>
          </p:txBody>
        </p:sp>
        <p:sp>
          <p:nvSpPr>
            <p:cNvPr id="21" name="textruta 43"/>
            <p:cNvSpPr txBox="1"/>
            <p:nvPr/>
          </p:nvSpPr>
          <p:spPr>
            <a:xfrm>
              <a:off x="4408968" y="3275693"/>
              <a:ext cx="1080120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3200" dirty="0" err="1"/>
                <a:t>queued</a:t>
              </a:r>
              <a:endParaRPr lang="sv-SE" sz="3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2765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364" y="2438400"/>
            <a:ext cx="8677275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ubrik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The Problem</a:t>
            </a:r>
          </a:p>
        </p:txBody>
      </p:sp>
      <p:sp>
        <p:nvSpPr>
          <p:cNvPr id="3" name="Platshållare för innehåll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endParaRPr lang="sv-SE" dirty="0"/>
          </a:p>
          <a:p>
            <a:pPr marL="0" indent="0">
              <a:buNone/>
            </a:pPr>
            <a:endParaRPr lang="sv-SE" dirty="0"/>
          </a:p>
        </p:txBody>
      </p:sp>
      <p:sp>
        <p:nvSpPr>
          <p:cNvPr id="5" name="textruta 4"/>
          <p:cNvSpPr txBox="1"/>
          <p:nvPr/>
        </p:nvSpPr>
        <p:spPr>
          <a:xfrm>
            <a:off x="2348819" y="1608750"/>
            <a:ext cx="76917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3200" dirty="0"/>
              <a:t>CAN bus </a:t>
            </a:r>
            <a:r>
              <a:rPr lang="sv-SE" sz="3200" dirty="0" err="1"/>
              <a:t>identifiers</a:t>
            </a:r>
            <a:r>
              <a:rPr lang="sv-SE" sz="3200" dirty="0"/>
              <a:t> </a:t>
            </a:r>
            <a:r>
              <a:rPr lang="sv-SE" sz="3200" dirty="0" err="1"/>
              <a:t>determine</a:t>
            </a:r>
            <a:r>
              <a:rPr lang="sv-SE" sz="3200" dirty="0"/>
              <a:t> bus </a:t>
            </a:r>
            <a:r>
              <a:rPr lang="sv-SE" sz="3200" dirty="0" err="1"/>
              <a:t>priority</a:t>
            </a:r>
            <a:endParaRPr lang="sv-SE" sz="3200" dirty="0"/>
          </a:p>
        </p:txBody>
      </p:sp>
    </p:spTree>
    <p:extLst>
      <p:ext uri="{BB962C8B-B14F-4D97-AF65-F5344CB8AC3E}">
        <p14:creationId xmlns:p14="http://schemas.microsoft.com/office/powerpoint/2010/main" val="2794208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Bug in a vendor’s CAN stack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©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BDF590-D770-4372-AF98-553753C786FD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25" name="Group 24"/>
          <p:cNvGrpSpPr/>
          <p:nvPr/>
        </p:nvGrpSpPr>
        <p:grpSpPr>
          <a:xfrm>
            <a:off x="1981200" y="1904998"/>
            <a:ext cx="8077200" cy="3581402"/>
            <a:chOff x="948506" y="2699629"/>
            <a:chExt cx="4540582" cy="1449452"/>
          </a:xfrm>
        </p:grpSpPr>
        <p:sp>
          <p:nvSpPr>
            <p:cNvPr id="9" name="Rektangel med rundade hörn 20"/>
            <p:cNvSpPr/>
            <p:nvPr/>
          </p:nvSpPr>
          <p:spPr>
            <a:xfrm>
              <a:off x="2460526" y="278092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send</a:t>
              </a:r>
              <a:r>
                <a:rPr lang="sv-SE" sz="3200" dirty="0">
                  <a:solidFill>
                    <a:schemeClr val="tx1"/>
                  </a:solidFill>
                </a:rPr>
                <a:t> </a:t>
              </a:r>
              <a:r>
                <a:rPr lang="sv-SE" sz="3200" dirty="0" err="1">
                  <a:solidFill>
                    <a:schemeClr val="tx1"/>
                  </a:solidFill>
                </a:rPr>
                <a:t>priority</a:t>
              </a:r>
              <a:r>
                <a:rPr lang="sv-SE" sz="3200" dirty="0">
                  <a:solidFill>
                    <a:schemeClr val="tx1"/>
                  </a:solidFill>
                </a:rPr>
                <a:t> 1</a:t>
              </a:r>
            </a:p>
          </p:txBody>
        </p:sp>
        <p:sp>
          <p:nvSpPr>
            <p:cNvPr id="10" name="Rektangel med rundade hörn 30"/>
            <p:cNvSpPr/>
            <p:nvPr/>
          </p:nvSpPr>
          <p:spPr>
            <a:xfrm>
              <a:off x="2460526" y="3140969"/>
              <a:ext cx="1635017" cy="288032"/>
            </a:xfrm>
            <a:prstGeom prst="roundRect">
              <a:avLst/>
            </a:prstGeom>
            <a:solidFill>
              <a:srgbClr val="FFC00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send</a:t>
              </a:r>
              <a:r>
                <a:rPr lang="sv-SE" sz="3200" dirty="0">
                  <a:solidFill>
                    <a:schemeClr val="tx1"/>
                  </a:solidFill>
                </a:rPr>
                <a:t> </a:t>
              </a:r>
              <a:r>
                <a:rPr lang="sv-SE" sz="3200" dirty="0" err="1">
                  <a:solidFill>
                    <a:schemeClr val="tx1"/>
                  </a:solidFill>
                </a:rPr>
                <a:t>priority</a:t>
              </a:r>
              <a:r>
                <a:rPr lang="sv-SE" sz="3200" dirty="0">
                  <a:solidFill>
                    <a:schemeClr val="tx1"/>
                  </a:solidFill>
                </a:rPr>
                <a:t> 2</a:t>
              </a:r>
            </a:p>
          </p:txBody>
        </p:sp>
        <p:sp>
          <p:nvSpPr>
            <p:cNvPr id="11" name="Rektangel med rundade hörn 31"/>
            <p:cNvSpPr/>
            <p:nvPr/>
          </p:nvSpPr>
          <p:spPr>
            <a:xfrm>
              <a:off x="2460526" y="350100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send</a:t>
              </a:r>
              <a:r>
                <a:rPr lang="sv-SE" sz="3200" dirty="0">
                  <a:solidFill>
                    <a:schemeClr val="tx1"/>
                  </a:solidFill>
                </a:rPr>
                <a:t> </a:t>
              </a:r>
              <a:r>
                <a:rPr lang="sv-SE" sz="3200" dirty="0" err="1">
                  <a:solidFill>
                    <a:schemeClr val="tx1"/>
                  </a:solidFill>
                </a:rPr>
                <a:t>priority</a:t>
              </a:r>
              <a:r>
                <a:rPr lang="sv-SE" sz="3200" dirty="0">
                  <a:solidFill>
                    <a:schemeClr val="tx1"/>
                  </a:solidFill>
                </a:rPr>
                <a:t> 3</a:t>
              </a:r>
            </a:p>
          </p:txBody>
        </p:sp>
        <p:sp>
          <p:nvSpPr>
            <p:cNvPr id="12" name="Rektangel med rundade hörn 32"/>
            <p:cNvSpPr/>
            <p:nvPr/>
          </p:nvSpPr>
          <p:spPr>
            <a:xfrm>
              <a:off x="2460526" y="3861049"/>
              <a:ext cx="1635017" cy="288032"/>
            </a:xfrm>
            <a:prstGeom prst="roundRect">
              <a:avLst/>
            </a:prstGeom>
            <a:solidFill>
              <a:schemeClr val="bg1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 err="1">
                  <a:solidFill>
                    <a:schemeClr val="tx1"/>
                  </a:solidFill>
                </a:rPr>
                <a:t>tx_confirm</a:t>
              </a:r>
              <a:endParaRPr lang="sv-SE" sz="3200" dirty="0">
                <a:solidFill>
                  <a:schemeClr val="tx1"/>
                </a:solidFill>
              </a:endParaRPr>
            </a:p>
          </p:txBody>
        </p:sp>
        <p:cxnSp>
          <p:nvCxnSpPr>
            <p:cNvPr id="13" name="Rak pil 22"/>
            <p:cNvCxnSpPr/>
            <p:nvPr/>
          </p:nvCxnSpPr>
          <p:spPr>
            <a:xfrm>
              <a:off x="4095543" y="2996953"/>
              <a:ext cx="131308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ruta 23"/>
            <p:cNvSpPr txBox="1"/>
            <p:nvPr/>
          </p:nvSpPr>
          <p:spPr>
            <a:xfrm>
              <a:off x="4188718" y="2699629"/>
              <a:ext cx="1080120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3200" dirty="0" err="1"/>
                <a:t>sending</a:t>
              </a:r>
              <a:r>
                <a:rPr lang="sv-SE" sz="3200" dirty="0"/>
                <a:t> 1</a:t>
              </a:r>
            </a:p>
          </p:txBody>
        </p:sp>
        <p:cxnSp>
          <p:nvCxnSpPr>
            <p:cNvPr id="15" name="Rak pil 36"/>
            <p:cNvCxnSpPr/>
            <p:nvPr/>
          </p:nvCxnSpPr>
          <p:spPr>
            <a:xfrm>
              <a:off x="4116710" y="4077073"/>
              <a:ext cx="131308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ruta 37"/>
            <p:cNvSpPr txBox="1"/>
            <p:nvPr/>
          </p:nvSpPr>
          <p:spPr>
            <a:xfrm>
              <a:off x="4209885" y="3779749"/>
              <a:ext cx="1198743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3200" dirty="0" err="1">
                  <a:solidFill>
                    <a:srgbClr val="FF0000"/>
                  </a:solidFill>
                </a:rPr>
                <a:t>sending</a:t>
              </a:r>
              <a:r>
                <a:rPr lang="sv-SE" sz="3200" dirty="0">
                  <a:solidFill>
                    <a:srgbClr val="FF0000"/>
                  </a:solidFill>
                </a:rPr>
                <a:t> 3</a:t>
              </a:r>
            </a:p>
          </p:txBody>
        </p:sp>
        <p:cxnSp>
          <p:nvCxnSpPr>
            <p:cNvPr id="17" name="Rak pil 38"/>
            <p:cNvCxnSpPr/>
            <p:nvPr/>
          </p:nvCxnSpPr>
          <p:spPr>
            <a:xfrm>
              <a:off x="1147441" y="4086365"/>
              <a:ext cx="1313085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ruta 39"/>
            <p:cNvSpPr txBox="1"/>
            <p:nvPr/>
          </p:nvSpPr>
          <p:spPr>
            <a:xfrm>
              <a:off x="1240616" y="3789041"/>
              <a:ext cx="1080120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sz="3200" dirty="0"/>
                <a:t>1 sent</a:t>
              </a:r>
            </a:p>
          </p:txBody>
        </p:sp>
        <p:sp>
          <p:nvSpPr>
            <p:cNvPr id="19" name="Rundad rektangulär 26"/>
            <p:cNvSpPr/>
            <p:nvPr/>
          </p:nvSpPr>
          <p:spPr>
            <a:xfrm rot="20411715">
              <a:off x="948506" y="2885102"/>
              <a:ext cx="1173295" cy="504056"/>
            </a:xfrm>
            <a:prstGeom prst="wedgeRoundRectCallout">
              <a:avLst>
                <a:gd name="adj1" fmla="val 42767"/>
                <a:gd name="adj2" fmla="val 102282"/>
                <a:gd name="adj3" fmla="val 16667"/>
              </a:avLst>
            </a:prstGeom>
            <a:solidFill>
              <a:srgbClr val="FAEAA8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sv-SE" sz="3200" dirty="0">
                  <a:solidFill>
                    <a:schemeClr val="tx1"/>
                  </a:solidFill>
                </a:rPr>
                <a:t>CAN bus</a:t>
              </a:r>
            </a:p>
          </p:txBody>
        </p:sp>
        <p:sp>
          <p:nvSpPr>
            <p:cNvPr id="20" name="Höger klammerparentes 27"/>
            <p:cNvSpPr/>
            <p:nvPr/>
          </p:nvSpPr>
          <p:spPr>
            <a:xfrm>
              <a:off x="4188718" y="3140969"/>
              <a:ext cx="255639" cy="638780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sv-SE" sz="3200"/>
            </a:p>
          </p:txBody>
        </p:sp>
        <p:sp>
          <p:nvSpPr>
            <p:cNvPr id="21" name="textruta 43"/>
            <p:cNvSpPr txBox="1"/>
            <p:nvPr/>
          </p:nvSpPr>
          <p:spPr>
            <a:xfrm>
              <a:off x="4408968" y="3275693"/>
              <a:ext cx="1080120" cy="23666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3200" dirty="0" err="1"/>
                <a:t>queued</a:t>
              </a:r>
              <a:endParaRPr lang="sv-SE" sz="3200" dirty="0"/>
            </a:p>
          </p:txBody>
        </p:sp>
      </p:grpSp>
      <p:sp>
        <p:nvSpPr>
          <p:cNvPr id="3" name="Rektangel 2"/>
          <p:cNvSpPr/>
          <p:nvPr/>
        </p:nvSpPr>
        <p:spPr>
          <a:xfrm>
            <a:off x="2136248" y="5715000"/>
            <a:ext cx="792215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sz="3200" dirty="0" err="1"/>
              <a:t>Failed</a:t>
            </a:r>
            <a:r>
              <a:rPr lang="sv-SE" sz="3200" dirty="0"/>
              <a:t> </a:t>
            </a:r>
            <a:r>
              <a:rPr lang="sv-SE" sz="3200" dirty="0" err="1"/>
              <a:t>to</a:t>
            </a:r>
            <a:r>
              <a:rPr lang="sv-SE" sz="3200" dirty="0"/>
              <a:t> mask off the </a:t>
            </a:r>
            <a:r>
              <a:rPr lang="sv-SE" sz="3200" dirty="0" err="1"/>
              <a:t>top</a:t>
            </a:r>
            <a:r>
              <a:rPr lang="sv-SE" sz="3200" dirty="0"/>
              <a:t> bit </a:t>
            </a:r>
            <a:r>
              <a:rPr lang="sv-SE" sz="3200" dirty="0" err="1"/>
              <a:t>before</a:t>
            </a:r>
            <a:r>
              <a:rPr lang="sv-SE" sz="3200" dirty="0"/>
              <a:t> </a:t>
            </a:r>
            <a:r>
              <a:rPr lang="sv-SE" sz="3200" dirty="0" err="1"/>
              <a:t>comparing</a:t>
            </a:r>
            <a:r>
              <a:rPr lang="sv-SE" sz="3200" dirty="0"/>
              <a:t> </a:t>
            </a:r>
            <a:r>
              <a:rPr lang="sv-SE" sz="3200" dirty="0" err="1"/>
              <a:t>priorities</a:t>
            </a:r>
            <a:endParaRPr lang="sv-SE" sz="3200" dirty="0"/>
          </a:p>
        </p:txBody>
      </p:sp>
    </p:spTree>
    <p:extLst>
      <p:ext uri="{BB962C8B-B14F-4D97-AF65-F5344CB8AC3E}">
        <p14:creationId xmlns:p14="http://schemas.microsoft.com/office/powerpoint/2010/main" val="39690578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ruta 3"/>
          <p:cNvSpPr txBox="1"/>
          <p:nvPr/>
        </p:nvSpPr>
        <p:spPr>
          <a:xfrm>
            <a:off x="1969677" y="640080"/>
            <a:ext cx="898082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600" dirty="0"/>
              <a:t>3,000</a:t>
            </a:r>
            <a:r>
              <a:rPr lang="sv-SE" sz="4800" dirty="0"/>
              <a:t> </a:t>
            </a:r>
            <a:r>
              <a:rPr lang="sv-SE" sz="4400" dirty="0"/>
              <a:t>pages </a:t>
            </a:r>
            <a:r>
              <a:rPr lang="sv-SE" sz="4400" dirty="0" err="1"/>
              <a:t>of</a:t>
            </a:r>
            <a:r>
              <a:rPr lang="sv-SE" sz="4400" dirty="0"/>
              <a:t> </a:t>
            </a:r>
            <a:r>
              <a:rPr lang="sv-SE" sz="4400" dirty="0" err="1"/>
              <a:t>specifications</a:t>
            </a:r>
            <a:endParaRPr lang="sv-SE" sz="4400" dirty="0"/>
          </a:p>
        </p:txBody>
      </p:sp>
      <p:sp>
        <p:nvSpPr>
          <p:cNvPr id="5" name="textruta 4"/>
          <p:cNvSpPr txBox="1"/>
          <p:nvPr/>
        </p:nvSpPr>
        <p:spPr>
          <a:xfrm>
            <a:off x="1969677" y="1665684"/>
            <a:ext cx="868642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600" dirty="0"/>
              <a:t>20,000</a:t>
            </a:r>
            <a:r>
              <a:rPr lang="sv-SE" sz="4800" dirty="0"/>
              <a:t> </a:t>
            </a:r>
            <a:r>
              <a:rPr lang="sv-SE" sz="4400" dirty="0" err="1"/>
              <a:t>lines</a:t>
            </a:r>
            <a:r>
              <a:rPr lang="sv-SE" sz="4400" dirty="0"/>
              <a:t> </a:t>
            </a:r>
            <a:r>
              <a:rPr lang="sv-SE" sz="4400" dirty="0" err="1"/>
              <a:t>of</a:t>
            </a:r>
            <a:r>
              <a:rPr lang="sv-SE" sz="4400" dirty="0"/>
              <a:t> </a:t>
            </a:r>
            <a:r>
              <a:rPr lang="sv-SE" sz="4400" dirty="0" err="1"/>
              <a:t>QuickCheck</a:t>
            </a:r>
            <a:endParaRPr lang="sv-SE" sz="4400" dirty="0"/>
          </a:p>
        </p:txBody>
      </p:sp>
      <p:sp>
        <p:nvSpPr>
          <p:cNvPr id="6" name="textruta 5"/>
          <p:cNvSpPr txBox="1"/>
          <p:nvPr/>
        </p:nvSpPr>
        <p:spPr>
          <a:xfrm>
            <a:off x="1969676" y="2732484"/>
            <a:ext cx="9056649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600" dirty="0"/>
              <a:t>1,000,000</a:t>
            </a:r>
            <a:r>
              <a:rPr lang="sv-SE" sz="4400" dirty="0"/>
              <a:t> LOC, </a:t>
            </a:r>
            <a:r>
              <a:rPr lang="sv-SE" sz="6600" dirty="0"/>
              <a:t>6</a:t>
            </a:r>
            <a:r>
              <a:rPr lang="sv-SE" sz="4800" dirty="0"/>
              <a:t> </a:t>
            </a:r>
            <a:r>
              <a:rPr lang="sv-SE" sz="4400" dirty="0" err="1"/>
              <a:t>suppliers</a:t>
            </a:r>
            <a:endParaRPr lang="sv-SE" sz="4400" dirty="0"/>
          </a:p>
        </p:txBody>
      </p:sp>
      <p:sp>
        <p:nvSpPr>
          <p:cNvPr id="7" name="textruta 6"/>
          <p:cNvSpPr txBox="1"/>
          <p:nvPr/>
        </p:nvSpPr>
        <p:spPr>
          <a:xfrm>
            <a:off x="1969677" y="3764280"/>
            <a:ext cx="75438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600" dirty="0"/>
              <a:t>200</a:t>
            </a:r>
            <a:r>
              <a:rPr lang="sv-SE" sz="4800" dirty="0"/>
              <a:t> </a:t>
            </a:r>
            <a:r>
              <a:rPr lang="sv-SE" sz="4400" dirty="0"/>
              <a:t>problems</a:t>
            </a:r>
          </a:p>
        </p:txBody>
      </p:sp>
      <p:sp>
        <p:nvSpPr>
          <p:cNvPr id="8" name="textruta 7"/>
          <p:cNvSpPr txBox="1"/>
          <p:nvPr/>
        </p:nvSpPr>
        <p:spPr>
          <a:xfrm>
            <a:off x="1969677" y="4789884"/>
            <a:ext cx="87176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6600" dirty="0"/>
              <a:t>100</a:t>
            </a:r>
            <a:r>
              <a:rPr lang="sv-SE" sz="4800" dirty="0"/>
              <a:t> </a:t>
            </a:r>
            <a:r>
              <a:rPr lang="sv-SE" sz="4400" dirty="0"/>
              <a:t>problems in the standard</a:t>
            </a:r>
          </a:p>
        </p:txBody>
      </p:sp>
    </p:spTree>
    <p:extLst>
      <p:ext uri="{BB962C8B-B14F-4D97-AF65-F5344CB8AC3E}">
        <p14:creationId xmlns:p14="http://schemas.microsoft.com/office/powerpoint/2010/main" val="576165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F5448B9-FAE8-F4B1-CDB7-87A0AEBF6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Cyberphysical</a:t>
            </a:r>
            <a:r>
              <a:rPr lang="sv-SE" dirty="0"/>
              <a:t> Systems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599274B0-6445-458B-82F5-14882A9FAD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718866"/>
          </a:xfrm>
        </p:spPr>
        <p:txBody>
          <a:bodyPr>
            <a:normAutofit/>
          </a:bodyPr>
          <a:lstStyle/>
          <a:p>
            <a:r>
              <a:rPr lang="sv-SE" dirty="0"/>
              <a:t>Combination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i="1" dirty="0" err="1"/>
              <a:t>discrete</a:t>
            </a:r>
            <a:r>
              <a:rPr lang="sv-SE" dirty="0"/>
              <a:t> and </a:t>
            </a:r>
            <a:r>
              <a:rPr lang="sv-SE" i="1" dirty="0"/>
              <a:t>continuous</a:t>
            </a:r>
            <a:r>
              <a:rPr lang="sv-SE" dirty="0"/>
              <a:t> </a:t>
            </a:r>
            <a:r>
              <a:rPr lang="sv-SE" dirty="0" err="1"/>
              <a:t>behaviour</a:t>
            </a:r>
            <a:endParaRPr lang="sv-SE" dirty="0"/>
          </a:p>
          <a:p>
            <a:endParaRPr lang="sv-SE" dirty="0"/>
          </a:p>
          <a:p>
            <a:r>
              <a:rPr lang="sv-SE" i="1" dirty="0" err="1"/>
              <a:t>Example</a:t>
            </a:r>
            <a:r>
              <a:rPr lang="sv-SE" i="1" dirty="0"/>
              <a:t>: </a:t>
            </a:r>
            <a:r>
              <a:rPr lang="sv-SE" dirty="0"/>
              <a:t>adaptive </a:t>
            </a:r>
            <a:r>
              <a:rPr lang="sv-SE" dirty="0" err="1"/>
              <a:t>cruise</a:t>
            </a:r>
            <a:r>
              <a:rPr lang="sv-SE" dirty="0"/>
              <a:t> </a:t>
            </a:r>
            <a:r>
              <a:rPr lang="sv-SE" dirty="0" err="1"/>
              <a:t>control</a:t>
            </a:r>
            <a:endParaRPr lang="sv-SE" dirty="0"/>
          </a:p>
          <a:p>
            <a:pPr lvl="1"/>
            <a:r>
              <a:rPr lang="sv-SE" dirty="0"/>
              <a:t>Speed/</a:t>
            </a:r>
            <a:r>
              <a:rPr lang="sv-SE" dirty="0" err="1"/>
              <a:t>distance</a:t>
            </a:r>
            <a:r>
              <a:rPr lang="sv-SE" dirty="0"/>
              <a:t>/gas/</a:t>
            </a:r>
            <a:r>
              <a:rPr lang="sv-SE" dirty="0" err="1"/>
              <a:t>brake</a:t>
            </a:r>
            <a:r>
              <a:rPr lang="sv-SE" dirty="0"/>
              <a:t>: </a:t>
            </a:r>
            <a:r>
              <a:rPr lang="sv-SE" i="1" dirty="0" err="1"/>
              <a:t>continuous</a:t>
            </a:r>
            <a:endParaRPr lang="sv-SE" i="1" dirty="0"/>
          </a:p>
          <a:p>
            <a:pPr lvl="1"/>
            <a:r>
              <a:rPr lang="sv-SE" dirty="0" err="1"/>
              <a:t>Hitting</a:t>
            </a:r>
            <a:r>
              <a:rPr lang="sv-SE" dirty="0"/>
              <a:t> the </a:t>
            </a:r>
            <a:r>
              <a:rPr lang="sv-SE" dirty="0" err="1"/>
              <a:t>car</a:t>
            </a:r>
            <a:r>
              <a:rPr lang="sv-SE" dirty="0"/>
              <a:t> in front: </a:t>
            </a:r>
            <a:r>
              <a:rPr lang="sv-SE" i="1" dirty="0" err="1"/>
              <a:t>discrete</a:t>
            </a:r>
            <a:endParaRPr lang="sv-SE" i="1" dirty="0"/>
          </a:p>
          <a:p>
            <a:pPr lvl="1"/>
            <a:endParaRPr lang="sv-SE" i="1" dirty="0"/>
          </a:p>
          <a:p>
            <a:r>
              <a:rPr lang="sv-SE" dirty="0" err="1"/>
              <a:t>Running</a:t>
            </a:r>
            <a:r>
              <a:rPr lang="sv-SE" dirty="0"/>
              <a:t> a test </a:t>
            </a:r>
            <a:r>
              <a:rPr lang="sv-SE" dirty="0">
                <a:sym typeface="Wingdings" panose="05000000000000000000" pitchFamily="2" charset="2"/>
              </a:rPr>
              <a:t> </a:t>
            </a:r>
            <a:r>
              <a:rPr lang="sv-SE" dirty="0" err="1">
                <a:sym typeface="Wingdings" panose="05000000000000000000" pitchFamily="2" charset="2"/>
              </a:rPr>
              <a:t>running</a:t>
            </a:r>
            <a:r>
              <a:rPr lang="sv-SE" dirty="0">
                <a:sym typeface="Wingdings" panose="05000000000000000000" pitchFamily="2" charset="2"/>
              </a:rPr>
              <a:t> a simulation: </a:t>
            </a:r>
            <a:r>
              <a:rPr lang="sv-SE" i="1" dirty="0">
                <a:sym typeface="Wingdings" panose="05000000000000000000" pitchFamily="2" charset="2"/>
              </a:rPr>
              <a:t>expensive</a:t>
            </a:r>
            <a:endParaRPr lang="sv-SE" dirty="0"/>
          </a:p>
          <a:p>
            <a:pPr lvl="1"/>
            <a:endParaRPr lang="sv-SE" i="1" dirty="0"/>
          </a:p>
          <a:p>
            <a:pPr marL="0" indent="0">
              <a:buNone/>
            </a:pPr>
            <a:r>
              <a:rPr lang="sv-SE" b="1" dirty="0">
                <a:solidFill>
                  <a:srgbClr val="FF0000"/>
                </a:solidFill>
              </a:rPr>
              <a:t>What is a test </a:t>
            </a:r>
            <a:r>
              <a:rPr lang="sv-SE" b="1" dirty="0" err="1">
                <a:solidFill>
                  <a:srgbClr val="FF0000"/>
                </a:solidFill>
              </a:rPr>
              <a:t>case</a:t>
            </a:r>
            <a:r>
              <a:rPr lang="sv-SE" b="1" dirty="0">
                <a:solidFill>
                  <a:srgbClr val="FF0000"/>
                </a:solidFill>
              </a:rPr>
              <a:t>?</a:t>
            </a:r>
          </a:p>
          <a:p>
            <a:r>
              <a:rPr lang="sv-SE" dirty="0" err="1"/>
              <a:t>Arbitrary</a:t>
            </a:r>
            <a:r>
              <a:rPr lang="sv-SE" dirty="0"/>
              <a:t> data + N </a:t>
            </a:r>
            <a:r>
              <a:rPr lang="sv-SE" i="1" dirty="0"/>
              <a:t>real parameters </a:t>
            </a:r>
            <a:r>
              <a:rPr lang="sv-SE" dirty="0">
                <a:solidFill>
                  <a:schemeClr val="bg1">
                    <a:lumMod val="65000"/>
                  </a:schemeClr>
                </a:solidFill>
              </a:rPr>
              <a:t>(</a:t>
            </a:r>
            <a:r>
              <a:rPr lang="sv-SE" dirty="0" err="1">
                <a:solidFill>
                  <a:schemeClr val="bg1">
                    <a:lumMod val="65000"/>
                  </a:schemeClr>
                </a:solidFill>
              </a:rPr>
              <a:t>e.g</a:t>
            </a:r>
            <a:r>
              <a:rPr lang="sv-SE" dirty="0">
                <a:solidFill>
                  <a:schemeClr val="bg1">
                    <a:lumMod val="65000"/>
                  </a:schemeClr>
                </a:solidFill>
              </a:rPr>
              <a:t>. </a:t>
            </a:r>
            <a:r>
              <a:rPr lang="sv-SE" dirty="0" err="1">
                <a:solidFill>
                  <a:schemeClr val="bg1">
                    <a:lumMod val="65000"/>
                  </a:schemeClr>
                </a:solidFill>
              </a:rPr>
              <a:t>wavelength</a:t>
            </a:r>
            <a:r>
              <a:rPr lang="sv-SE" dirty="0">
                <a:solidFill>
                  <a:schemeClr val="bg1">
                    <a:lumMod val="65000"/>
                  </a:schemeClr>
                </a:solidFill>
              </a:rPr>
              <a:t>, </a:t>
            </a:r>
            <a:r>
              <a:rPr lang="sv-SE" dirty="0" err="1">
                <a:solidFill>
                  <a:schemeClr val="bg1">
                    <a:lumMod val="65000"/>
                  </a:schemeClr>
                </a:solidFill>
              </a:rPr>
              <a:t>amplitude</a:t>
            </a:r>
            <a:r>
              <a:rPr lang="sv-SE" dirty="0">
                <a:solidFill>
                  <a:schemeClr val="bg1">
                    <a:lumMod val="65000"/>
                  </a:schemeClr>
                </a:solidFill>
              </a:rPr>
              <a:t>…)</a:t>
            </a:r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E4C8646C-DCFF-7372-7C7F-2DF9A942A049}"/>
              </a:ext>
            </a:extLst>
          </p:cNvPr>
          <p:cNvSpPr txBox="1"/>
          <p:nvPr/>
        </p:nvSpPr>
        <p:spPr>
          <a:xfrm>
            <a:off x="6971742" y="213360"/>
            <a:ext cx="51106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0" i="0" u="none" strike="noStrike" baseline="0" dirty="0">
                <a:latin typeface="Times New Roman" panose="02020603050405020304" pitchFamily="18" charset="0"/>
              </a:rPr>
              <a:t>Ramezani, Z., Claessen, K., Smallbone, N. et al (2022). Testing Cyber-Physical Systems Using a Line-Search Falsification Method. IEEE Transactions on Computer-Aided Design of Integrated </a:t>
            </a:r>
            <a:r>
              <a:rPr lang="sv-SE" sz="1200" b="0" i="0" u="none" strike="noStrike" baseline="0" dirty="0">
                <a:latin typeface="Times New Roman" panose="02020603050405020304" pitchFamily="18" charset="0"/>
              </a:rPr>
              <a:t>Circuits and Systems, 41(8)</a:t>
            </a:r>
            <a:endParaRPr lang="sv-SE" sz="1200" dirty="0"/>
          </a:p>
        </p:txBody>
      </p:sp>
      <p:grpSp>
        <p:nvGrpSpPr>
          <p:cNvPr id="7" name="Grupp 6">
            <a:extLst>
              <a:ext uri="{FF2B5EF4-FFF2-40B4-BE49-F238E27FC236}">
                <a16:creationId xmlns:a16="http://schemas.microsoft.com/office/drawing/2014/main" id="{903CAF8A-2BB8-4F6A-3D82-47562391665E}"/>
              </a:ext>
            </a:extLst>
          </p:cNvPr>
          <p:cNvGrpSpPr/>
          <p:nvPr/>
        </p:nvGrpSpPr>
        <p:grpSpPr>
          <a:xfrm>
            <a:off x="5367867" y="5125934"/>
            <a:ext cx="4884275" cy="838833"/>
            <a:chOff x="5367867" y="5125934"/>
            <a:chExt cx="4884275" cy="838833"/>
          </a:xfrm>
        </p:grpSpPr>
        <p:sp>
          <p:nvSpPr>
            <p:cNvPr id="4" name="Frihandsfigur: Form 3">
              <a:extLst>
                <a:ext uri="{FF2B5EF4-FFF2-40B4-BE49-F238E27FC236}">
                  <a16:creationId xmlns:a16="http://schemas.microsoft.com/office/drawing/2014/main" id="{E29DFD6B-394E-1CB3-50B9-9652630C2237}"/>
                </a:ext>
              </a:extLst>
            </p:cNvPr>
            <p:cNvSpPr/>
            <p:nvPr/>
          </p:nvSpPr>
          <p:spPr>
            <a:xfrm>
              <a:off x="5367867" y="5541433"/>
              <a:ext cx="728133" cy="423334"/>
            </a:xfrm>
            <a:custGeom>
              <a:avLst/>
              <a:gdLst>
                <a:gd name="connsiteX0" fmla="*/ 0 w 728133"/>
                <a:gd name="connsiteY0" fmla="*/ 423334 h 423334"/>
                <a:gd name="connsiteX1" fmla="*/ 275166 w 728133"/>
                <a:gd name="connsiteY1" fmla="*/ 152400 h 423334"/>
                <a:gd name="connsiteX2" fmla="*/ 728133 w 728133"/>
                <a:gd name="connsiteY2" fmla="*/ 0 h 4233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28133" h="423334">
                  <a:moveTo>
                    <a:pt x="0" y="423334"/>
                  </a:moveTo>
                  <a:cubicBezTo>
                    <a:pt x="76905" y="323145"/>
                    <a:pt x="153811" y="222956"/>
                    <a:pt x="275166" y="152400"/>
                  </a:cubicBezTo>
                  <a:cubicBezTo>
                    <a:pt x="396522" y="81844"/>
                    <a:pt x="562327" y="40922"/>
                    <a:pt x="728133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  <a:headEnd type="stealth" w="lg" len="lg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sp>
          <p:nvSpPr>
            <p:cNvPr id="6" name="textruta 5">
              <a:extLst>
                <a:ext uri="{FF2B5EF4-FFF2-40B4-BE49-F238E27FC236}">
                  <a16:creationId xmlns:a16="http://schemas.microsoft.com/office/drawing/2014/main" id="{DA97DB10-BC2B-98F7-9E7C-B2CA1FB22D00}"/>
                </a:ext>
              </a:extLst>
            </p:cNvPr>
            <p:cNvSpPr txBox="1"/>
            <p:nvPr/>
          </p:nvSpPr>
          <p:spPr>
            <a:xfrm>
              <a:off x="6128876" y="5125934"/>
              <a:ext cx="4123266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i="1" dirty="0" err="1">
                  <a:solidFill>
                    <a:srgbClr val="FF0000"/>
                  </a:solidFill>
                </a:rPr>
                <a:t>Sometimes</a:t>
              </a:r>
              <a:r>
                <a:rPr lang="sv-SE" sz="2400" i="1" dirty="0">
                  <a:solidFill>
                    <a:srgbClr val="FF0000"/>
                  </a:solidFill>
                </a:rPr>
                <a:t> </a:t>
              </a:r>
              <a:r>
                <a:rPr lang="sv-SE" sz="2400" i="1" dirty="0" err="1">
                  <a:solidFill>
                    <a:srgbClr val="FF0000"/>
                  </a:solidFill>
                </a:rPr>
                <a:t>random</a:t>
              </a:r>
              <a:r>
                <a:rPr lang="sv-SE" sz="2400" i="1" dirty="0">
                  <a:solidFill>
                    <a:srgbClr val="FF0000"/>
                  </a:solidFill>
                </a:rPr>
                <a:t> generation is not </a:t>
              </a:r>
              <a:r>
                <a:rPr lang="sv-SE" sz="2400" i="1" dirty="0" err="1">
                  <a:solidFill>
                    <a:srgbClr val="FF0000"/>
                  </a:solidFill>
                </a:rPr>
                <a:t>enough</a:t>
              </a:r>
              <a:endParaRPr lang="sv-SE" sz="2400" i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8" name="textruta 7">
            <a:extLst>
              <a:ext uri="{FF2B5EF4-FFF2-40B4-BE49-F238E27FC236}">
                <a16:creationId xmlns:a16="http://schemas.microsoft.com/office/drawing/2014/main" id="{27C7B21A-9758-E4B7-111D-F8ED204F550D}"/>
              </a:ext>
            </a:extLst>
          </p:cNvPr>
          <p:cNvSpPr txBox="1"/>
          <p:nvPr/>
        </p:nvSpPr>
        <p:spPr>
          <a:xfrm>
            <a:off x="5863952" y="305692"/>
            <a:ext cx="11077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sv-SE" sz="2400" b="0" i="0" dirty="0" err="1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SyTeC</a:t>
            </a:r>
            <a:endParaRPr lang="sv-SE" sz="2400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260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79A3555-2D8C-8073-9CA1-9DF842861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Example</a:t>
            </a:r>
            <a:r>
              <a:rPr lang="sv-SE" dirty="0"/>
              <a:t>: Distance to </a:t>
            </a:r>
            <a:r>
              <a:rPr lang="sv-SE" dirty="0" err="1"/>
              <a:t>car</a:t>
            </a:r>
            <a:r>
              <a:rPr lang="sv-SE" dirty="0"/>
              <a:t> in front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C4871F4E-D160-A6A7-E9CC-2932D4D0AFC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98286228"/>
              </p:ext>
            </p:extLst>
          </p:nvPr>
        </p:nvGraphicFramePr>
        <p:xfrm>
          <a:off x="992152" y="1613176"/>
          <a:ext cx="2911475" cy="31305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511ED01-B600-5213-AAE8-BDA9A2C5E5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35842758"/>
              </p:ext>
            </p:extLst>
          </p:nvPr>
        </p:nvGraphicFramePr>
        <p:xfrm>
          <a:off x="4464809" y="1616351"/>
          <a:ext cx="2714625" cy="3124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75E5EEA9-936A-E262-1449-5B98A08C7C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30552883"/>
              </p:ext>
            </p:extLst>
          </p:nvPr>
        </p:nvGraphicFramePr>
        <p:xfrm>
          <a:off x="7740615" y="1641751"/>
          <a:ext cx="2676525" cy="31051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tjärna: 5 punkter 6">
            <a:extLst>
              <a:ext uri="{FF2B5EF4-FFF2-40B4-BE49-F238E27FC236}">
                <a16:creationId xmlns:a16="http://schemas.microsoft.com/office/drawing/2014/main" id="{E102FBCA-B047-292F-163B-4E6D5096C7F5}"/>
              </a:ext>
            </a:extLst>
          </p:cNvPr>
          <p:cNvSpPr/>
          <p:nvPr/>
        </p:nvSpPr>
        <p:spPr>
          <a:xfrm>
            <a:off x="8735440" y="4074016"/>
            <a:ext cx="343437" cy="334851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A83468C7-DD34-5354-4C5C-4687A09013FC}"/>
              </a:ext>
            </a:extLst>
          </p:cNvPr>
          <p:cNvSpPr txBox="1"/>
          <p:nvPr/>
        </p:nvSpPr>
        <p:spPr>
          <a:xfrm>
            <a:off x="8425861" y="4746901"/>
            <a:ext cx="146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solidFill>
                  <a:srgbClr val="FF0000"/>
                </a:solidFill>
              </a:rPr>
              <a:t>FAIL</a:t>
            </a:r>
          </a:p>
        </p:txBody>
      </p:sp>
      <p:sp>
        <p:nvSpPr>
          <p:cNvPr id="9" name="textruta 8">
            <a:extLst>
              <a:ext uri="{FF2B5EF4-FFF2-40B4-BE49-F238E27FC236}">
                <a16:creationId xmlns:a16="http://schemas.microsoft.com/office/drawing/2014/main" id="{553F610A-E9CA-3E8E-5B2E-6A67678B207A}"/>
              </a:ext>
            </a:extLst>
          </p:cNvPr>
          <p:cNvSpPr txBox="1"/>
          <p:nvPr/>
        </p:nvSpPr>
        <p:spPr>
          <a:xfrm>
            <a:off x="5088371" y="4746901"/>
            <a:ext cx="146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solidFill>
                  <a:srgbClr val="00B050"/>
                </a:solidFill>
              </a:rPr>
              <a:t>PASS</a:t>
            </a:r>
          </a:p>
        </p:txBody>
      </p:sp>
      <p:sp>
        <p:nvSpPr>
          <p:cNvPr id="10" name="textruta 9">
            <a:extLst>
              <a:ext uri="{FF2B5EF4-FFF2-40B4-BE49-F238E27FC236}">
                <a16:creationId xmlns:a16="http://schemas.microsoft.com/office/drawing/2014/main" id="{D29A599C-EDD3-1823-1876-F0E465EC3726}"/>
              </a:ext>
            </a:extLst>
          </p:cNvPr>
          <p:cNvSpPr txBox="1"/>
          <p:nvPr/>
        </p:nvSpPr>
        <p:spPr>
          <a:xfrm>
            <a:off x="1714139" y="4746901"/>
            <a:ext cx="14675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sv-SE" sz="3600" b="1" dirty="0">
                <a:solidFill>
                  <a:srgbClr val="00B050"/>
                </a:solidFill>
              </a:rPr>
              <a:t>PASS</a:t>
            </a:r>
          </a:p>
        </p:txBody>
      </p:sp>
      <p:sp>
        <p:nvSpPr>
          <p:cNvPr id="15" name="Pil: höger 14">
            <a:extLst>
              <a:ext uri="{FF2B5EF4-FFF2-40B4-BE49-F238E27FC236}">
                <a16:creationId xmlns:a16="http://schemas.microsoft.com/office/drawing/2014/main" id="{BC0816D8-8BCB-F9BD-1D6B-921EA53D8DF3}"/>
              </a:ext>
            </a:extLst>
          </p:cNvPr>
          <p:cNvSpPr/>
          <p:nvPr/>
        </p:nvSpPr>
        <p:spPr>
          <a:xfrm>
            <a:off x="1459605" y="2579703"/>
            <a:ext cx="8182377" cy="127500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sv-SE" sz="4400" dirty="0" err="1"/>
              <a:t>Optimisation</a:t>
            </a:r>
            <a:endParaRPr lang="sv-SE" sz="4400" dirty="0"/>
          </a:p>
        </p:txBody>
      </p:sp>
      <p:grpSp>
        <p:nvGrpSpPr>
          <p:cNvPr id="17" name="Grupp 16">
            <a:extLst>
              <a:ext uri="{FF2B5EF4-FFF2-40B4-BE49-F238E27FC236}">
                <a16:creationId xmlns:a16="http://schemas.microsoft.com/office/drawing/2014/main" id="{C584A98C-A75D-13AA-DA40-E2262D447E9E}"/>
              </a:ext>
            </a:extLst>
          </p:cNvPr>
          <p:cNvGrpSpPr/>
          <p:nvPr/>
        </p:nvGrpSpPr>
        <p:grpSpPr>
          <a:xfrm>
            <a:off x="1032405" y="5463817"/>
            <a:ext cx="9198299" cy="1125168"/>
            <a:chOff x="1032405" y="5463817"/>
            <a:chExt cx="9198299" cy="1125168"/>
          </a:xfrm>
        </p:grpSpPr>
        <p:grpSp>
          <p:nvGrpSpPr>
            <p:cNvPr id="14" name="Grupp 13">
              <a:extLst>
                <a:ext uri="{FF2B5EF4-FFF2-40B4-BE49-F238E27FC236}">
                  <a16:creationId xmlns:a16="http://schemas.microsoft.com/office/drawing/2014/main" id="{010DD201-3483-2047-A1A8-DBBEC5E0DC89}"/>
                </a:ext>
              </a:extLst>
            </p:cNvPr>
            <p:cNvGrpSpPr/>
            <p:nvPr/>
          </p:nvGrpSpPr>
          <p:grpSpPr>
            <a:xfrm>
              <a:off x="1032405" y="5463817"/>
              <a:ext cx="5860809" cy="1125168"/>
              <a:chOff x="1032405" y="5463817"/>
              <a:chExt cx="5860809" cy="1125168"/>
            </a:xfrm>
          </p:grpSpPr>
          <p:sp>
            <p:nvSpPr>
              <p:cNvPr id="11" name="textruta 10">
                <a:extLst>
                  <a:ext uri="{FF2B5EF4-FFF2-40B4-BE49-F238E27FC236}">
                    <a16:creationId xmlns:a16="http://schemas.microsoft.com/office/drawing/2014/main" id="{C1D1D7E0-85C2-0ECC-7C0D-640493625085}"/>
                  </a:ext>
                </a:extLst>
              </p:cNvPr>
              <p:cNvSpPr txBox="1"/>
              <p:nvPr/>
            </p:nvSpPr>
            <p:spPr>
              <a:xfrm>
                <a:off x="1032405" y="5463817"/>
                <a:ext cx="429846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sv-SE" sz="2400" b="1" dirty="0">
                    <a:solidFill>
                      <a:srgbClr val="FF0000"/>
                    </a:solidFill>
                  </a:rPr>
                  <a:t>Distance to </a:t>
                </a:r>
                <a:r>
                  <a:rPr lang="sv-SE" sz="2400" b="1" dirty="0" err="1">
                    <a:solidFill>
                      <a:srgbClr val="FF0000"/>
                    </a:solidFill>
                  </a:rPr>
                  <a:t>False</a:t>
                </a:r>
                <a:r>
                  <a:rPr lang="sv-SE" sz="2400" b="1" dirty="0">
                    <a:solidFill>
                      <a:srgbClr val="FF0000"/>
                    </a:solidFill>
                  </a:rPr>
                  <a:t>:</a:t>
                </a:r>
              </a:p>
            </p:txBody>
          </p:sp>
          <p:sp>
            <p:nvSpPr>
              <p:cNvPr id="12" name="textruta 11">
                <a:extLst>
                  <a:ext uri="{FF2B5EF4-FFF2-40B4-BE49-F238E27FC236}">
                    <a16:creationId xmlns:a16="http://schemas.microsoft.com/office/drawing/2014/main" id="{3DBE270B-3C60-55B8-C562-A5ADF1B83707}"/>
                  </a:ext>
                </a:extLst>
              </p:cNvPr>
              <p:cNvSpPr txBox="1"/>
              <p:nvPr/>
            </p:nvSpPr>
            <p:spPr>
              <a:xfrm>
                <a:off x="1376796" y="5942654"/>
                <a:ext cx="21421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sv-SE" sz="3600" b="1" dirty="0"/>
                  <a:t>5</a:t>
                </a:r>
              </a:p>
            </p:txBody>
          </p:sp>
          <p:sp>
            <p:nvSpPr>
              <p:cNvPr id="13" name="textruta 12">
                <a:extLst>
                  <a:ext uri="{FF2B5EF4-FFF2-40B4-BE49-F238E27FC236}">
                    <a16:creationId xmlns:a16="http://schemas.microsoft.com/office/drawing/2014/main" id="{AFC5458C-C5AF-0396-C1A9-6EB62D2AA798}"/>
                  </a:ext>
                </a:extLst>
              </p:cNvPr>
              <p:cNvSpPr txBox="1"/>
              <p:nvPr/>
            </p:nvSpPr>
            <p:spPr>
              <a:xfrm>
                <a:off x="4751028" y="5925482"/>
                <a:ext cx="2142186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sv-SE" sz="3600" b="1" dirty="0"/>
                  <a:t>0,5</a:t>
                </a:r>
              </a:p>
            </p:txBody>
          </p:sp>
        </p:grpSp>
        <p:sp>
          <p:nvSpPr>
            <p:cNvPr id="16" name="textruta 15">
              <a:extLst>
                <a:ext uri="{FF2B5EF4-FFF2-40B4-BE49-F238E27FC236}">
                  <a16:creationId xmlns:a16="http://schemas.microsoft.com/office/drawing/2014/main" id="{6C152A74-316F-605C-AE54-A872EF1CE67B}"/>
                </a:ext>
              </a:extLst>
            </p:cNvPr>
            <p:cNvSpPr txBox="1"/>
            <p:nvPr/>
          </p:nvSpPr>
          <p:spPr>
            <a:xfrm>
              <a:off x="8088518" y="5942653"/>
              <a:ext cx="214218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sv-SE" sz="3600" b="1" dirty="0"/>
                <a:t>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9037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Graphic spid="6" grpId="0">
        <p:bldAsOne/>
      </p:bldGraphic>
      <p:bldP spid="7" grpId="0" animBg="1"/>
      <p:bldP spid="8" grpId="0"/>
      <p:bldP spid="9" grpId="0"/>
      <p:bldP spid="10" grpId="0"/>
      <p:bldP spid="1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B739E203-2319-5248-0EE8-BD8E2CEF5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”</a:t>
            </a:r>
            <a:r>
              <a:rPr lang="sv-SE" dirty="0" err="1"/>
              <a:t>Valued</a:t>
            </a:r>
            <a:r>
              <a:rPr lang="sv-SE" dirty="0"/>
              <a:t> </a:t>
            </a:r>
            <a:r>
              <a:rPr lang="sv-SE" dirty="0" err="1"/>
              <a:t>Booleans</a:t>
            </a:r>
            <a:r>
              <a:rPr lang="sv-SE" dirty="0"/>
              <a:t>”</a:t>
            </a:r>
          </a:p>
        </p:txBody>
      </p:sp>
      <p:sp>
        <p:nvSpPr>
          <p:cNvPr id="4" name="textruta 3">
            <a:extLst>
              <a:ext uri="{FF2B5EF4-FFF2-40B4-BE49-F238E27FC236}">
                <a16:creationId xmlns:a16="http://schemas.microsoft.com/office/drawing/2014/main" id="{EE24106F-C701-6216-502F-8AAEADA52030}"/>
              </a:ext>
            </a:extLst>
          </p:cNvPr>
          <p:cNvSpPr txBox="1"/>
          <p:nvPr/>
        </p:nvSpPr>
        <p:spPr>
          <a:xfrm>
            <a:off x="1931391" y="2060745"/>
            <a:ext cx="19893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(</a:t>
            </a:r>
            <a:r>
              <a:rPr lang="sv-SE" sz="2400" b="1" dirty="0"/>
              <a:t>True</a:t>
            </a:r>
            <a:r>
              <a:rPr lang="sv-SE" sz="2400" dirty="0"/>
              <a:t>, 5)</a:t>
            </a:r>
          </a:p>
        </p:txBody>
      </p:sp>
      <p:grpSp>
        <p:nvGrpSpPr>
          <p:cNvPr id="10" name="Grupp 9">
            <a:extLst>
              <a:ext uri="{FF2B5EF4-FFF2-40B4-BE49-F238E27FC236}">
                <a16:creationId xmlns:a16="http://schemas.microsoft.com/office/drawing/2014/main" id="{EDB54EE7-064D-D6AB-2384-2746A9B79EB2}"/>
              </a:ext>
            </a:extLst>
          </p:cNvPr>
          <p:cNvGrpSpPr/>
          <p:nvPr/>
        </p:nvGrpSpPr>
        <p:grpSpPr>
          <a:xfrm>
            <a:off x="3223446" y="2060744"/>
            <a:ext cx="5745108" cy="461665"/>
            <a:chOff x="3068816" y="2060744"/>
            <a:chExt cx="5745108" cy="461665"/>
          </a:xfrm>
        </p:grpSpPr>
        <p:cxnSp>
          <p:nvCxnSpPr>
            <p:cNvPr id="8" name="Rak pilkoppling 7">
              <a:extLst>
                <a:ext uri="{FF2B5EF4-FFF2-40B4-BE49-F238E27FC236}">
                  <a16:creationId xmlns:a16="http://schemas.microsoft.com/office/drawing/2014/main" id="{92005307-BC04-5AB6-1041-3799ED97B281}"/>
                </a:ext>
              </a:extLst>
            </p:cNvPr>
            <p:cNvCxnSpPr/>
            <p:nvPr/>
          </p:nvCxnSpPr>
          <p:spPr>
            <a:xfrm flipH="1">
              <a:off x="3068816" y="2292691"/>
              <a:ext cx="1793116" cy="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textruta 8">
              <a:extLst>
                <a:ext uri="{FF2B5EF4-FFF2-40B4-BE49-F238E27FC236}">
                  <a16:creationId xmlns:a16="http://schemas.microsoft.com/office/drawing/2014/main" id="{06E047BE-A2C2-CBF9-7177-6DF2F0302267}"/>
                </a:ext>
              </a:extLst>
            </p:cNvPr>
            <p:cNvSpPr txBox="1"/>
            <p:nvPr/>
          </p:nvSpPr>
          <p:spPr>
            <a:xfrm>
              <a:off x="4955602" y="2060744"/>
              <a:ext cx="385832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i="1" dirty="0">
                  <a:solidFill>
                    <a:srgbClr val="FF0000"/>
                  </a:solidFill>
                </a:rPr>
                <a:t>distance to </a:t>
              </a:r>
              <a:r>
                <a:rPr lang="sv-SE" sz="2400" i="1" dirty="0" err="1">
                  <a:solidFill>
                    <a:srgbClr val="FF0000"/>
                  </a:solidFill>
                </a:rPr>
                <a:t>False</a:t>
              </a:r>
              <a:endParaRPr lang="sv-SE" sz="2400" i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5" name="Grupp 24">
            <a:extLst>
              <a:ext uri="{FF2B5EF4-FFF2-40B4-BE49-F238E27FC236}">
                <a16:creationId xmlns:a16="http://schemas.microsoft.com/office/drawing/2014/main" id="{C002B7D1-EB70-5491-7307-F6E3B81300DB}"/>
              </a:ext>
            </a:extLst>
          </p:cNvPr>
          <p:cNvGrpSpPr/>
          <p:nvPr/>
        </p:nvGrpSpPr>
        <p:grpSpPr>
          <a:xfrm>
            <a:off x="1895707" y="3348710"/>
            <a:ext cx="6904835" cy="1282402"/>
            <a:chOff x="1895707" y="3348710"/>
            <a:chExt cx="6904835" cy="1282402"/>
          </a:xfrm>
        </p:grpSpPr>
        <p:sp>
          <p:nvSpPr>
            <p:cNvPr id="11" name="textruta 10">
              <a:extLst>
                <a:ext uri="{FF2B5EF4-FFF2-40B4-BE49-F238E27FC236}">
                  <a16:creationId xmlns:a16="http://schemas.microsoft.com/office/drawing/2014/main" id="{9F02B828-FA8D-CC3E-9836-A92DA6C200A9}"/>
                </a:ext>
              </a:extLst>
            </p:cNvPr>
            <p:cNvSpPr txBox="1"/>
            <p:nvPr/>
          </p:nvSpPr>
          <p:spPr>
            <a:xfrm>
              <a:off x="1895707" y="3348710"/>
              <a:ext cx="69048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sv-SE" sz="2400" dirty="0"/>
                <a:t>(</a:t>
              </a:r>
              <a:r>
                <a:rPr lang="sv-SE" sz="2400" b="1" dirty="0"/>
                <a:t>True</a:t>
              </a:r>
              <a:r>
                <a:rPr lang="sv-SE" sz="2400" dirty="0"/>
                <a:t>,d</a:t>
              </a:r>
              <a:r>
                <a:rPr lang="sv-SE" sz="2400" baseline="-25000" dirty="0"/>
                <a:t>1</a:t>
              </a:r>
              <a:r>
                <a:rPr lang="sv-SE" sz="2400" dirty="0"/>
                <a:t>) &amp;&amp; (</a:t>
              </a:r>
              <a:r>
                <a:rPr lang="sv-SE" sz="2400" b="1" dirty="0"/>
                <a:t>True</a:t>
              </a:r>
              <a:r>
                <a:rPr lang="sv-SE" sz="2400" dirty="0"/>
                <a:t>,d</a:t>
              </a:r>
              <a:r>
                <a:rPr lang="sv-SE" sz="2400" baseline="-25000" dirty="0"/>
                <a:t>2</a:t>
              </a:r>
              <a:r>
                <a:rPr lang="sv-SE" sz="2400" dirty="0"/>
                <a:t>)	=	(</a:t>
              </a:r>
              <a:r>
                <a:rPr lang="sv-SE" sz="2400" b="1" dirty="0"/>
                <a:t>True,        </a:t>
              </a:r>
              <a:r>
                <a:rPr lang="sv-SE" sz="2400" dirty="0"/>
                <a:t>1</a:t>
              </a:r>
              <a:r>
                <a:rPr lang="sv-SE" sz="2400" b="1" dirty="0"/>
                <a:t>        </a:t>
              </a:r>
              <a:r>
                <a:rPr lang="sv-SE" sz="2400" dirty="0"/>
                <a:t>)</a:t>
              </a:r>
            </a:p>
          </p:txBody>
        </p:sp>
        <p:cxnSp>
          <p:nvCxnSpPr>
            <p:cNvPr id="13" name="Rak koppling 12">
              <a:extLst>
                <a:ext uri="{FF2B5EF4-FFF2-40B4-BE49-F238E27FC236}">
                  <a16:creationId xmlns:a16="http://schemas.microsoft.com/office/drawing/2014/main" id="{259DF2F7-1022-A96A-8597-699A5EDD9032}"/>
                </a:ext>
              </a:extLst>
            </p:cNvPr>
            <p:cNvCxnSpPr/>
            <p:nvPr/>
          </p:nvCxnSpPr>
          <p:spPr>
            <a:xfrm>
              <a:off x="7440094" y="3760191"/>
              <a:ext cx="976846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ruta 14">
              <a:extLst>
                <a:ext uri="{FF2B5EF4-FFF2-40B4-BE49-F238E27FC236}">
                  <a16:creationId xmlns:a16="http://schemas.microsoft.com/office/drawing/2014/main" id="{AFE3A3AD-7E0B-84B8-1ADF-289DD98499FA}"/>
                </a:ext>
              </a:extLst>
            </p:cNvPr>
            <p:cNvSpPr txBox="1"/>
            <p:nvPr/>
          </p:nvSpPr>
          <p:spPr>
            <a:xfrm>
              <a:off x="8082403" y="3762427"/>
              <a:ext cx="3579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2400" dirty="0"/>
                <a:t>1</a:t>
              </a:r>
            </a:p>
          </p:txBody>
        </p:sp>
        <p:sp>
          <p:nvSpPr>
            <p:cNvPr id="16" name="textruta 15">
              <a:extLst>
                <a:ext uri="{FF2B5EF4-FFF2-40B4-BE49-F238E27FC236}">
                  <a16:creationId xmlns:a16="http://schemas.microsoft.com/office/drawing/2014/main" id="{9CD23686-3C8A-A6D2-F837-46A1C0B344EE}"/>
                </a:ext>
              </a:extLst>
            </p:cNvPr>
            <p:cNvSpPr txBox="1"/>
            <p:nvPr/>
          </p:nvSpPr>
          <p:spPr>
            <a:xfrm>
              <a:off x="7440094" y="3762427"/>
              <a:ext cx="3579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2400" dirty="0"/>
                <a:t>1</a:t>
              </a:r>
            </a:p>
          </p:txBody>
        </p:sp>
        <p:sp>
          <p:nvSpPr>
            <p:cNvPr id="17" name="textruta 16">
              <a:extLst>
                <a:ext uri="{FF2B5EF4-FFF2-40B4-BE49-F238E27FC236}">
                  <a16:creationId xmlns:a16="http://schemas.microsoft.com/office/drawing/2014/main" id="{5542D9F7-7967-09BD-4479-308CCA599F28}"/>
                </a:ext>
              </a:extLst>
            </p:cNvPr>
            <p:cNvSpPr txBox="1"/>
            <p:nvPr/>
          </p:nvSpPr>
          <p:spPr>
            <a:xfrm>
              <a:off x="7761249" y="3762426"/>
              <a:ext cx="357954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2400" dirty="0"/>
                <a:t>+</a:t>
              </a:r>
            </a:p>
          </p:txBody>
        </p:sp>
        <p:cxnSp>
          <p:nvCxnSpPr>
            <p:cNvPr id="18" name="Rak koppling 17">
              <a:extLst>
                <a:ext uri="{FF2B5EF4-FFF2-40B4-BE49-F238E27FC236}">
                  <a16:creationId xmlns:a16="http://schemas.microsoft.com/office/drawing/2014/main" id="{52CFE995-092E-F7D4-1B70-DC0C6F98C4DA}"/>
                </a:ext>
              </a:extLst>
            </p:cNvPr>
            <p:cNvCxnSpPr>
              <a:cxnSpLocks/>
            </p:cNvCxnSpPr>
            <p:nvPr/>
          </p:nvCxnSpPr>
          <p:spPr>
            <a:xfrm>
              <a:off x="7451803" y="4224091"/>
              <a:ext cx="3462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Rak koppling 20">
              <a:extLst>
                <a:ext uri="{FF2B5EF4-FFF2-40B4-BE49-F238E27FC236}">
                  <a16:creationId xmlns:a16="http://schemas.microsoft.com/office/drawing/2014/main" id="{36367CE8-2492-5985-30AE-D79B95DCBBC0}"/>
                </a:ext>
              </a:extLst>
            </p:cNvPr>
            <p:cNvCxnSpPr>
              <a:cxnSpLocks/>
            </p:cNvCxnSpPr>
            <p:nvPr/>
          </p:nvCxnSpPr>
          <p:spPr>
            <a:xfrm>
              <a:off x="8095415" y="4224091"/>
              <a:ext cx="34624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ruta 22">
              <a:extLst>
                <a:ext uri="{FF2B5EF4-FFF2-40B4-BE49-F238E27FC236}">
                  <a16:creationId xmlns:a16="http://schemas.microsoft.com/office/drawing/2014/main" id="{E436859C-9A89-BDEE-2D75-06F08B35E352}"/>
                </a:ext>
              </a:extLst>
            </p:cNvPr>
            <p:cNvSpPr txBox="1"/>
            <p:nvPr/>
          </p:nvSpPr>
          <p:spPr>
            <a:xfrm>
              <a:off x="7440094" y="4169447"/>
              <a:ext cx="5386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2400" dirty="0"/>
                <a:t>d</a:t>
              </a:r>
              <a:r>
                <a:rPr lang="sv-SE" sz="2400" baseline="-25000" dirty="0"/>
                <a:t>1</a:t>
              </a:r>
              <a:endParaRPr lang="sv-SE" sz="2400" dirty="0"/>
            </a:p>
          </p:txBody>
        </p:sp>
        <p:sp>
          <p:nvSpPr>
            <p:cNvPr id="24" name="textruta 23">
              <a:extLst>
                <a:ext uri="{FF2B5EF4-FFF2-40B4-BE49-F238E27FC236}">
                  <a16:creationId xmlns:a16="http://schemas.microsoft.com/office/drawing/2014/main" id="{55AD9BB1-E4C2-9A5E-CFAE-D250D46430D7}"/>
                </a:ext>
              </a:extLst>
            </p:cNvPr>
            <p:cNvSpPr txBox="1"/>
            <p:nvPr/>
          </p:nvSpPr>
          <p:spPr>
            <a:xfrm>
              <a:off x="8050066" y="4169446"/>
              <a:ext cx="5386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sv-SE" sz="2400" dirty="0"/>
                <a:t>d</a:t>
              </a:r>
              <a:r>
                <a:rPr lang="sv-SE" sz="2400" baseline="-25000" dirty="0"/>
                <a:t>2</a:t>
              </a:r>
              <a:endParaRPr lang="sv-SE" sz="2400" dirty="0"/>
            </a:p>
          </p:txBody>
        </p:sp>
      </p:grpSp>
      <p:sp>
        <p:nvSpPr>
          <p:cNvPr id="26" name="textruta 25">
            <a:extLst>
              <a:ext uri="{FF2B5EF4-FFF2-40B4-BE49-F238E27FC236}">
                <a16:creationId xmlns:a16="http://schemas.microsoft.com/office/drawing/2014/main" id="{D46E54FA-C6AD-02D5-CE53-82351118DFAB}"/>
              </a:ext>
            </a:extLst>
          </p:cNvPr>
          <p:cNvSpPr txBox="1"/>
          <p:nvPr/>
        </p:nvSpPr>
        <p:spPr>
          <a:xfrm>
            <a:off x="1931391" y="5156323"/>
            <a:ext cx="8608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rgbClr val="00B050"/>
                </a:solidFill>
              </a:rPr>
              <a:t>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5) &amp;&amp; 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0.5)	=	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</a:t>
            </a:r>
            <a:r>
              <a:rPr lang="sv-SE" sz="2400" baseline="30000" dirty="0">
                <a:solidFill>
                  <a:srgbClr val="00B050"/>
                </a:solidFill>
              </a:rPr>
              <a:t>45</a:t>
            </a:r>
            <a:r>
              <a:rPr lang="sv-SE" sz="2400" dirty="0">
                <a:solidFill>
                  <a:srgbClr val="00B050"/>
                </a:solidFill>
              </a:rPr>
              <a:t>/</a:t>
            </a:r>
            <a:r>
              <a:rPr lang="sv-SE" sz="2400" baseline="-25000" dirty="0">
                <a:solidFill>
                  <a:srgbClr val="00B050"/>
                </a:solidFill>
              </a:rPr>
              <a:t>99</a:t>
            </a:r>
            <a:r>
              <a:rPr lang="sv-SE" sz="24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27" name="textruta 26">
            <a:extLst>
              <a:ext uri="{FF2B5EF4-FFF2-40B4-BE49-F238E27FC236}">
                <a16:creationId xmlns:a16="http://schemas.microsoft.com/office/drawing/2014/main" id="{9EF3BE66-1C9F-7258-F7E6-B49DB838D18B}"/>
              </a:ext>
            </a:extLst>
          </p:cNvPr>
          <p:cNvSpPr txBox="1"/>
          <p:nvPr/>
        </p:nvSpPr>
        <p:spPr>
          <a:xfrm>
            <a:off x="1895707" y="5681534"/>
            <a:ext cx="8608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rgbClr val="00B050"/>
                </a:solidFill>
              </a:rPr>
              <a:t>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4) &amp;&amp; 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0.5)	=	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</a:t>
            </a:r>
            <a:r>
              <a:rPr lang="sv-SE" sz="2400" baseline="30000" dirty="0">
                <a:solidFill>
                  <a:srgbClr val="00B050"/>
                </a:solidFill>
              </a:rPr>
              <a:t>44</a:t>
            </a:r>
            <a:r>
              <a:rPr lang="sv-SE" sz="2400" dirty="0">
                <a:solidFill>
                  <a:srgbClr val="00B050"/>
                </a:solidFill>
              </a:rPr>
              <a:t>/</a:t>
            </a:r>
            <a:r>
              <a:rPr lang="sv-SE" sz="2400" baseline="-25000" dirty="0">
                <a:solidFill>
                  <a:srgbClr val="00B050"/>
                </a:solidFill>
              </a:rPr>
              <a:t>99</a:t>
            </a:r>
            <a:r>
              <a:rPr lang="sv-SE" sz="2400" dirty="0">
                <a:solidFill>
                  <a:srgbClr val="00B050"/>
                </a:solidFill>
              </a:rPr>
              <a:t>)</a:t>
            </a:r>
          </a:p>
        </p:txBody>
      </p:sp>
      <p:sp>
        <p:nvSpPr>
          <p:cNvPr id="28" name="textruta 27">
            <a:extLst>
              <a:ext uri="{FF2B5EF4-FFF2-40B4-BE49-F238E27FC236}">
                <a16:creationId xmlns:a16="http://schemas.microsoft.com/office/drawing/2014/main" id="{F629F490-2BA0-4572-D036-2636FF7A92C3}"/>
              </a:ext>
            </a:extLst>
          </p:cNvPr>
          <p:cNvSpPr txBox="1"/>
          <p:nvPr/>
        </p:nvSpPr>
        <p:spPr>
          <a:xfrm>
            <a:off x="1895707" y="6206745"/>
            <a:ext cx="86087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>
                <a:solidFill>
                  <a:srgbClr val="00B050"/>
                </a:solidFill>
              </a:rPr>
              <a:t>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5) &amp;&amp; 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0.4)	=	(</a:t>
            </a:r>
            <a:r>
              <a:rPr lang="sv-SE" sz="2400" b="1" dirty="0">
                <a:solidFill>
                  <a:srgbClr val="00B050"/>
                </a:solidFill>
              </a:rPr>
              <a:t>True</a:t>
            </a:r>
            <a:r>
              <a:rPr lang="sv-SE" sz="2400" dirty="0">
                <a:solidFill>
                  <a:srgbClr val="00B050"/>
                </a:solidFill>
              </a:rPr>
              <a:t>, </a:t>
            </a:r>
            <a:r>
              <a:rPr lang="sv-SE" sz="2400" baseline="30000" dirty="0">
                <a:solidFill>
                  <a:srgbClr val="00B050"/>
                </a:solidFill>
              </a:rPr>
              <a:t>370</a:t>
            </a:r>
            <a:r>
              <a:rPr lang="sv-SE" sz="2400" dirty="0">
                <a:solidFill>
                  <a:srgbClr val="00B050"/>
                </a:solidFill>
              </a:rPr>
              <a:t>/</a:t>
            </a:r>
            <a:r>
              <a:rPr lang="sv-SE" sz="2400" baseline="-25000" dirty="0">
                <a:solidFill>
                  <a:srgbClr val="00B050"/>
                </a:solidFill>
              </a:rPr>
              <a:t>999</a:t>
            </a:r>
            <a:r>
              <a:rPr lang="sv-SE" sz="2400" dirty="0">
                <a:solidFill>
                  <a:srgbClr val="00B05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97324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E16DC9DF-B6DD-2925-318D-9ACFDF0118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”Line Search”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E7D5E9B-6E49-9D16-2EB1-6FB13329D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Search for a </a:t>
            </a:r>
            <a:r>
              <a:rPr lang="sv-SE" dirty="0" err="1"/>
              <a:t>zero</a:t>
            </a:r>
            <a:r>
              <a:rPr lang="sv-SE" dirty="0"/>
              <a:t>: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48617023-9A96-AE42-4903-32FD1E80B81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57576235"/>
              </p:ext>
            </p:extLst>
          </p:nvPr>
        </p:nvGraphicFramePr>
        <p:xfrm>
          <a:off x="1261165" y="2606261"/>
          <a:ext cx="3178313" cy="297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634DB94-1398-C2A6-5060-DD8B89370A4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50517289"/>
              </p:ext>
            </p:extLst>
          </p:nvPr>
        </p:nvGraphicFramePr>
        <p:xfrm>
          <a:off x="4580190" y="2606261"/>
          <a:ext cx="3602383" cy="297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48EF0CB6-46B5-6457-7D59-7C1EE539DA9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38646300"/>
              </p:ext>
            </p:extLst>
          </p:nvPr>
        </p:nvGraphicFramePr>
        <p:xfrm>
          <a:off x="8323286" y="2606261"/>
          <a:ext cx="3258010" cy="29704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ruta 10">
            <a:extLst>
              <a:ext uri="{FF2B5EF4-FFF2-40B4-BE49-F238E27FC236}">
                <a16:creationId xmlns:a16="http://schemas.microsoft.com/office/drawing/2014/main" id="{1D1A546D-6CF9-DAF1-F146-55D15C0B7C99}"/>
              </a:ext>
            </a:extLst>
          </p:cNvPr>
          <p:cNvSpPr txBox="1"/>
          <p:nvPr/>
        </p:nvSpPr>
        <p:spPr>
          <a:xfrm>
            <a:off x="714283" y="5915353"/>
            <a:ext cx="111305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sz="2400" dirty="0"/>
              <a:t>In </a:t>
            </a:r>
            <a:r>
              <a:rPr lang="sv-SE" sz="2800" dirty="0">
                <a:latin typeface="Imprint MT Shadow" panose="04020605060303030202" pitchFamily="82" charset="0"/>
              </a:rPr>
              <a:t>R</a:t>
            </a:r>
            <a:r>
              <a:rPr lang="sv-SE" sz="2400" baseline="30000" dirty="0"/>
              <a:t>N</a:t>
            </a:r>
            <a:r>
              <a:rPr lang="sv-SE" sz="2400" dirty="0"/>
              <a:t>, switch now and then to a </a:t>
            </a:r>
            <a:r>
              <a:rPr lang="sv-SE" sz="2400" dirty="0" err="1"/>
              <a:t>line</a:t>
            </a:r>
            <a:r>
              <a:rPr lang="sv-SE" sz="2400" dirty="0"/>
              <a:t> in a </a:t>
            </a:r>
            <a:r>
              <a:rPr lang="sv-SE" sz="2400" dirty="0" err="1"/>
              <a:t>random</a:t>
            </a:r>
            <a:r>
              <a:rPr lang="sv-SE" sz="2400" dirty="0"/>
              <a:t> direction through the </a:t>
            </a:r>
            <a:r>
              <a:rPr lang="sv-SE" sz="2400" dirty="0" err="1"/>
              <a:t>current</a:t>
            </a:r>
            <a:r>
              <a:rPr lang="sv-SE" sz="2400" dirty="0"/>
              <a:t> </a:t>
            </a:r>
            <a:r>
              <a:rPr lang="sv-SE" sz="2400" dirty="0" err="1"/>
              <a:t>point</a:t>
            </a:r>
            <a:endParaRPr lang="sv-SE" sz="2400" dirty="0"/>
          </a:p>
        </p:txBody>
      </p:sp>
      <p:grpSp>
        <p:nvGrpSpPr>
          <p:cNvPr id="29" name="Grupp 28">
            <a:extLst>
              <a:ext uri="{FF2B5EF4-FFF2-40B4-BE49-F238E27FC236}">
                <a16:creationId xmlns:a16="http://schemas.microsoft.com/office/drawing/2014/main" id="{0FC2A69D-9539-A6D3-052D-AB3A6372E976}"/>
              </a:ext>
            </a:extLst>
          </p:cNvPr>
          <p:cNvGrpSpPr/>
          <p:nvPr/>
        </p:nvGrpSpPr>
        <p:grpSpPr>
          <a:xfrm>
            <a:off x="2329667" y="3429000"/>
            <a:ext cx="1530555" cy="1531276"/>
            <a:chOff x="2329667" y="3429000"/>
            <a:chExt cx="1530555" cy="1531276"/>
          </a:xfrm>
        </p:grpSpPr>
        <p:sp>
          <p:nvSpPr>
            <p:cNvPr id="8" name="Ellips 7">
              <a:extLst>
                <a:ext uri="{FF2B5EF4-FFF2-40B4-BE49-F238E27FC236}">
                  <a16:creationId xmlns:a16="http://schemas.microsoft.com/office/drawing/2014/main" id="{7E86E116-D665-155C-2ECC-60669A043707}"/>
                </a:ext>
              </a:extLst>
            </p:cNvPr>
            <p:cNvSpPr/>
            <p:nvPr/>
          </p:nvSpPr>
          <p:spPr>
            <a:xfrm>
              <a:off x="2329667" y="4872319"/>
              <a:ext cx="73255" cy="879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grpSp>
          <p:nvGrpSpPr>
            <p:cNvPr id="20" name="Grupp 19">
              <a:extLst>
                <a:ext uri="{FF2B5EF4-FFF2-40B4-BE49-F238E27FC236}">
                  <a16:creationId xmlns:a16="http://schemas.microsoft.com/office/drawing/2014/main" id="{3F70BD39-26EC-DDEE-EA94-1F47473FDC08}"/>
                </a:ext>
              </a:extLst>
            </p:cNvPr>
            <p:cNvGrpSpPr/>
            <p:nvPr/>
          </p:nvGrpSpPr>
          <p:grpSpPr>
            <a:xfrm>
              <a:off x="3750155" y="3429000"/>
              <a:ext cx="110067" cy="118533"/>
              <a:chOff x="533400" y="4097867"/>
              <a:chExt cx="110067" cy="118533"/>
            </a:xfrm>
          </p:grpSpPr>
          <p:cxnSp>
            <p:nvCxnSpPr>
              <p:cNvPr id="21" name="Rak koppling 20">
                <a:extLst>
                  <a:ext uri="{FF2B5EF4-FFF2-40B4-BE49-F238E27FC236}">
                    <a16:creationId xmlns:a16="http://schemas.microsoft.com/office/drawing/2014/main" id="{8A114ADD-D74D-070F-49F1-4EBBB77F1CB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" y="4097867"/>
                <a:ext cx="110067" cy="118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Rak koppling 21">
                <a:extLst>
                  <a:ext uri="{FF2B5EF4-FFF2-40B4-BE49-F238E27FC236}">
                    <a16:creationId xmlns:a16="http://schemas.microsoft.com/office/drawing/2014/main" id="{7DF18AFE-235D-F817-0743-4AA0A945FDC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400" y="4102100"/>
                <a:ext cx="110067" cy="114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0" name="Grupp 29">
            <a:extLst>
              <a:ext uri="{FF2B5EF4-FFF2-40B4-BE49-F238E27FC236}">
                <a16:creationId xmlns:a16="http://schemas.microsoft.com/office/drawing/2014/main" id="{95183E8F-0CD6-7223-75F3-A249E9ED25E9}"/>
              </a:ext>
            </a:extLst>
          </p:cNvPr>
          <p:cNvGrpSpPr/>
          <p:nvPr/>
        </p:nvGrpSpPr>
        <p:grpSpPr>
          <a:xfrm>
            <a:off x="5222117" y="3428999"/>
            <a:ext cx="1749088" cy="1027985"/>
            <a:chOff x="5222117" y="3428999"/>
            <a:chExt cx="1749088" cy="1027985"/>
          </a:xfrm>
        </p:grpSpPr>
        <p:sp>
          <p:nvSpPr>
            <p:cNvPr id="9" name="Ellips 8">
              <a:extLst>
                <a:ext uri="{FF2B5EF4-FFF2-40B4-BE49-F238E27FC236}">
                  <a16:creationId xmlns:a16="http://schemas.microsoft.com/office/drawing/2014/main" id="{D3D2CF37-C5E3-8EA6-95DF-A2E497BBAECB}"/>
                </a:ext>
              </a:extLst>
            </p:cNvPr>
            <p:cNvSpPr/>
            <p:nvPr/>
          </p:nvSpPr>
          <p:spPr>
            <a:xfrm>
              <a:off x="6897950" y="4369027"/>
              <a:ext cx="73255" cy="879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grpSp>
          <p:nvGrpSpPr>
            <p:cNvPr id="23" name="Grupp 22">
              <a:extLst>
                <a:ext uri="{FF2B5EF4-FFF2-40B4-BE49-F238E27FC236}">
                  <a16:creationId xmlns:a16="http://schemas.microsoft.com/office/drawing/2014/main" id="{D72DD288-75A9-9084-7FFD-403FEC8FCF81}"/>
                </a:ext>
              </a:extLst>
            </p:cNvPr>
            <p:cNvGrpSpPr/>
            <p:nvPr/>
          </p:nvGrpSpPr>
          <p:grpSpPr>
            <a:xfrm>
              <a:off x="5222117" y="3428999"/>
              <a:ext cx="110067" cy="118533"/>
              <a:chOff x="533400" y="4097867"/>
              <a:chExt cx="110067" cy="118533"/>
            </a:xfrm>
          </p:grpSpPr>
          <p:cxnSp>
            <p:nvCxnSpPr>
              <p:cNvPr id="24" name="Rak koppling 23">
                <a:extLst>
                  <a:ext uri="{FF2B5EF4-FFF2-40B4-BE49-F238E27FC236}">
                    <a16:creationId xmlns:a16="http://schemas.microsoft.com/office/drawing/2014/main" id="{2614C9D7-31D9-5511-C532-AF088B4BC8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" y="4097867"/>
                <a:ext cx="110067" cy="118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Rak koppling 24">
                <a:extLst>
                  <a:ext uri="{FF2B5EF4-FFF2-40B4-BE49-F238E27FC236}">
                    <a16:creationId xmlns:a16="http://schemas.microsoft.com/office/drawing/2014/main" id="{DC221EBE-B662-6251-079A-4D2D783A02C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400" y="4102100"/>
                <a:ext cx="110067" cy="114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" name="Grupp 30">
            <a:extLst>
              <a:ext uri="{FF2B5EF4-FFF2-40B4-BE49-F238E27FC236}">
                <a16:creationId xmlns:a16="http://schemas.microsoft.com/office/drawing/2014/main" id="{FD16D9EC-CFA7-7D2E-6261-5C1CAE935FC3}"/>
              </a:ext>
            </a:extLst>
          </p:cNvPr>
          <p:cNvGrpSpPr/>
          <p:nvPr/>
        </p:nvGrpSpPr>
        <p:grpSpPr>
          <a:xfrm>
            <a:off x="8902018" y="3428999"/>
            <a:ext cx="1591559" cy="572295"/>
            <a:chOff x="8902018" y="3428999"/>
            <a:chExt cx="1591559" cy="572295"/>
          </a:xfrm>
        </p:grpSpPr>
        <p:sp>
          <p:nvSpPr>
            <p:cNvPr id="10" name="Ellips 9">
              <a:extLst>
                <a:ext uri="{FF2B5EF4-FFF2-40B4-BE49-F238E27FC236}">
                  <a16:creationId xmlns:a16="http://schemas.microsoft.com/office/drawing/2014/main" id="{95591825-6122-64FF-5FF9-56FDB994F4B9}"/>
                </a:ext>
              </a:extLst>
            </p:cNvPr>
            <p:cNvSpPr/>
            <p:nvPr/>
          </p:nvSpPr>
          <p:spPr>
            <a:xfrm>
              <a:off x="10420322" y="3913337"/>
              <a:ext cx="73255" cy="87957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sv-SE"/>
            </a:p>
          </p:txBody>
        </p:sp>
        <p:grpSp>
          <p:nvGrpSpPr>
            <p:cNvPr id="26" name="Grupp 25">
              <a:extLst>
                <a:ext uri="{FF2B5EF4-FFF2-40B4-BE49-F238E27FC236}">
                  <a16:creationId xmlns:a16="http://schemas.microsoft.com/office/drawing/2014/main" id="{DE73E546-B4F6-DC96-AF8C-0681A3CC243B}"/>
                </a:ext>
              </a:extLst>
            </p:cNvPr>
            <p:cNvGrpSpPr/>
            <p:nvPr/>
          </p:nvGrpSpPr>
          <p:grpSpPr>
            <a:xfrm>
              <a:off x="8902018" y="3428999"/>
              <a:ext cx="110067" cy="118533"/>
              <a:chOff x="533400" y="4097867"/>
              <a:chExt cx="110067" cy="118533"/>
            </a:xfrm>
          </p:grpSpPr>
          <p:cxnSp>
            <p:nvCxnSpPr>
              <p:cNvPr id="27" name="Rak koppling 26">
                <a:extLst>
                  <a:ext uri="{FF2B5EF4-FFF2-40B4-BE49-F238E27FC236}">
                    <a16:creationId xmlns:a16="http://schemas.microsoft.com/office/drawing/2014/main" id="{BD10670B-9BAD-54D8-C7DE-F27E6CFE234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3400" y="4097867"/>
                <a:ext cx="110067" cy="118533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Rak koppling 27">
                <a:extLst>
                  <a:ext uri="{FF2B5EF4-FFF2-40B4-BE49-F238E27FC236}">
                    <a16:creationId xmlns:a16="http://schemas.microsoft.com/office/drawing/2014/main" id="{37B60997-06D8-6EF1-CA46-C5D3AEB58EC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3400" y="4102100"/>
                <a:ext cx="110067" cy="11430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128708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5" grpId="0">
        <p:bldAsOne/>
      </p:bldGraphic>
      <p:bldGraphic spid="7" grpId="0">
        <p:bldAsOne/>
      </p:bldGraphic>
      <p:bldP spid="11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4B881957-73D0-02F8-996F-6D4E363E5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181" t="30544" r="26686" b="23268"/>
          <a:stretch/>
        </p:blipFill>
        <p:spPr>
          <a:xfrm>
            <a:off x="813731" y="318781"/>
            <a:ext cx="10288525" cy="5482206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FF3F3F33-35C3-7BB3-591A-DB4D61F1EB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026" t="77384" r="9387" b="14582"/>
          <a:stretch/>
        </p:blipFill>
        <p:spPr>
          <a:xfrm>
            <a:off x="332194" y="5966450"/>
            <a:ext cx="11527612" cy="617230"/>
          </a:xfrm>
          <a:prstGeom prst="rect">
            <a:avLst/>
          </a:prstGeom>
        </p:spPr>
      </p:pic>
      <p:cxnSp>
        <p:nvCxnSpPr>
          <p:cNvPr id="8" name="Rak koppling 7">
            <a:extLst>
              <a:ext uri="{FF2B5EF4-FFF2-40B4-BE49-F238E27FC236}">
                <a16:creationId xmlns:a16="http://schemas.microsoft.com/office/drawing/2014/main" id="{A7723976-D61B-B67C-E2EA-BAEFB237E969}"/>
              </a:ext>
            </a:extLst>
          </p:cNvPr>
          <p:cNvCxnSpPr/>
          <p:nvPr/>
        </p:nvCxnSpPr>
        <p:spPr>
          <a:xfrm>
            <a:off x="1377353" y="1833153"/>
            <a:ext cx="9688286" cy="30480"/>
          </a:xfrm>
          <a:prstGeom prst="line">
            <a:avLst/>
          </a:prstGeom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442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ildobjekt 4">
            <a:extLst>
              <a:ext uri="{FF2B5EF4-FFF2-40B4-BE49-F238E27FC236}">
                <a16:creationId xmlns:a16="http://schemas.microsoft.com/office/drawing/2014/main" id="{DFA38413-B6AD-34A0-1BC9-F0B89470DFC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751" t="80443" r="8749" b="9245"/>
          <a:stretch/>
        </p:blipFill>
        <p:spPr>
          <a:xfrm>
            <a:off x="235130" y="5904411"/>
            <a:ext cx="11660039" cy="792479"/>
          </a:xfrm>
          <a:prstGeom prst="rect">
            <a:avLst/>
          </a:prstGeom>
        </p:spPr>
      </p:pic>
      <p:pic>
        <p:nvPicPr>
          <p:cNvPr id="6" name="Bildobjekt 5">
            <a:extLst>
              <a:ext uri="{FF2B5EF4-FFF2-40B4-BE49-F238E27FC236}">
                <a16:creationId xmlns:a16="http://schemas.microsoft.com/office/drawing/2014/main" id="{DAE1D60D-14ED-2C15-4556-FC75AAF572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072" t="32759" r="26607" b="20082"/>
          <a:stretch/>
        </p:blipFill>
        <p:spPr>
          <a:xfrm>
            <a:off x="640079" y="161110"/>
            <a:ext cx="10598711" cy="5743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2084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AD5EE242-0ABF-3F3A-269B-FCE834A5E1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Three settings for PBT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embedded</a:t>
            </a:r>
            <a:r>
              <a:rPr lang="sv-SE" dirty="0"/>
              <a:t> systems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1DE7BF6E-57DD-C035-24B3-7DE5023290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54575"/>
          </a:xfrm>
        </p:spPr>
        <p:txBody>
          <a:bodyPr>
            <a:normAutofit/>
          </a:bodyPr>
          <a:lstStyle/>
          <a:p>
            <a:endParaRPr lang="sv-SE" dirty="0"/>
          </a:p>
          <a:p>
            <a:r>
              <a:rPr lang="sv-SE" dirty="0" err="1"/>
              <a:t>Exploit</a:t>
            </a:r>
            <a:r>
              <a:rPr lang="sv-SE" dirty="0"/>
              <a:t> a </a:t>
            </a:r>
            <a:r>
              <a:rPr lang="sv-SE" i="1" dirty="0" err="1"/>
              <a:t>specification</a:t>
            </a:r>
            <a:r>
              <a:rPr lang="sv-SE" dirty="0"/>
              <a:t> without </a:t>
            </a:r>
            <a:r>
              <a:rPr lang="sv-SE" dirty="0" err="1"/>
              <a:t>any</a:t>
            </a:r>
            <a:r>
              <a:rPr lang="sv-SE" dirty="0"/>
              <a:t> </a:t>
            </a:r>
            <a:r>
              <a:rPr lang="sv-SE" i="1" dirty="0" err="1"/>
              <a:t>proofs</a:t>
            </a:r>
            <a:endParaRPr lang="sv-SE" dirty="0"/>
          </a:p>
          <a:p>
            <a:endParaRPr lang="sv-SE" dirty="0"/>
          </a:p>
          <a:p>
            <a:pPr marL="0" indent="0">
              <a:buNone/>
            </a:pPr>
            <a:r>
              <a:rPr lang="sv-SE" b="1" dirty="0"/>
              <a:t>What is a test </a:t>
            </a:r>
            <a:r>
              <a:rPr lang="sv-SE" b="1" dirty="0" err="1"/>
              <a:t>case</a:t>
            </a:r>
            <a:r>
              <a:rPr lang="sv-SE" b="1" dirty="0"/>
              <a:t>?</a:t>
            </a:r>
          </a:p>
          <a:p>
            <a:r>
              <a:rPr lang="sv-SE" dirty="0"/>
              <a:t>How to </a:t>
            </a:r>
            <a:r>
              <a:rPr lang="sv-SE" i="1" dirty="0" err="1"/>
              <a:t>generate</a:t>
            </a:r>
            <a:r>
              <a:rPr lang="sv-SE" i="1" dirty="0"/>
              <a:t>, </a:t>
            </a:r>
            <a:r>
              <a:rPr lang="sv-SE" i="1" dirty="0" err="1"/>
              <a:t>shrink</a:t>
            </a:r>
            <a:r>
              <a:rPr lang="sv-SE" i="1" dirty="0"/>
              <a:t>, </a:t>
            </a:r>
            <a:r>
              <a:rPr lang="sv-SE" dirty="0"/>
              <a:t>or </a:t>
            </a:r>
            <a:r>
              <a:rPr lang="sv-SE" i="1" dirty="0" err="1"/>
              <a:t>optimise</a:t>
            </a:r>
            <a:r>
              <a:rPr lang="sv-SE" dirty="0"/>
              <a:t> them</a:t>
            </a:r>
          </a:p>
          <a:p>
            <a:endParaRPr lang="sv-SE" dirty="0"/>
          </a:p>
          <a:p>
            <a:r>
              <a:rPr lang="sv-SE" dirty="0" err="1"/>
              <a:t>Finds</a:t>
            </a:r>
            <a:r>
              <a:rPr lang="sv-SE" dirty="0"/>
              <a:t> </a:t>
            </a:r>
            <a:r>
              <a:rPr lang="sv-SE" dirty="0" err="1"/>
              <a:t>failing</a:t>
            </a:r>
            <a:r>
              <a:rPr lang="sv-SE" dirty="0"/>
              <a:t> tests you would never have </a:t>
            </a:r>
            <a:r>
              <a:rPr lang="sv-SE" dirty="0" err="1"/>
              <a:t>thought</a:t>
            </a:r>
            <a:r>
              <a:rPr lang="sv-SE" dirty="0"/>
              <a:t> </a:t>
            </a:r>
            <a:r>
              <a:rPr lang="sv-SE" dirty="0" err="1"/>
              <a:t>of</a:t>
            </a:r>
            <a:endParaRPr lang="sv-SE" dirty="0"/>
          </a:p>
          <a:p>
            <a:pPr lvl="1"/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068014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ruta 4">
            <a:extLst>
              <a:ext uri="{FF2B5EF4-FFF2-40B4-BE49-F238E27FC236}">
                <a16:creationId xmlns:a16="http://schemas.microsoft.com/office/drawing/2014/main" id="{E0F9EEDA-C92D-FF52-5011-A57F932CD219}"/>
              </a:ext>
            </a:extLst>
          </p:cNvPr>
          <p:cNvSpPr txBox="1"/>
          <p:nvPr/>
        </p:nvSpPr>
        <p:spPr>
          <a:xfrm>
            <a:off x="1718734" y="2006313"/>
            <a:ext cx="8305800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sv-SE" sz="8000" b="1" dirty="0" err="1">
                <a:solidFill>
                  <a:srgbClr val="FF0000"/>
                </a:solidFill>
              </a:rPr>
              <a:t>Don’t</a:t>
            </a:r>
            <a:r>
              <a:rPr lang="sv-SE" sz="8000" b="1" dirty="0">
                <a:solidFill>
                  <a:srgbClr val="FF0000"/>
                </a:solidFill>
              </a:rPr>
              <a:t> </a:t>
            </a:r>
            <a:r>
              <a:rPr lang="sv-SE" sz="8000" b="1" dirty="0" err="1">
                <a:solidFill>
                  <a:srgbClr val="FF0000"/>
                </a:solidFill>
              </a:rPr>
              <a:t>write</a:t>
            </a:r>
            <a:r>
              <a:rPr lang="sv-SE" sz="8000" b="1" dirty="0">
                <a:solidFill>
                  <a:srgbClr val="FF0000"/>
                </a:solidFill>
              </a:rPr>
              <a:t> tests</a:t>
            </a:r>
          </a:p>
          <a:p>
            <a:pPr marL="0" indent="0" algn="ctr">
              <a:buNone/>
            </a:pPr>
            <a:r>
              <a:rPr lang="sv-SE" sz="8000" b="1" dirty="0" err="1">
                <a:solidFill>
                  <a:srgbClr val="FF0000"/>
                </a:solidFill>
              </a:rPr>
              <a:t>Generate</a:t>
            </a:r>
            <a:r>
              <a:rPr lang="sv-SE" sz="8000" b="1" dirty="0">
                <a:solidFill>
                  <a:srgbClr val="FF0000"/>
                </a:solidFill>
              </a:rPr>
              <a:t> them!</a:t>
            </a:r>
          </a:p>
        </p:txBody>
      </p:sp>
    </p:spTree>
    <p:extLst>
      <p:ext uri="{BB962C8B-B14F-4D97-AF65-F5344CB8AC3E}">
        <p14:creationId xmlns:p14="http://schemas.microsoft.com/office/powerpoint/2010/main" val="3842601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1127</Words>
  <Application>Microsoft Office PowerPoint</Application>
  <PresentationFormat>Bredbild</PresentationFormat>
  <Paragraphs>208</Paragraphs>
  <Slides>19</Slides>
  <Notes>14</Notes>
  <HiddenSlides>0</HiddenSlides>
  <MMClips>0</MMClips>
  <ScaleCrop>false</ScaleCrop>
  <HeadingPairs>
    <vt:vector size="6" baseType="variant">
      <vt:variant>
        <vt:lpstr>Använt teckensnitt</vt:lpstr>
      </vt:variant>
      <vt:variant>
        <vt:i4>10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19</vt:i4>
      </vt:variant>
    </vt:vector>
  </HeadingPairs>
  <TitlesOfParts>
    <vt:vector size="30" baseType="lpstr">
      <vt:lpstr>Aptos</vt:lpstr>
      <vt:lpstr>Aptos Display</vt:lpstr>
      <vt:lpstr>Arial</vt:lpstr>
      <vt:lpstr>Courier New</vt:lpstr>
      <vt:lpstr>Imprint MT Shadow</vt:lpstr>
      <vt:lpstr>Open Sans</vt:lpstr>
      <vt:lpstr>PT Sans</vt:lpstr>
      <vt:lpstr>Times New Roman</vt:lpstr>
      <vt:lpstr>Verdana</vt:lpstr>
      <vt:lpstr>Wingdings</vt:lpstr>
      <vt:lpstr>Office-tema</vt:lpstr>
      <vt:lpstr>Property-based Testing of Embedded Systems</vt:lpstr>
      <vt:lpstr>What is Property-based Testing?</vt:lpstr>
      <vt:lpstr>Systems with state</vt:lpstr>
      <vt:lpstr>Testing Safety PLCs</vt:lpstr>
      <vt:lpstr>PowerPoint-presentation</vt:lpstr>
      <vt:lpstr>How do we model this?</vt:lpstr>
      <vt:lpstr>How do we test using the models?</vt:lpstr>
      <vt:lpstr>A Bug in a vendor’s CAN stack</vt:lpstr>
      <vt:lpstr>The Problem</vt:lpstr>
      <vt:lpstr>A Bug in a vendor’s CAN stack</vt:lpstr>
      <vt:lpstr>PowerPoint-presentation</vt:lpstr>
      <vt:lpstr>Cyberphysical Systems</vt:lpstr>
      <vt:lpstr>Example: Distance to car in front</vt:lpstr>
      <vt:lpstr>”Valued Booleans”</vt:lpstr>
      <vt:lpstr>”Line Search”</vt:lpstr>
      <vt:lpstr>PowerPoint-presentation</vt:lpstr>
      <vt:lpstr>PowerPoint-presentation</vt:lpstr>
      <vt:lpstr>Three settings for PBT of embedded systems</vt:lpstr>
      <vt:lpstr>PowerPoint-presentation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Hughes</dc:creator>
  <cp:lastModifiedBy>John Hughes</cp:lastModifiedBy>
  <cp:revision>18</cp:revision>
  <dcterms:created xsi:type="dcterms:W3CDTF">2024-10-03T09:26:54Z</dcterms:created>
  <dcterms:modified xsi:type="dcterms:W3CDTF">2024-10-24T07:47:41Z</dcterms:modified>
</cp:coreProperties>
</file>
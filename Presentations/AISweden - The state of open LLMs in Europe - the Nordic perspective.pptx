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2" r:id="rId4"/>
    <p:sldMasterId id="2147483683" r:id="rId5"/>
    <p:sldMasterId id="2147483684" r:id="rId6"/>
    <p:sldMasterId id="214748368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slide" Target="slides/slide27.xml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da84e64a69_0_2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2da84e64a69_0_2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g2da84e64a69_0_2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57081a4a43_0_5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157081a4a43_0_5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g157081a4a43_0_5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57081a4a43_0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157081a4a43_0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g157081a4a43_0_1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57081a4a43_0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157081a4a43_0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g157081a4a43_0_1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dfd80478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dfd80478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f524cd7d54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f524cd7d54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57081a4a43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57081a4a43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f524cd7d54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f524cd7d54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57081a4a43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157081a4a43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57081a4a43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157081a4a43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57081a4a43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157081a4a43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157081a4a43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157081a4a43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157081a4a43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157081a4a43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2df9543243b_0_2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g2df9543243b_0_2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2df9543243b_0_2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2f524cd7d54_0_2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g2f524cd7d54_0_2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g2f524cd7d54_0_2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dfd80478e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2dfd80478e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2f474c3a6a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2f474c3a6a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157081a4a43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157081a4a43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2f524cd7d54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2f524cd7d54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2f524cd7d54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2f524cd7d54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157079316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157079316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157079316b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157079316b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2f524cd7d54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2f524cd7d54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157079316b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157079316b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157081a4a43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157081a4a43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157081a4a43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157081a4a43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2dfd80478e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2dfd80478e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" showMasterSp="0">
  <p:cSld name="Header">
    <p:bg>
      <p:bgPr>
        <a:solidFill>
          <a:schemeClr val="dk2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2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/>
          <p:nvPr>
            <p:ph type="ctrTitle"/>
          </p:nvPr>
        </p:nvSpPr>
        <p:spPr>
          <a:xfrm>
            <a:off x="1097281" y="1593265"/>
            <a:ext cx="6217800" cy="1627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1097281" y="3438287"/>
            <a:ext cx="6217800" cy="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1" name="Google Shape;61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1" type="ftr"/>
          </p:nvPr>
        </p:nvSpPr>
        <p:spPr>
          <a:xfrm>
            <a:off x="3028949" y="4767263"/>
            <a:ext cx="448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537713" y="273844"/>
            <a:ext cx="33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descr="En bild som visar ritning&#10;&#10;Automatiskt genererad beskrivning" id="64" name="Google Shape;6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13982" y="591895"/>
            <a:ext cx="1001370" cy="1001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light" type="blank">
  <p:cSld name="BLANK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49" y="4767263"/>
            <a:ext cx="448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537713" y="273844"/>
            <a:ext cx="33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(alt, sub)">
  <p:cSld name="Header (alt, sub)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ctrTitle"/>
          </p:nvPr>
        </p:nvSpPr>
        <p:spPr>
          <a:xfrm>
            <a:off x="628650" y="1020677"/>
            <a:ext cx="78867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cap="none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subTitle"/>
          </p:nvPr>
        </p:nvSpPr>
        <p:spPr>
          <a:xfrm>
            <a:off x="628650" y="2962430"/>
            <a:ext cx="78867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3028949" y="4767263"/>
            <a:ext cx="448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537713" y="273844"/>
            <a:ext cx="33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descr="En bild som visar ritning&#10;&#10;Automatiskt genererad beskrivning" id="75" name="Google Shape;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2768" y="263608"/>
            <a:ext cx="572582" cy="572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-six &quot;bullets&quot;">
  <p:cSld name="Five-six &quot;bullets&quot;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ctrTitle"/>
          </p:nvPr>
        </p:nvSpPr>
        <p:spPr>
          <a:xfrm>
            <a:off x="628650" y="911992"/>
            <a:ext cx="23208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b="0" i="0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" type="subTitle"/>
          </p:nvPr>
        </p:nvSpPr>
        <p:spPr>
          <a:xfrm>
            <a:off x="628650" y="1716302"/>
            <a:ext cx="23208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1" type="ftr"/>
          </p:nvPr>
        </p:nvSpPr>
        <p:spPr>
          <a:xfrm>
            <a:off x="3028949" y="4767263"/>
            <a:ext cx="448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537713" y="273844"/>
            <a:ext cx="33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idx="2" type="body"/>
          </p:nvPr>
        </p:nvSpPr>
        <p:spPr>
          <a:xfrm>
            <a:off x="3411738" y="1716458"/>
            <a:ext cx="2320800" cy="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3" type="body"/>
          </p:nvPr>
        </p:nvSpPr>
        <p:spPr>
          <a:xfrm>
            <a:off x="3411635" y="911992"/>
            <a:ext cx="23208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4" type="body"/>
          </p:nvPr>
        </p:nvSpPr>
        <p:spPr>
          <a:xfrm>
            <a:off x="6194618" y="911992"/>
            <a:ext cx="23208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5" type="body"/>
          </p:nvPr>
        </p:nvSpPr>
        <p:spPr>
          <a:xfrm>
            <a:off x="6194822" y="1716751"/>
            <a:ext cx="23205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6" type="body"/>
          </p:nvPr>
        </p:nvSpPr>
        <p:spPr>
          <a:xfrm>
            <a:off x="628852" y="2781273"/>
            <a:ext cx="23205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7" type="body"/>
          </p:nvPr>
        </p:nvSpPr>
        <p:spPr>
          <a:xfrm>
            <a:off x="3411141" y="2781272"/>
            <a:ext cx="23217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8" type="body"/>
          </p:nvPr>
        </p:nvSpPr>
        <p:spPr>
          <a:xfrm>
            <a:off x="628852" y="3579271"/>
            <a:ext cx="2320500" cy="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9" type="body"/>
          </p:nvPr>
        </p:nvSpPr>
        <p:spPr>
          <a:xfrm>
            <a:off x="3411141" y="3579271"/>
            <a:ext cx="23217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En bild som visar ritning&#10;&#10;Automatiskt genererad beskrivning" id="90" name="Google Shape;9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2768" y="263608"/>
            <a:ext cx="572582" cy="57258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>
            <p:ph idx="13" type="body"/>
          </p:nvPr>
        </p:nvSpPr>
        <p:spPr>
          <a:xfrm>
            <a:off x="6194822" y="2781272"/>
            <a:ext cx="23205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4" type="body"/>
          </p:nvPr>
        </p:nvSpPr>
        <p:spPr>
          <a:xfrm>
            <a:off x="6193630" y="3579019"/>
            <a:ext cx="23217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ullets colored background">
  <p:cSld name="Three bullets colored background"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/>
          <p:nvPr/>
        </p:nvSpPr>
        <p:spPr>
          <a:xfrm>
            <a:off x="3320637" y="1269458"/>
            <a:ext cx="2502600" cy="2854200"/>
          </a:xfrm>
          <a:prstGeom prst="rect">
            <a:avLst/>
          </a:prstGeom>
          <a:solidFill>
            <a:schemeClr val="lt1">
              <a:alpha val="471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531421" y="1269458"/>
            <a:ext cx="2502600" cy="2854200"/>
          </a:xfrm>
          <a:prstGeom prst="rect">
            <a:avLst/>
          </a:prstGeom>
          <a:solidFill>
            <a:schemeClr val="lt1">
              <a:alpha val="471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6109855" y="1269458"/>
            <a:ext cx="2502600" cy="2854200"/>
          </a:xfrm>
          <a:prstGeom prst="rect">
            <a:avLst/>
          </a:prstGeom>
          <a:solidFill>
            <a:schemeClr val="lt1">
              <a:alpha val="471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3320637" y="1269458"/>
            <a:ext cx="2502600" cy="28542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531421" y="1269460"/>
            <a:ext cx="2502600" cy="28542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6109855" y="1269458"/>
            <a:ext cx="2502600" cy="28542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8"/>
          <p:cNvSpPr txBox="1"/>
          <p:nvPr>
            <p:ph type="ctrTitle"/>
          </p:nvPr>
        </p:nvSpPr>
        <p:spPr>
          <a:xfrm>
            <a:off x="707923" y="1371601"/>
            <a:ext cx="2160000" cy="12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sz="26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" type="subTitle"/>
          </p:nvPr>
        </p:nvSpPr>
        <p:spPr>
          <a:xfrm>
            <a:off x="707923" y="2787446"/>
            <a:ext cx="2160000" cy="12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02" name="Google Shape;102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8"/>
          <p:cNvSpPr txBox="1"/>
          <p:nvPr>
            <p:ph idx="11" type="ftr"/>
          </p:nvPr>
        </p:nvSpPr>
        <p:spPr>
          <a:xfrm>
            <a:off x="3028949" y="4767263"/>
            <a:ext cx="448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537713" y="273844"/>
            <a:ext cx="33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105" name="Google Shape;105;p18"/>
          <p:cNvSpPr txBox="1"/>
          <p:nvPr>
            <p:ph idx="2" type="body"/>
          </p:nvPr>
        </p:nvSpPr>
        <p:spPr>
          <a:xfrm>
            <a:off x="3484410" y="2787470"/>
            <a:ext cx="2160000" cy="12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3" type="body"/>
          </p:nvPr>
        </p:nvSpPr>
        <p:spPr>
          <a:xfrm>
            <a:off x="3484307" y="1371601"/>
            <a:ext cx="2160000" cy="12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b="1" i="0" sz="26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4" type="body"/>
          </p:nvPr>
        </p:nvSpPr>
        <p:spPr>
          <a:xfrm>
            <a:off x="6272045" y="1371601"/>
            <a:ext cx="2160000" cy="12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b="1" i="0" sz="2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5" type="body"/>
          </p:nvPr>
        </p:nvSpPr>
        <p:spPr>
          <a:xfrm>
            <a:off x="6272249" y="2787453"/>
            <a:ext cx="2160000" cy="12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6" type="body"/>
          </p:nvPr>
        </p:nvSpPr>
        <p:spPr>
          <a:xfrm>
            <a:off x="562283" y="764735"/>
            <a:ext cx="25026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En bild som visar ritning&#10;&#10;Automatiskt genererad beskrivning" id="110" name="Google Shape;110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2768" y="263608"/>
            <a:ext cx="572582" cy="572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light" type="blank">
  <p:cSld name="BLANK"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11" type="ftr"/>
          </p:nvPr>
        </p:nvSpPr>
        <p:spPr>
          <a:xfrm>
            <a:off x="3028949" y="4767263"/>
            <a:ext cx="448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idx="12" type="sldNum"/>
          </p:nvPr>
        </p:nvSpPr>
        <p:spPr>
          <a:xfrm>
            <a:off x="8537713" y="273844"/>
            <a:ext cx="33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C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C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C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C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C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C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C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-six &quot;bullets&quot;">
  <p:cSld name="Five-six &quot;bullets&quot;">
    <p:bg>
      <p:bgPr>
        <a:solidFill>
          <a:schemeClr val="dk2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ctrTitle"/>
          </p:nvPr>
        </p:nvSpPr>
        <p:spPr>
          <a:xfrm>
            <a:off x="628650" y="911992"/>
            <a:ext cx="23208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b="0" i="0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1"/>
          <p:cNvSpPr txBox="1"/>
          <p:nvPr>
            <p:ph idx="1" type="subTitle"/>
          </p:nvPr>
        </p:nvSpPr>
        <p:spPr>
          <a:xfrm>
            <a:off x="628650" y="1716302"/>
            <a:ext cx="23208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25" name="Google Shape;125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11" type="ftr"/>
          </p:nvPr>
        </p:nvSpPr>
        <p:spPr>
          <a:xfrm>
            <a:off x="3028949" y="4767263"/>
            <a:ext cx="448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12" type="sldNum"/>
          </p:nvPr>
        </p:nvSpPr>
        <p:spPr>
          <a:xfrm>
            <a:off x="8537713" y="273844"/>
            <a:ext cx="33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128" name="Google Shape;128;p21"/>
          <p:cNvSpPr txBox="1"/>
          <p:nvPr>
            <p:ph idx="2" type="body"/>
          </p:nvPr>
        </p:nvSpPr>
        <p:spPr>
          <a:xfrm>
            <a:off x="3411738" y="1716458"/>
            <a:ext cx="2320800" cy="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idx="3" type="body"/>
          </p:nvPr>
        </p:nvSpPr>
        <p:spPr>
          <a:xfrm>
            <a:off x="3411635" y="911992"/>
            <a:ext cx="23208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4" type="body"/>
          </p:nvPr>
        </p:nvSpPr>
        <p:spPr>
          <a:xfrm>
            <a:off x="6194618" y="911992"/>
            <a:ext cx="23208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5" type="body"/>
          </p:nvPr>
        </p:nvSpPr>
        <p:spPr>
          <a:xfrm>
            <a:off x="6194822" y="1716751"/>
            <a:ext cx="23205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2" name="Google Shape;132;p21"/>
          <p:cNvSpPr txBox="1"/>
          <p:nvPr>
            <p:ph idx="6" type="body"/>
          </p:nvPr>
        </p:nvSpPr>
        <p:spPr>
          <a:xfrm>
            <a:off x="628852" y="2781273"/>
            <a:ext cx="23205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3" name="Google Shape;133;p21"/>
          <p:cNvSpPr txBox="1"/>
          <p:nvPr>
            <p:ph idx="7" type="body"/>
          </p:nvPr>
        </p:nvSpPr>
        <p:spPr>
          <a:xfrm>
            <a:off x="3411141" y="2781272"/>
            <a:ext cx="23217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8" type="body"/>
          </p:nvPr>
        </p:nvSpPr>
        <p:spPr>
          <a:xfrm>
            <a:off x="628852" y="3579271"/>
            <a:ext cx="2320500" cy="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9" type="body"/>
          </p:nvPr>
        </p:nvSpPr>
        <p:spPr>
          <a:xfrm>
            <a:off x="3411141" y="3579271"/>
            <a:ext cx="23217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En bild som visar ritning&#10;&#10;Automatiskt genererad beskrivning" id="136" name="Google Shape;136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2768" y="263608"/>
            <a:ext cx="572582" cy="57258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 txBox="1"/>
          <p:nvPr>
            <p:ph idx="13" type="body"/>
          </p:nvPr>
        </p:nvSpPr>
        <p:spPr>
          <a:xfrm>
            <a:off x="6194822" y="2781272"/>
            <a:ext cx="23205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14" type="body"/>
          </p:nvPr>
        </p:nvSpPr>
        <p:spPr>
          <a:xfrm>
            <a:off x="6193630" y="3579019"/>
            <a:ext cx="23217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(alt, sub)">
  <p:cSld name="Header (alt, sub)">
    <p:bg>
      <p:bgPr>
        <a:solidFill>
          <a:schemeClr val="dk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ctrTitle"/>
          </p:nvPr>
        </p:nvSpPr>
        <p:spPr>
          <a:xfrm>
            <a:off x="628650" y="1020677"/>
            <a:ext cx="78867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cap="none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" type="subTitle"/>
          </p:nvPr>
        </p:nvSpPr>
        <p:spPr>
          <a:xfrm>
            <a:off x="628650" y="2962430"/>
            <a:ext cx="78867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2" name="Google Shape;142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2"/>
          <p:cNvSpPr txBox="1"/>
          <p:nvPr>
            <p:ph idx="11" type="ftr"/>
          </p:nvPr>
        </p:nvSpPr>
        <p:spPr>
          <a:xfrm>
            <a:off x="3028949" y="4767263"/>
            <a:ext cx="448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22"/>
          <p:cNvSpPr txBox="1"/>
          <p:nvPr>
            <p:ph idx="12" type="sldNum"/>
          </p:nvPr>
        </p:nvSpPr>
        <p:spPr>
          <a:xfrm>
            <a:off x="8537713" y="273844"/>
            <a:ext cx="33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descr="En bild som visar ritning&#10;&#10;Automatiskt genererad beskrivning" id="145" name="Google Shape;14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2768" y="263608"/>
            <a:ext cx="572582" cy="572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e and contrast">
  <p:cSld name="Compare and contrast">
    <p:bg>
      <p:bgPr>
        <a:solidFill>
          <a:schemeClr val="dk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ctrTitle"/>
          </p:nvPr>
        </p:nvSpPr>
        <p:spPr>
          <a:xfrm>
            <a:off x="851312" y="1020677"/>
            <a:ext cx="33156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sz="33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" type="subTitle"/>
          </p:nvPr>
        </p:nvSpPr>
        <p:spPr>
          <a:xfrm>
            <a:off x="851312" y="2289124"/>
            <a:ext cx="33156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9" name="Google Shape;149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0" name="Google Shape;150;p23"/>
          <p:cNvSpPr txBox="1"/>
          <p:nvPr>
            <p:ph idx="11" type="ftr"/>
          </p:nvPr>
        </p:nvSpPr>
        <p:spPr>
          <a:xfrm>
            <a:off x="3028949" y="4767263"/>
            <a:ext cx="448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3"/>
          <p:cNvSpPr txBox="1"/>
          <p:nvPr>
            <p:ph idx="12" type="sldNum"/>
          </p:nvPr>
        </p:nvSpPr>
        <p:spPr>
          <a:xfrm>
            <a:off x="8537713" y="273844"/>
            <a:ext cx="33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152" name="Google Shape;152;p23"/>
          <p:cNvSpPr txBox="1"/>
          <p:nvPr>
            <p:ph idx="2" type="body"/>
          </p:nvPr>
        </p:nvSpPr>
        <p:spPr>
          <a:xfrm>
            <a:off x="4911446" y="2288969"/>
            <a:ext cx="33156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3" name="Google Shape;153;p23"/>
          <p:cNvSpPr txBox="1"/>
          <p:nvPr>
            <p:ph idx="3" type="body"/>
          </p:nvPr>
        </p:nvSpPr>
        <p:spPr>
          <a:xfrm>
            <a:off x="4911343" y="1020366"/>
            <a:ext cx="33156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b="1" i="0" sz="33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En bild som visar ritning&#10;&#10;Automatiskt genererad beskrivning" id="154" name="Google Shape;15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2768" y="263608"/>
            <a:ext cx="572582" cy="572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gular slide">
  <p:cSld name="Regular slide">
    <p:bg>
      <p:bgPr>
        <a:solidFill>
          <a:schemeClr val="dk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ctrTitle"/>
          </p:nvPr>
        </p:nvSpPr>
        <p:spPr>
          <a:xfrm>
            <a:off x="851311" y="642938"/>
            <a:ext cx="4485000" cy="7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24"/>
          <p:cNvSpPr txBox="1"/>
          <p:nvPr>
            <p:ph idx="1" type="subTitle"/>
          </p:nvPr>
        </p:nvSpPr>
        <p:spPr>
          <a:xfrm>
            <a:off x="851311" y="1663066"/>
            <a:ext cx="6662700" cy="2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8" name="Google Shape;158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24"/>
          <p:cNvSpPr txBox="1"/>
          <p:nvPr>
            <p:ph idx="11" type="ftr"/>
          </p:nvPr>
        </p:nvSpPr>
        <p:spPr>
          <a:xfrm>
            <a:off x="3028949" y="4767263"/>
            <a:ext cx="448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24"/>
          <p:cNvSpPr txBox="1"/>
          <p:nvPr>
            <p:ph idx="12" type="sldNum"/>
          </p:nvPr>
        </p:nvSpPr>
        <p:spPr>
          <a:xfrm>
            <a:off x="8537713" y="273844"/>
            <a:ext cx="33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descr="En bild som visar ritning&#10;&#10;Automatiskt genererad beskrivning"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2768" y="263608"/>
            <a:ext cx="572582" cy="572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" showMasterSp="0">
  <p:cSld name="Header">
    <p:bg>
      <p:bgPr>
        <a:solidFill>
          <a:schemeClr val="dk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2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5"/>
          <p:cNvSpPr txBox="1"/>
          <p:nvPr>
            <p:ph type="ctrTitle"/>
          </p:nvPr>
        </p:nvSpPr>
        <p:spPr>
          <a:xfrm>
            <a:off x="1097281" y="1593265"/>
            <a:ext cx="6217800" cy="1627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p25"/>
          <p:cNvSpPr txBox="1"/>
          <p:nvPr>
            <p:ph idx="1" type="subTitle"/>
          </p:nvPr>
        </p:nvSpPr>
        <p:spPr>
          <a:xfrm>
            <a:off x="1097281" y="3438287"/>
            <a:ext cx="6217800" cy="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66" name="Google Shape;166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25"/>
          <p:cNvSpPr txBox="1"/>
          <p:nvPr>
            <p:ph idx="11" type="ftr"/>
          </p:nvPr>
        </p:nvSpPr>
        <p:spPr>
          <a:xfrm>
            <a:off x="3028949" y="4767263"/>
            <a:ext cx="448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25"/>
          <p:cNvSpPr txBox="1"/>
          <p:nvPr>
            <p:ph idx="12" type="sldNum"/>
          </p:nvPr>
        </p:nvSpPr>
        <p:spPr>
          <a:xfrm>
            <a:off x="8537713" y="273844"/>
            <a:ext cx="33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descr="En bild som visar ritning&#10;&#10;Automatiskt genererad beskrivning" id="169" name="Google Shape;16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13982" y="591895"/>
            <a:ext cx="1001370" cy="1001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ullets colored background">
  <p:cSld name="Three bullets colored background"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/>
          <p:nvPr/>
        </p:nvSpPr>
        <p:spPr>
          <a:xfrm>
            <a:off x="3320637" y="1269458"/>
            <a:ext cx="2502600" cy="2854200"/>
          </a:xfrm>
          <a:prstGeom prst="rect">
            <a:avLst/>
          </a:prstGeom>
          <a:solidFill>
            <a:schemeClr val="lt1">
              <a:alpha val="51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6"/>
          <p:cNvSpPr/>
          <p:nvPr/>
        </p:nvSpPr>
        <p:spPr>
          <a:xfrm>
            <a:off x="531421" y="1269458"/>
            <a:ext cx="2502600" cy="2854200"/>
          </a:xfrm>
          <a:prstGeom prst="rect">
            <a:avLst/>
          </a:prstGeom>
          <a:solidFill>
            <a:schemeClr val="lt1">
              <a:alpha val="51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6"/>
          <p:cNvSpPr/>
          <p:nvPr/>
        </p:nvSpPr>
        <p:spPr>
          <a:xfrm>
            <a:off x="6109855" y="1269458"/>
            <a:ext cx="2502600" cy="2854200"/>
          </a:xfrm>
          <a:prstGeom prst="rect">
            <a:avLst/>
          </a:prstGeom>
          <a:solidFill>
            <a:schemeClr val="lt1">
              <a:alpha val="51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6"/>
          <p:cNvSpPr/>
          <p:nvPr/>
        </p:nvSpPr>
        <p:spPr>
          <a:xfrm>
            <a:off x="3320637" y="1269458"/>
            <a:ext cx="2502600" cy="28542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531421" y="1269460"/>
            <a:ext cx="2502600" cy="28542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6109855" y="1269458"/>
            <a:ext cx="2502600" cy="28542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 txBox="1"/>
          <p:nvPr>
            <p:ph type="ctrTitle"/>
          </p:nvPr>
        </p:nvSpPr>
        <p:spPr>
          <a:xfrm>
            <a:off x="707923" y="1371601"/>
            <a:ext cx="2160000" cy="12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sz="26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8" name="Google Shape;178;p26"/>
          <p:cNvSpPr txBox="1"/>
          <p:nvPr>
            <p:ph idx="1" type="subTitle"/>
          </p:nvPr>
        </p:nvSpPr>
        <p:spPr>
          <a:xfrm>
            <a:off x="707923" y="2787446"/>
            <a:ext cx="2160000" cy="12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79" name="Google Shape;179;p2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26"/>
          <p:cNvSpPr txBox="1"/>
          <p:nvPr>
            <p:ph idx="11" type="ftr"/>
          </p:nvPr>
        </p:nvSpPr>
        <p:spPr>
          <a:xfrm>
            <a:off x="3028949" y="4767263"/>
            <a:ext cx="448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26"/>
          <p:cNvSpPr txBox="1"/>
          <p:nvPr>
            <p:ph idx="12" type="sldNum"/>
          </p:nvPr>
        </p:nvSpPr>
        <p:spPr>
          <a:xfrm>
            <a:off x="8537713" y="273844"/>
            <a:ext cx="33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182" name="Google Shape;182;p26"/>
          <p:cNvSpPr txBox="1"/>
          <p:nvPr>
            <p:ph idx="2" type="body"/>
          </p:nvPr>
        </p:nvSpPr>
        <p:spPr>
          <a:xfrm>
            <a:off x="3484410" y="2787470"/>
            <a:ext cx="2160000" cy="12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3" name="Google Shape;183;p26"/>
          <p:cNvSpPr txBox="1"/>
          <p:nvPr>
            <p:ph idx="3" type="body"/>
          </p:nvPr>
        </p:nvSpPr>
        <p:spPr>
          <a:xfrm>
            <a:off x="3484307" y="1371601"/>
            <a:ext cx="2160000" cy="12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b="1" i="0" sz="26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4" name="Google Shape;184;p26"/>
          <p:cNvSpPr txBox="1"/>
          <p:nvPr>
            <p:ph idx="4" type="body"/>
          </p:nvPr>
        </p:nvSpPr>
        <p:spPr>
          <a:xfrm>
            <a:off x="6272045" y="1371601"/>
            <a:ext cx="2160000" cy="12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b="1" i="0" sz="2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5" name="Google Shape;185;p26"/>
          <p:cNvSpPr txBox="1"/>
          <p:nvPr>
            <p:ph idx="5" type="body"/>
          </p:nvPr>
        </p:nvSpPr>
        <p:spPr>
          <a:xfrm>
            <a:off x="6272249" y="2787453"/>
            <a:ext cx="2160000" cy="12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6" name="Google Shape;186;p26"/>
          <p:cNvSpPr txBox="1"/>
          <p:nvPr>
            <p:ph idx="6" type="body"/>
          </p:nvPr>
        </p:nvSpPr>
        <p:spPr>
          <a:xfrm>
            <a:off x="562283" y="764735"/>
            <a:ext cx="25026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En bild som visar ritning&#10;&#10;Automatiskt genererad beskrivning" id="187" name="Google Shape;187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2768" y="263608"/>
            <a:ext cx="572582" cy="572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91" name="Google Shape;19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e and contrast 50-50">
  <p:cSld name="Compare and contrast 50-50">
    <p:bg>
      <p:bgPr>
        <a:solidFill>
          <a:schemeClr val="lt2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8"/>
          <p:cNvSpPr txBox="1"/>
          <p:nvPr>
            <p:ph type="ctrTitle"/>
          </p:nvPr>
        </p:nvSpPr>
        <p:spPr>
          <a:xfrm>
            <a:off x="628650" y="1020677"/>
            <a:ext cx="33171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b="1" i="0" sz="3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5" name="Google Shape;195;p28"/>
          <p:cNvSpPr txBox="1"/>
          <p:nvPr>
            <p:ph idx="1" type="subTitle"/>
          </p:nvPr>
        </p:nvSpPr>
        <p:spPr>
          <a:xfrm>
            <a:off x="628650" y="2289124"/>
            <a:ext cx="33171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96" name="Google Shape;196;p2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7" name="Google Shape;197;p28"/>
          <p:cNvSpPr txBox="1"/>
          <p:nvPr>
            <p:ph idx="11" type="ftr"/>
          </p:nvPr>
        </p:nvSpPr>
        <p:spPr>
          <a:xfrm>
            <a:off x="3028949" y="4767263"/>
            <a:ext cx="448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28"/>
          <p:cNvSpPr txBox="1"/>
          <p:nvPr>
            <p:ph idx="12" type="sldNum"/>
          </p:nvPr>
        </p:nvSpPr>
        <p:spPr>
          <a:xfrm>
            <a:off x="8537713" y="273844"/>
            <a:ext cx="33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199" name="Google Shape;199;p28"/>
          <p:cNvSpPr txBox="1"/>
          <p:nvPr>
            <p:ph idx="2" type="body"/>
          </p:nvPr>
        </p:nvSpPr>
        <p:spPr>
          <a:xfrm>
            <a:off x="5200754" y="2288969"/>
            <a:ext cx="33147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0" name="Google Shape;200;p28"/>
          <p:cNvSpPr txBox="1"/>
          <p:nvPr>
            <p:ph idx="3" type="body"/>
          </p:nvPr>
        </p:nvSpPr>
        <p:spPr>
          <a:xfrm>
            <a:off x="5200650" y="1020366"/>
            <a:ext cx="33147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b="1" i="0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(alt 2, sub)">
  <p:cSld name="Header (alt 2, sub)">
    <p:bg>
      <p:bgPr>
        <a:solidFill>
          <a:schemeClr val="dk2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/>
          <p:nvPr>
            <p:ph type="ctrTitle"/>
          </p:nvPr>
        </p:nvSpPr>
        <p:spPr>
          <a:xfrm>
            <a:off x="628650" y="462914"/>
            <a:ext cx="78867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cap="none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3" name="Google Shape;203;p29"/>
          <p:cNvSpPr txBox="1"/>
          <p:nvPr>
            <p:ph idx="1" type="subTitle"/>
          </p:nvPr>
        </p:nvSpPr>
        <p:spPr>
          <a:xfrm>
            <a:off x="628650" y="3034664"/>
            <a:ext cx="7886700" cy="13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04" name="Google Shape;204;p2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5" name="Google Shape;205;p29"/>
          <p:cNvSpPr txBox="1"/>
          <p:nvPr>
            <p:ph idx="11" type="ftr"/>
          </p:nvPr>
        </p:nvSpPr>
        <p:spPr>
          <a:xfrm>
            <a:off x="3028949" y="4767263"/>
            <a:ext cx="448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6" name="Google Shape;206;p29"/>
          <p:cNvSpPr txBox="1"/>
          <p:nvPr>
            <p:ph idx="12" type="sldNum"/>
          </p:nvPr>
        </p:nvSpPr>
        <p:spPr>
          <a:xfrm>
            <a:off x="8537713" y="273844"/>
            <a:ext cx="33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207" name="Google Shape;207;p29"/>
          <p:cNvSpPr txBox="1"/>
          <p:nvPr>
            <p:ph idx="2" type="body"/>
          </p:nvPr>
        </p:nvSpPr>
        <p:spPr>
          <a:xfrm>
            <a:off x="628650" y="2434590"/>
            <a:ext cx="5355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 b="1" i="0" sz="2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i="0" sz="1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i="0" sz="1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i="0" sz="18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i="0" sz="18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En bild som visar ritning&#10;&#10;Automatiskt genererad beskrivning" id="208" name="Google Shape;208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2768" y="263608"/>
            <a:ext cx="572582" cy="572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1" name="Google Shape;211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2" name="Google Shape;21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Five-six &quot;bullets&quot;">
  <p:cSld name="1_Five-six &quot;bullets&quot;">
    <p:bg>
      <p:bgPr>
        <a:solidFill>
          <a:schemeClr val="dk2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ctrTitle"/>
          </p:nvPr>
        </p:nvSpPr>
        <p:spPr>
          <a:xfrm>
            <a:off x="628650" y="911992"/>
            <a:ext cx="23208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b="0" i="0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5" name="Google Shape;215;p31"/>
          <p:cNvSpPr txBox="1"/>
          <p:nvPr>
            <p:ph idx="1" type="subTitle"/>
          </p:nvPr>
        </p:nvSpPr>
        <p:spPr>
          <a:xfrm>
            <a:off x="628650" y="1716302"/>
            <a:ext cx="23208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16" name="Google Shape;216;p3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7" name="Google Shape;217;p31"/>
          <p:cNvSpPr txBox="1"/>
          <p:nvPr>
            <p:ph idx="11" type="ftr"/>
          </p:nvPr>
        </p:nvSpPr>
        <p:spPr>
          <a:xfrm>
            <a:off x="3028949" y="4767263"/>
            <a:ext cx="448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8" name="Google Shape;218;p31"/>
          <p:cNvSpPr txBox="1"/>
          <p:nvPr>
            <p:ph idx="12" type="sldNum"/>
          </p:nvPr>
        </p:nvSpPr>
        <p:spPr>
          <a:xfrm>
            <a:off x="8537713" y="273844"/>
            <a:ext cx="33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219" name="Google Shape;219;p31"/>
          <p:cNvSpPr txBox="1"/>
          <p:nvPr>
            <p:ph idx="2" type="body"/>
          </p:nvPr>
        </p:nvSpPr>
        <p:spPr>
          <a:xfrm>
            <a:off x="3411738" y="1716458"/>
            <a:ext cx="2320800" cy="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0" name="Google Shape;220;p31"/>
          <p:cNvSpPr txBox="1"/>
          <p:nvPr>
            <p:ph idx="3" type="body"/>
          </p:nvPr>
        </p:nvSpPr>
        <p:spPr>
          <a:xfrm>
            <a:off x="3411635" y="911992"/>
            <a:ext cx="23208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1" name="Google Shape;221;p31"/>
          <p:cNvSpPr txBox="1"/>
          <p:nvPr>
            <p:ph idx="4" type="body"/>
          </p:nvPr>
        </p:nvSpPr>
        <p:spPr>
          <a:xfrm>
            <a:off x="6194618" y="911992"/>
            <a:ext cx="23208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2" name="Google Shape;222;p31"/>
          <p:cNvSpPr txBox="1"/>
          <p:nvPr>
            <p:ph idx="5" type="body"/>
          </p:nvPr>
        </p:nvSpPr>
        <p:spPr>
          <a:xfrm>
            <a:off x="6194822" y="1716751"/>
            <a:ext cx="23205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3" name="Google Shape;223;p31"/>
          <p:cNvSpPr txBox="1"/>
          <p:nvPr>
            <p:ph idx="6" type="body"/>
          </p:nvPr>
        </p:nvSpPr>
        <p:spPr>
          <a:xfrm>
            <a:off x="628852" y="2781273"/>
            <a:ext cx="23205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4" name="Google Shape;224;p31"/>
          <p:cNvSpPr txBox="1"/>
          <p:nvPr>
            <p:ph idx="7" type="body"/>
          </p:nvPr>
        </p:nvSpPr>
        <p:spPr>
          <a:xfrm>
            <a:off x="3411141" y="2781272"/>
            <a:ext cx="23217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5" name="Google Shape;225;p31"/>
          <p:cNvSpPr txBox="1"/>
          <p:nvPr>
            <p:ph idx="8" type="body"/>
          </p:nvPr>
        </p:nvSpPr>
        <p:spPr>
          <a:xfrm>
            <a:off x="628852" y="3579271"/>
            <a:ext cx="2320500" cy="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6" name="Google Shape;226;p31"/>
          <p:cNvSpPr txBox="1"/>
          <p:nvPr>
            <p:ph idx="9" type="body"/>
          </p:nvPr>
        </p:nvSpPr>
        <p:spPr>
          <a:xfrm>
            <a:off x="3411141" y="3579271"/>
            <a:ext cx="23217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En bild som visar ritning&#10;&#10;Automatiskt genererad beskrivning" id="227" name="Google Shape;227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2768" y="263608"/>
            <a:ext cx="572582" cy="572583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1"/>
          <p:cNvSpPr txBox="1"/>
          <p:nvPr>
            <p:ph idx="13" type="body"/>
          </p:nvPr>
        </p:nvSpPr>
        <p:spPr>
          <a:xfrm>
            <a:off x="6194822" y="2781272"/>
            <a:ext cx="23205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9" name="Google Shape;229;p31"/>
          <p:cNvSpPr txBox="1"/>
          <p:nvPr>
            <p:ph idx="14" type="body"/>
          </p:nvPr>
        </p:nvSpPr>
        <p:spPr>
          <a:xfrm>
            <a:off x="6193630" y="3579019"/>
            <a:ext cx="23217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(alt, sub)">
  <p:cSld name="Header (alt, sub)">
    <p:bg>
      <p:bgPr>
        <a:solidFill>
          <a:schemeClr val="dk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3"/>
          <p:cNvSpPr txBox="1"/>
          <p:nvPr>
            <p:ph type="ctrTitle"/>
          </p:nvPr>
        </p:nvSpPr>
        <p:spPr>
          <a:xfrm>
            <a:off x="628650" y="1020677"/>
            <a:ext cx="78867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cap="none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9" name="Google Shape;239;p33"/>
          <p:cNvSpPr txBox="1"/>
          <p:nvPr>
            <p:ph idx="1" type="subTitle"/>
          </p:nvPr>
        </p:nvSpPr>
        <p:spPr>
          <a:xfrm>
            <a:off x="628650" y="2962430"/>
            <a:ext cx="78867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40" name="Google Shape;240;p3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1" name="Google Shape;241;p33"/>
          <p:cNvSpPr txBox="1"/>
          <p:nvPr>
            <p:ph idx="11" type="ftr"/>
          </p:nvPr>
        </p:nvSpPr>
        <p:spPr>
          <a:xfrm>
            <a:off x="3028949" y="4767263"/>
            <a:ext cx="448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2" name="Google Shape;242;p33"/>
          <p:cNvSpPr txBox="1"/>
          <p:nvPr>
            <p:ph idx="12" type="sldNum"/>
          </p:nvPr>
        </p:nvSpPr>
        <p:spPr>
          <a:xfrm>
            <a:off x="8537713" y="273844"/>
            <a:ext cx="33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descr="En bild som visar ritning&#10;&#10;Automatiskt genererad beskrivning" id="243" name="Google Shape;243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2768" y="263608"/>
            <a:ext cx="572582" cy="572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light" type="blank">
  <p:cSld name="BLANK">
    <p:bg>
      <p:bgPr>
        <a:solidFill>
          <a:schemeClr val="lt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6" name="Google Shape;246;p34"/>
          <p:cNvSpPr txBox="1"/>
          <p:nvPr>
            <p:ph idx="11" type="ftr"/>
          </p:nvPr>
        </p:nvSpPr>
        <p:spPr>
          <a:xfrm>
            <a:off x="3028949" y="4767263"/>
            <a:ext cx="448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7" name="Google Shape;247;p34"/>
          <p:cNvSpPr txBox="1"/>
          <p:nvPr>
            <p:ph idx="12" type="sldNum"/>
          </p:nvPr>
        </p:nvSpPr>
        <p:spPr>
          <a:xfrm>
            <a:off x="8537713" y="273844"/>
            <a:ext cx="33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C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C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C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C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C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C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C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" showMasterSp="0">
  <p:cSld name="Header">
    <p:bg>
      <p:bgPr>
        <a:solidFill>
          <a:schemeClr val="dk2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2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5"/>
          <p:cNvSpPr txBox="1"/>
          <p:nvPr>
            <p:ph type="ctrTitle"/>
          </p:nvPr>
        </p:nvSpPr>
        <p:spPr>
          <a:xfrm>
            <a:off x="1097281" y="1593265"/>
            <a:ext cx="6217800" cy="1627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1" name="Google Shape;251;p35"/>
          <p:cNvSpPr txBox="1"/>
          <p:nvPr>
            <p:ph idx="1" type="subTitle"/>
          </p:nvPr>
        </p:nvSpPr>
        <p:spPr>
          <a:xfrm>
            <a:off x="1097281" y="3438287"/>
            <a:ext cx="6217800" cy="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52" name="Google Shape;252;p3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3" name="Google Shape;253;p35"/>
          <p:cNvSpPr txBox="1"/>
          <p:nvPr>
            <p:ph idx="11" type="ftr"/>
          </p:nvPr>
        </p:nvSpPr>
        <p:spPr>
          <a:xfrm>
            <a:off x="3028949" y="4767263"/>
            <a:ext cx="448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4" name="Google Shape;254;p35"/>
          <p:cNvSpPr txBox="1"/>
          <p:nvPr>
            <p:ph idx="12" type="sldNum"/>
          </p:nvPr>
        </p:nvSpPr>
        <p:spPr>
          <a:xfrm>
            <a:off x="8537713" y="273844"/>
            <a:ext cx="33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descr="En bild som visar ritning&#10;&#10;Automatiskt genererad beskrivning" id="255" name="Google Shape;255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13982" y="591895"/>
            <a:ext cx="1001370" cy="1001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8" name="Google Shape;258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59" name="Google Shape;25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-six &quot;bullets&quot;">
  <p:cSld name="Five-six &quot;bullets&quot;">
    <p:bg>
      <p:bgPr>
        <a:solidFill>
          <a:schemeClr val="dk2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7"/>
          <p:cNvSpPr txBox="1"/>
          <p:nvPr>
            <p:ph type="ctrTitle"/>
          </p:nvPr>
        </p:nvSpPr>
        <p:spPr>
          <a:xfrm>
            <a:off x="628650" y="911992"/>
            <a:ext cx="23208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b="0" i="0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2" name="Google Shape;262;p37"/>
          <p:cNvSpPr txBox="1"/>
          <p:nvPr>
            <p:ph idx="1" type="subTitle"/>
          </p:nvPr>
        </p:nvSpPr>
        <p:spPr>
          <a:xfrm>
            <a:off x="628650" y="1716302"/>
            <a:ext cx="23208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63" name="Google Shape;263;p3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4" name="Google Shape;264;p37"/>
          <p:cNvSpPr txBox="1"/>
          <p:nvPr>
            <p:ph idx="11" type="ftr"/>
          </p:nvPr>
        </p:nvSpPr>
        <p:spPr>
          <a:xfrm>
            <a:off x="3028949" y="4767263"/>
            <a:ext cx="448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5" name="Google Shape;265;p37"/>
          <p:cNvSpPr txBox="1"/>
          <p:nvPr>
            <p:ph idx="12" type="sldNum"/>
          </p:nvPr>
        </p:nvSpPr>
        <p:spPr>
          <a:xfrm>
            <a:off x="8537713" y="273844"/>
            <a:ext cx="33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266" name="Google Shape;266;p37"/>
          <p:cNvSpPr txBox="1"/>
          <p:nvPr>
            <p:ph idx="2" type="body"/>
          </p:nvPr>
        </p:nvSpPr>
        <p:spPr>
          <a:xfrm>
            <a:off x="3411738" y="1716458"/>
            <a:ext cx="2320800" cy="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7" name="Google Shape;267;p37"/>
          <p:cNvSpPr txBox="1"/>
          <p:nvPr>
            <p:ph idx="3" type="body"/>
          </p:nvPr>
        </p:nvSpPr>
        <p:spPr>
          <a:xfrm>
            <a:off x="3411635" y="911992"/>
            <a:ext cx="23208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8" name="Google Shape;268;p37"/>
          <p:cNvSpPr txBox="1"/>
          <p:nvPr>
            <p:ph idx="4" type="body"/>
          </p:nvPr>
        </p:nvSpPr>
        <p:spPr>
          <a:xfrm>
            <a:off x="6194618" y="911992"/>
            <a:ext cx="23208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9" name="Google Shape;269;p37"/>
          <p:cNvSpPr txBox="1"/>
          <p:nvPr>
            <p:ph idx="5" type="body"/>
          </p:nvPr>
        </p:nvSpPr>
        <p:spPr>
          <a:xfrm>
            <a:off x="6194822" y="1716751"/>
            <a:ext cx="23205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0" name="Google Shape;270;p37"/>
          <p:cNvSpPr txBox="1"/>
          <p:nvPr>
            <p:ph idx="6" type="body"/>
          </p:nvPr>
        </p:nvSpPr>
        <p:spPr>
          <a:xfrm>
            <a:off x="628852" y="2781273"/>
            <a:ext cx="23205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1" name="Google Shape;271;p37"/>
          <p:cNvSpPr txBox="1"/>
          <p:nvPr>
            <p:ph idx="7" type="body"/>
          </p:nvPr>
        </p:nvSpPr>
        <p:spPr>
          <a:xfrm>
            <a:off x="3411141" y="2781272"/>
            <a:ext cx="23217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2" name="Google Shape;272;p37"/>
          <p:cNvSpPr txBox="1"/>
          <p:nvPr>
            <p:ph idx="8" type="body"/>
          </p:nvPr>
        </p:nvSpPr>
        <p:spPr>
          <a:xfrm>
            <a:off x="628852" y="3579271"/>
            <a:ext cx="2320500" cy="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3" name="Google Shape;273;p37"/>
          <p:cNvSpPr txBox="1"/>
          <p:nvPr>
            <p:ph idx="9" type="body"/>
          </p:nvPr>
        </p:nvSpPr>
        <p:spPr>
          <a:xfrm>
            <a:off x="3411141" y="3579271"/>
            <a:ext cx="23217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En bild som visar ritning&#10;&#10;Automatiskt genererad beskrivning" id="274" name="Google Shape;274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2768" y="263608"/>
            <a:ext cx="572582" cy="572582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7"/>
          <p:cNvSpPr txBox="1"/>
          <p:nvPr>
            <p:ph idx="13" type="body"/>
          </p:nvPr>
        </p:nvSpPr>
        <p:spPr>
          <a:xfrm>
            <a:off x="6194822" y="2781272"/>
            <a:ext cx="23205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6" name="Google Shape;276;p37"/>
          <p:cNvSpPr txBox="1"/>
          <p:nvPr>
            <p:ph idx="14" type="body"/>
          </p:nvPr>
        </p:nvSpPr>
        <p:spPr>
          <a:xfrm>
            <a:off x="6193630" y="3579019"/>
            <a:ext cx="23217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ullets colored background">
  <p:cSld name="Three bullets colored background">
    <p:bg>
      <p:bgPr>
        <a:solidFill>
          <a:schemeClr val="dk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8"/>
          <p:cNvSpPr/>
          <p:nvPr/>
        </p:nvSpPr>
        <p:spPr>
          <a:xfrm>
            <a:off x="3320637" y="1269458"/>
            <a:ext cx="2502600" cy="2854200"/>
          </a:xfrm>
          <a:prstGeom prst="rect">
            <a:avLst/>
          </a:prstGeom>
          <a:solidFill>
            <a:schemeClr val="lt1">
              <a:alpha val="549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8"/>
          <p:cNvSpPr/>
          <p:nvPr/>
        </p:nvSpPr>
        <p:spPr>
          <a:xfrm>
            <a:off x="531421" y="1269458"/>
            <a:ext cx="2502600" cy="2854200"/>
          </a:xfrm>
          <a:prstGeom prst="rect">
            <a:avLst/>
          </a:prstGeom>
          <a:solidFill>
            <a:schemeClr val="lt1">
              <a:alpha val="549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8"/>
          <p:cNvSpPr/>
          <p:nvPr/>
        </p:nvSpPr>
        <p:spPr>
          <a:xfrm>
            <a:off x="6109855" y="1269458"/>
            <a:ext cx="2502600" cy="2854200"/>
          </a:xfrm>
          <a:prstGeom prst="rect">
            <a:avLst/>
          </a:prstGeom>
          <a:solidFill>
            <a:schemeClr val="lt1">
              <a:alpha val="549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8"/>
          <p:cNvSpPr/>
          <p:nvPr/>
        </p:nvSpPr>
        <p:spPr>
          <a:xfrm>
            <a:off x="3320637" y="1269458"/>
            <a:ext cx="2502600" cy="28542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8"/>
          <p:cNvSpPr/>
          <p:nvPr/>
        </p:nvSpPr>
        <p:spPr>
          <a:xfrm>
            <a:off x="531421" y="1269460"/>
            <a:ext cx="2502600" cy="28542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8"/>
          <p:cNvSpPr/>
          <p:nvPr/>
        </p:nvSpPr>
        <p:spPr>
          <a:xfrm>
            <a:off x="6109855" y="1269458"/>
            <a:ext cx="2502600" cy="28542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8"/>
          <p:cNvSpPr txBox="1"/>
          <p:nvPr>
            <p:ph type="ctrTitle"/>
          </p:nvPr>
        </p:nvSpPr>
        <p:spPr>
          <a:xfrm>
            <a:off x="707923" y="1371601"/>
            <a:ext cx="2160000" cy="12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sz="26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5" name="Google Shape;285;p38"/>
          <p:cNvSpPr txBox="1"/>
          <p:nvPr>
            <p:ph idx="1" type="subTitle"/>
          </p:nvPr>
        </p:nvSpPr>
        <p:spPr>
          <a:xfrm>
            <a:off x="707923" y="2787446"/>
            <a:ext cx="2160000" cy="12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6" name="Google Shape;286;p3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7" name="Google Shape;287;p38"/>
          <p:cNvSpPr txBox="1"/>
          <p:nvPr>
            <p:ph idx="11" type="ftr"/>
          </p:nvPr>
        </p:nvSpPr>
        <p:spPr>
          <a:xfrm>
            <a:off x="3028949" y="4767263"/>
            <a:ext cx="448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8" name="Google Shape;288;p38"/>
          <p:cNvSpPr txBox="1"/>
          <p:nvPr>
            <p:ph idx="12" type="sldNum"/>
          </p:nvPr>
        </p:nvSpPr>
        <p:spPr>
          <a:xfrm>
            <a:off x="8537713" y="273844"/>
            <a:ext cx="33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289" name="Google Shape;289;p38"/>
          <p:cNvSpPr txBox="1"/>
          <p:nvPr>
            <p:ph idx="2" type="body"/>
          </p:nvPr>
        </p:nvSpPr>
        <p:spPr>
          <a:xfrm>
            <a:off x="3484410" y="2787470"/>
            <a:ext cx="2160000" cy="12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0" name="Google Shape;290;p38"/>
          <p:cNvSpPr txBox="1"/>
          <p:nvPr>
            <p:ph idx="3" type="body"/>
          </p:nvPr>
        </p:nvSpPr>
        <p:spPr>
          <a:xfrm>
            <a:off x="3484307" y="1371601"/>
            <a:ext cx="2160000" cy="12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b="1" i="0" sz="26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1" name="Google Shape;291;p38"/>
          <p:cNvSpPr txBox="1"/>
          <p:nvPr>
            <p:ph idx="4" type="body"/>
          </p:nvPr>
        </p:nvSpPr>
        <p:spPr>
          <a:xfrm>
            <a:off x="6272045" y="1371601"/>
            <a:ext cx="2160000" cy="12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b="1" i="0" sz="2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2" name="Google Shape;292;p38"/>
          <p:cNvSpPr txBox="1"/>
          <p:nvPr>
            <p:ph idx="5" type="body"/>
          </p:nvPr>
        </p:nvSpPr>
        <p:spPr>
          <a:xfrm>
            <a:off x="6272249" y="2787453"/>
            <a:ext cx="2160000" cy="12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3" name="Google Shape;293;p38"/>
          <p:cNvSpPr txBox="1"/>
          <p:nvPr>
            <p:ph idx="6" type="body"/>
          </p:nvPr>
        </p:nvSpPr>
        <p:spPr>
          <a:xfrm>
            <a:off x="562283" y="764735"/>
            <a:ext cx="25026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En bild som visar ritning&#10;&#10;Automatiskt genererad beskrivning" id="294" name="Google Shape;294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2768" y="263608"/>
            <a:ext cx="572582" cy="572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7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4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n bild som visar tänd, tecken, mörk, stor&#10;&#10;Automatiskt genererad beskrivning" id="51" name="Google Shape;51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941069" y="260547"/>
            <a:ext cx="574281" cy="57428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628650" y="273844"/>
            <a:ext cx="7096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1" i="0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028949" y="4767263"/>
            <a:ext cx="448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537713" y="273844"/>
            <a:ext cx="33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n bild som visar tänd, tecken, mörk, stor&#10;&#10;Automatiskt genererad beskrivning" id="112" name="Google Shape;112;p1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941069" y="260547"/>
            <a:ext cx="574281" cy="57428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 txBox="1"/>
          <p:nvPr>
            <p:ph type="title"/>
          </p:nvPr>
        </p:nvSpPr>
        <p:spPr>
          <a:xfrm>
            <a:off x="628650" y="273844"/>
            <a:ext cx="7096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1" i="0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19"/>
          <p:cNvSpPr txBox="1"/>
          <p:nvPr>
            <p:ph idx="11" type="ftr"/>
          </p:nvPr>
        </p:nvSpPr>
        <p:spPr>
          <a:xfrm>
            <a:off x="3028949" y="4767263"/>
            <a:ext cx="448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19"/>
          <p:cNvSpPr txBox="1"/>
          <p:nvPr>
            <p:ph idx="12" type="sldNum"/>
          </p:nvPr>
        </p:nvSpPr>
        <p:spPr>
          <a:xfrm>
            <a:off x="8537713" y="273844"/>
            <a:ext cx="33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n bild som visar tänd, tecken, mörk, stor&#10;&#10;Automatiskt genererad beskrivning" id="231" name="Google Shape;231;p3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941069" y="260547"/>
            <a:ext cx="574281" cy="57428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2"/>
          <p:cNvSpPr txBox="1"/>
          <p:nvPr>
            <p:ph type="title"/>
          </p:nvPr>
        </p:nvSpPr>
        <p:spPr>
          <a:xfrm>
            <a:off x="628650" y="273844"/>
            <a:ext cx="7096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1" i="0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3" name="Google Shape;233;p3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3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5" name="Google Shape;235;p32"/>
          <p:cNvSpPr txBox="1"/>
          <p:nvPr>
            <p:ph idx="11" type="ftr"/>
          </p:nvPr>
        </p:nvSpPr>
        <p:spPr>
          <a:xfrm>
            <a:off x="3028949" y="4767263"/>
            <a:ext cx="448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6" name="Google Shape;236;p32"/>
          <p:cNvSpPr txBox="1"/>
          <p:nvPr>
            <p:ph idx="12" type="sldNum"/>
          </p:nvPr>
        </p:nvSpPr>
        <p:spPr>
          <a:xfrm>
            <a:off x="8537713" y="273844"/>
            <a:ext cx="33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jp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Relationship Id="rId4" Type="http://schemas.openxmlformats.org/officeDocument/2006/relationships/image" Target="../media/image3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png"/></Relationships>
</file>

<file path=ppt/slides/_rels/slide26.xml.rels><?xml version="1.0" encoding="UTF-8" standalone="yes"?><Relationships xmlns="http://schemas.openxmlformats.org/package/2006/relationships"><Relationship Id="rId10" Type="http://schemas.openxmlformats.org/officeDocument/2006/relationships/image" Target="../media/image34.png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7.png"/><Relationship Id="rId4" Type="http://schemas.openxmlformats.org/officeDocument/2006/relationships/image" Target="../media/image27.png"/><Relationship Id="rId9" Type="http://schemas.openxmlformats.org/officeDocument/2006/relationships/image" Target="../media/image30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35.png"/><Relationship Id="rId8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39"/>
          <p:cNvPicPr preferRelativeResize="0"/>
          <p:nvPr/>
        </p:nvPicPr>
        <p:blipFill rotWithShape="1">
          <a:blip r:embed="rId3">
            <a:alphaModFix/>
          </a:blip>
          <a:srcRect b="9655" l="0" r="0" t="5941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n bild som visar ritning&#10;&#10;Automatiskt genererad beskrivning" id="301" name="Google Shape;30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17851" y="596232"/>
            <a:ext cx="989335" cy="98933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9"/>
          <p:cNvSpPr txBox="1"/>
          <p:nvPr/>
        </p:nvSpPr>
        <p:spPr>
          <a:xfrm>
            <a:off x="69713" y="4824394"/>
            <a:ext cx="401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none" cap="none" strike="noStrike">
                <a:solidFill>
                  <a:srgbClr val="FFFEFB"/>
                </a:solidFill>
                <a:latin typeface="Courier New"/>
                <a:ea typeface="Courier New"/>
                <a:cs typeface="Courier New"/>
                <a:sym typeface="Courier New"/>
              </a:rPr>
              <a:t>magnus.sahlgren@ai.se</a:t>
            </a:r>
            <a:endParaRPr b="0" i="0" sz="1100" u="none" cap="none" strike="noStrike">
              <a:solidFill>
                <a:srgbClr val="FFFEF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3" name="Google Shape;303;p39"/>
          <p:cNvSpPr txBox="1"/>
          <p:nvPr/>
        </p:nvSpPr>
        <p:spPr>
          <a:xfrm>
            <a:off x="689475" y="1479900"/>
            <a:ext cx="82032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E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E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E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sv" sz="2100">
                <a:solidFill>
                  <a:srgbClr val="FFFEFB"/>
                </a:solidFill>
              </a:rPr>
              <a:t>The state of open LLMs in Europe - the Nordic perspective</a:t>
            </a:r>
            <a:endParaRPr b="1" i="0" sz="2100" u="none" cap="none" strike="noStrike">
              <a:solidFill>
                <a:srgbClr val="FFFE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EF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40"/>
          <p:cNvPicPr preferRelativeResize="0"/>
          <p:nvPr/>
        </p:nvPicPr>
        <p:blipFill rotWithShape="1">
          <a:blip r:embed="rId3">
            <a:alphaModFix amt="19000"/>
          </a:blip>
          <a:srcRect b="0" l="0" r="0" t="0"/>
          <a:stretch/>
        </p:blipFill>
        <p:spPr>
          <a:xfrm>
            <a:off x="0" y="-1658194"/>
            <a:ext cx="9144003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0"/>
          <p:cNvSpPr txBox="1"/>
          <p:nvPr/>
        </p:nvSpPr>
        <p:spPr>
          <a:xfrm>
            <a:off x="69713" y="4824394"/>
            <a:ext cx="401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none" cap="none" strike="noStrike">
                <a:solidFill>
                  <a:srgbClr val="FFFEFB"/>
                </a:solidFill>
                <a:latin typeface="Courier New"/>
                <a:ea typeface="Courier New"/>
                <a:cs typeface="Courier New"/>
                <a:sym typeface="Courier New"/>
              </a:rPr>
              <a:t>magnus.sahlgren@ai.se</a:t>
            </a:r>
            <a:endParaRPr b="0" i="0" sz="1100" u="none" cap="none" strike="noStrike">
              <a:solidFill>
                <a:srgbClr val="FFFEF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1" name="Google Shape;311;p40"/>
          <p:cNvSpPr txBox="1"/>
          <p:nvPr/>
        </p:nvSpPr>
        <p:spPr>
          <a:xfrm>
            <a:off x="494831" y="2223281"/>
            <a:ext cx="8300400" cy="2320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sv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Language models learn a probability distribution over language</a:t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sv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sv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n bild som visar ritning&#10;&#10;Automatiskt genererad beskrivning" id="312" name="Google Shape;312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3850" y="262858"/>
            <a:ext cx="571018" cy="57101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0"/>
          <p:cNvSpPr txBox="1"/>
          <p:nvPr/>
        </p:nvSpPr>
        <p:spPr>
          <a:xfrm>
            <a:off x="7908075" y="4859044"/>
            <a:ext cx="1236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sv" sz="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Image by kjpargeter on Freepik</a:t>
            </a:r>
            <a:endParaRPr b="0" i="0" sz="6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0"/>
          <p:cNvSpPr txBox="1"/>
          <p:nvPr/>
        </p:nvSpPr>
        <p:spPr>
          <a:xfrm>
            <a:off x="494825" y="1748350"/>
            <a:ext cx="8300400" cy="22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FFFD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sv" sz="2100" u="none" cap="none" strike="noStrike">
                <a:solidFill>
                  <a:srgbClr val="FFFDF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100" u="none" cap="none" strike="noStrike">
              <a:solidFill>
                <a:srgbClr val="FFFD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sv" sz="2100" u="none" cap="none" strike="noStrike">
                <a:solidFill>
                  <a:srgbClr val="FFFDF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100" u="none" cap="none" strike="noStrike">
              <a:solidFill>
                <a:srgbClr val="FFFD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FFFD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4F1E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41"/>
          <p:cNvPicPr preferRelativeResize="0"/>
          <p:nvPr/>
        </p:nvPicPr>
        <p:blipFill rotWithShape="1">
          <a:blip r:embed="rId3">
            <a:alphaModFix amt="19000"/>
          </a:blip>
          <a:srcRect b="0" l="0" r="0" t="0"/>
          <a:stretch/>
        </p:blipFill>
        <p:spPr>
          <a:xfrm>
            <a:off x="0" y="-1658194"/>
            <a:ext cx="9144003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41"/>
          <p:cNvSpPr txBox="1"/>
          <p:nvPr/>
        </p:nvSpPr>
        <p:spPr>
          <a:xfrm>
            <a:off x="69713" y="4824394"/>
            <a:ext cx="401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none" cap="none" strike="noStrike">
                <a:solidFill>
                  <a:srgbClr val="FFFEFB"/>
                </a:solidFill>
                <a:latin typeface="Courier New"/>
                <a:ea typeface="Courier New"/>
                <a:cs typeface="Courier New"/>
                <a:sym typeface="Courier New"/>
              </a:rPr>
              <a:t>magnus.sahlgren@ai.se</a:t>
            </a:r>
            <a:endParaRPr b="0" i="0" sz="1100" u="none" cap="none" strike="noStrike">
              <a:solidFill>
                <a:srgbClr val="FFFEF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2" name="Google Shape;322;p41"/>
          <p:cNvSpPr txBox="1"/>
          <p:nvPr/>
        </p:nvSpPr>
        <p:spPr>
          <a:xfrm>
            <a:off x="494831" y="2223281"/>
            <a:ext cx="8300400" cy="2320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sv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Language models learn a probability distribution over language</a:t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sv" sz="2100">
                <a:solidFill>
                  <a:schemeClr val="lt1"/>
                </a:solidFill>
              </a:rPr>
              <a:t>Pretraining + finetuning (+ alignment)</a:t>
            </a:r>
            <a:endParaRPr sz="21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n bild som visar ritning&#10;&#10;Automatiskt genererad beskrivning" id="323" name="Google Shape;323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3850" y="262858"/>
            <a:ext cx="571018" cy="571019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1"/>
          <p:cNvSpPr txBox="1"/>
          <p:nvPr/>
        </p:nvSpPr>
        <p:spPr>
          <a:xfrm>
            <a:off x="7908075" y="4859044"/>
            <a:ext cx="1236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sv" sz="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Image by kjpargeter on Freepik</a:t>
            </a:r>
            <a:endParaRPr b="0" i="0" sz="6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1"/>
          <p:cNvSpPr txBox="1"/>
          <p:nvPr/>
        </p:nvSpPr>
        <p:spPr>
          <a:xfrm>
            <a:off x="494825" y="1748350"/>
            <a:ext cx="8300400" cy="22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FFFD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sv" sz="2100" u="none" cap="none" strike="noStrike">
                <a:solidFill>
                  <a:srgbClr val="FFFDF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100" u="none" cap="none" strike="noStrike">
              <a:solidFill>
                <a:srgbClr val="FFFD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sv" sz="2100" u="none" cap="none" strike="noStrike">
                <a:solidFill>
                  <a:srgbClr val="FFFDF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100" u="none" cap="none" strike="noStrike">
              <a:solidFill>
                <a:srgbClr val="FFFD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FFFD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4F1E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42"/>
          <p:cNvPicPr preferRelativeResize="0"/>
          <p:nvPr/>
        </p:nvPicPr>
        <p:blipFill rotWithShape="1">
          <a:blip r:embed="rId3">
            <a:alphaModFix amt="19000"/>
          </a:blip>
          <a:srcRect b="0" l="0" r="0" t="0"/>
          <a:stretch/>
        </p:blipFill>
        <p:spPr>
          <a:xfrm>
            <a:off x="0" y="-1658194"/>
            <a:ext cx="9144003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2"/>
          <p:cNvSpPr txBox="1"/>
          <p:nvPr/>
        </p:nvSpPr>
        <p:spPr>
          <a:xfrm>
            <a:off x="69713" y="4824394"/>
            <a:ext cx="401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none" cap="none" strike="noStrike">
                <a:solidFill>
                  <a:srgbClr val="FFFEFB"/>
                </a:solidFill>
                <a:latin typeface="Courier New"/>
                <a:ea typeface="Courier New"/>
                <a:cs typeface="Courier New"/>
                <a:sym typeface="Courier New"/>
              </a:rPr>
              <a:t>magnus.sahlgren@ai.se</a:t>
            </a:r>
            <a:endParaRPr b="0" i="0" sz="1100" u="none" cap="none" strike="noStrike">
              <a:solidFill>
                <a:srgbClr val="FFFEF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3" name="Google Shape;333;p42"/>
          <p:cNvSpPr txBox="1"/>
          <p:nvPr/>
        </p:nvSpPr>
        <p:spPr>
          <a:xfrm>
            <a:off x="494831" y="2223281"/>
            <a:ext cx="8300400" cy="2320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sv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Language models learn a probability distribution over language</a:t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sv" sz="2100">
                <a:solidFill>
                  <a:schemeClr val="lt1"/>
                </a:solidFill>
              </a:rPr>
              <a:t>Pretraining + finetuning (+ alignment)</a:t>
            </a:r>
            <a:endParaRPr sz="21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sv" sz="2100">
                <a:solidFill>
                  <a:schemeClr val="lt1"/>
                </a:solidFill>
              </a:rPr>
              <a:t>General-purpose text processing abilities</a:t>
            </a:r>
            <a:endParaRPr b="1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n bild som visar ritning&#10;&#10;Automatiskt genererad beskrivning" id="334" name="Google Shape;33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3850" y="262858"/>
            <a:ext cx="571018" cy="571019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42"/>
          <p:cNvSpPr txBox="1"/>
          <p:nvPr/>
        </p:nvSpPr>
        <p:spPr>
          <a:xfrm>
            <a:off x="7908075" y="4859044"/>
            <a:ext cx="1236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sv" sz="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Image by kjpargeter on Freepik</a:t>
            </a:r>
            <a:endParaRPr b="0" i="0" sz="6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2"/>
          <p:cNvSpPr txBox="1"/>
          <p:nvPr/>
        </p:nvSpPr>
        <p:spPr>
          <a:xfrm>
            <a:off x="494825" y="1748350"/>
            <a:ext cx="8300400" cy="22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FFFD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sv" sz="2100" u="none" cap="none" strike="noStrike">
                <a:solidFill>
                  <a:srgbClr val="FFFDF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100" u="none" cap="none" strike="noStrike">
              <a:solidFill>
                <a:srgbClr val="FFFD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sv" sz="2100" u="none" cap="none" strike="noStrike">
                <a:solidFill>
                  <a:srgbClr val="FFFDF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100" u="none" cap="none" strike="noStrike">
              <a:solidFill>
                <a:srgbClr val="FFFD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FFFD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4F1E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3"/>
          <p:cNvSpPr txBox="1"/>
          <p:nvPr>
            <p:ph idx="1" type="subTitle"/>
          </p:nvPr>
        </p:nvSpPr>
        <p:spPr>
          <a:xfrm>
            <a:off x="851300" y="1151100"/>
            <a:ext cx="8100900" cy="348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lt2"/>
                </a:solidFill>
              </a:rPr>
              <a:t>2017: the Transformer is introduced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lt2"/>
                </a:solidFill>
              </a:rPr>
              <a:t>2018: the first Transformer-based language models (GPT, BERT)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sv"/>
              <a:t>2019: language models for Swedish authorities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lt2"/>
                </a:solidFill>
              </a:rPr>
              <a:t>2020: the first LLM (GPT-3)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sv"/>
              <a:t>2021: the NLU-group at AI Sweden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sv"/>
              <a:t>2022: the first Scandinavian LLM: GPT-SW3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sv"/>
              <a:t>2023: validation and open models (incl GPT-SW3)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sv"/>
              <a:t>2024: better and MORE data, multimodality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sv"/>
              <a:t>	   European initiatives (EuroLingua-GPT, TrustLLM, DeployAI)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342" name="Google Shape;342;p43"/>
          <p:cNvSpPr txBox="1"/>
          <p:nvPr/>
        </p:nvSpPr>
        <p:spPr>
          <a:xfrm>
            <a:off x="69713" y="4824394"/>
            <a:ext cx="401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none" cap="none" strike="noStrike">
                <a:solidFill>
                  <a:srgbClr val="FFFEFB"/>
                </a:solidFill>
                <a:latin typeface="Courier New"/>
                <a:ea typeface="Courier New"/>
                <a:cs typeface="Courier New"/>
                <a:sym typeface="Courier New"/>
              </a:rPr>
              <a:t>magnus.sahlgren@ai.se</a:t>
            </a:r>
            <a:endParaRPr b="0" i="0" sz="1100" u="none" cap="none" strike="noStrike">
              <a:solidFill>
                <a:srgbClr val="FFFEF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3" name="Google Shape;343;p43"/>
          <p:cNvSpPr txBox="1"/>
          <p:nvPr/>
        </p:nvSpPr>
        <p:spPr>
          <a:xfrm>
            <a:off x="851300" y="570650"/>
            <a:ext cx="4178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2100">
                <a:solidFill>
                  <a:schemeClr val="lt1"/>
                </a:solidFill>
              </a:rPr>
              <a:t>Language models in Sweden</a:t>
            </a:r>
            <a:endParaRPr b="1" sz="2100">
              <a:solidFill>
                <a:schemeClr val="lt1"/>
              </a:solidFill>
            </a:endParaRPr>
          </a:p>
        </p:txBody>
      </p:sp>
      <p:cxnSp>
        <p:nvCxnSpPr>
          <p:cNvPr id="344" name="Google Shape;344;p43"/>
          <p:cNvCxnSpPr/>
          <p:nvPr/>
        </p:nvCxnSpPr>
        <p:spPr>
          <a:xfrm flipH="1" rot="10800000">
            <a:off x="902075" y="1078556"/>
            <a:ext cx="3777000" cy="4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44"/>
          <p:cNvPicPr preferRelativeResize="0"/>
          <p:nvPr/>
        </p:nvPicPr>
        <p:blipFill rotWithShape="1">
          <a:blip r:embed="rId3">
            <a:alphaModFix/>
          </a:blip>
          <a:srcRect b="8743" l="9716" r="7727" t="4510"/>
          <a:stretch/>
        </p:blipFill>
        <p:spPr>
          <a:xfrm>
            <a:off x="2736225" y="0"/>
            <a:ext cx="367154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4"/>
          <p:cNvSpPr txBox="1"/>
          <p:nvPr/>
        </p:nvSpPr>
        <p:spPr>
          <a:xfrm>
            <a:off x="6608925" y="1371125"/>
            <a:ext cx="1146300" cy="14775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2100">
                <a:solidFill>
                  <a:schemeClr val="lt1"/>
                </a:solidFill>
              </a:rPr>
              <a:t>FinGPT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2100">
                <a:solidFill>
                  <a:schemeClr val="lt1"/>
                </a:solidFill>
              </a:rPr>
              <a:t>Viking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2100">
                <a:solidFill>
                  <a:schemeClr val="lt1"/>
                </a:solidFill>
              </a:rPr>
              <a:t>Poro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2100">
                <a:solidFill>
                  <a:schemeClr val="lt1"/>
                </a:solidFill>
              </a:rPr>
              <a:t>Ahma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351" name="Google Shape;351;p44"/>
          <p:cNvSpPr txBox="1"/>
          <p:nvPr/>
        </p:nvSpPr>
        <p:spPr>
          <a:xfrm>
            <a:off x="6608925" y="3939225"/>
            <a:ext cx="1422000" cy="5079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2100">
                <a:solidFill>
                  <a:schemeClr val="lt1"/>
                </a:solidFill>
              </a:rPr>
              <a:t>GPT-SW3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352" name="Google Shape;352;p44"/>
          <p:cNvSpPr txBox="1"/>
          <p:nvPr/>
        </p:nvSpPr>
        <p:spPr>
          <a:xfrm>
            <a:off x="1240525" y="3290375"/>
            <a:ext cx="1146300" cy="5079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sv" sz="2100">
                <a:solidFill>
                  <a:schemeClr val="lt1"/>
                </a:solidFill>
              </a:rPr>
              <a:t>NorLLM</a:t>
            </a:r>
            <a:endParaRPr sz="2100">
              <a:solidFill>
                <a:schemeClr val="lt1"/>
              </a:solidFill>
            </a:endParaRPr>
          </a:p>
        </p:txBody>
      </p:sp>
      <p:cxnSp>
        <p:nvCxnSpPr>
          <p:cNvPr id="353" name="Google Shape;353;p44"/>
          <p:cNvCxnSpPr>
            <a:stCxn id="350" idx="1"/>
          </p:cNvCxnSpPr>
          <p:nvPr/>
        </p:nvCxnSpPr>
        <p:spPr>
          <a:xfrm flipH="1">
            <a:off x="5680425" y="2109875"/>
            <a:ext cx="928500" cy="1078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4" name="Google Shape;354;p44"/>
          <p:cNvCxnSpPr>
            <a:stCxn id="351" idx="1"/>
          </p:cNvCxnSpPr>
          <p:nvPr/>
        </p:nvCxnSpPr>
        <p:spPr>
          <a:xfrm rot="10800000">
            <a:off x="4577625" y="3685275"/>
            <a:ext cx="2031300" cy="507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" name="Google Shape;355;p44"/>
          <p:cNvCxnSpPr>
            <a:stCxn id="352" idx="3"/>
          </p:cNvCxnSpPr>
          <p:nvPr/>
        </p:nvCxnSpPr>
        <p:spPr>
          <a:xfrm>
            <a:off x="2386825" y="3544325"/>
            <a:ext cx="957600" cy="1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6" name="Google Shape;356;p44"/>
          <p:cNvSpPr txBox="1"/>
          <p:nvPr/>
        </p:nvSpPr>
        <p:spPr>
          <a:xfrm>
            <a:off x="69713" y="4824394"/>
            <a:ext cx="401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none" cap="none" strike="noStrike">
                <a:solidFill>
                  <a:srgbClr val="FFFEFB"/>
                </a:solidFill>
                <a:latin typeface="Courier New"/>
                <a:ea typeface="Courier New"/>
                <a:cs typeface="Courier New"/>
                <a:sym typeface="Courier New"/>
              </a:rPr>
              <a:t>magnus.sahlgren@ai.se</a:t>
            </a:r>
            <a:endParaRPr b="0" i="0" sz="1100" u="none" cap="none" strike="noStrike">
              <a:solidFill>
                <a:srgbClr val="FFFEF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45"/>
          <p:cNvPicPr preferRelativeResize="0"/>
          <p:nvPr/>
        </p:nvPicPr>
        <p:blipFill rotWithShape="1">
          <a:blip r:embed="rId3">
            <a:alphaModFix/>
          </a:blip>
          <a:srcRect b="8743" l="9716" r="7727" t="4510"/>
          <a:stretch/>
        </p:blipFill>
        <p:spPr>
          <a:xfrm>
            <a:off x="2736225" y="0"/>
            <a:ext cx="367154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5"/>
          <p:cNvSpPr txBox="1"/>
          <p:nvPr/>
        </p:nvSpPr>
        <p:spPr>
          <a:xfrm>
            <a:off x="6608925" y="1371125"/>
            <a:ext cx="1146300" cy="14775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2100">
                <a:solidFill>
                  <a:schemeClr val="lt1"/>
                </a:solidFill>
              </a:rPr>
              <a:t>FinGPT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2100">
                <a:solidFill>
                  <a:schemeClr val="lt1"/>
                </a:solidFill>
              </a:rPr>
              <a:t>Viking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2100">
                <a:solidFill>
                  <a:schemeClr val="lt1"/>
                </a:solidFill>
              </a:rPr>
              <a:t>Poro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2100">
                <a:solidFill>
                  <a:schemeClr val="lt1"/>
                </a:solidFill>
              </a:rPr>
              <a:t>Ahma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363" name="Google Shape;363;p45"/>
          <p:cNvSpPr txBox="1"/>
          <p:nvPr/>
        </p:nvSpPr>
        <p:spPr>
          <a:xfrm>
            <a:off x="6608925" y="3939225"/>
            <a:ext cx="1422000" cy="5079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2100">
                <a:solidFill>
                  <a:schemeClr val="lt1"/>
                </a:solidFill>
              </a:rPr>
              <a:t>GPT-SW3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364" name="Google Shape;364;p45"/>
          <p:cNvSpPr txBox="1"/>
          <p:nvPr/>
        </p:nvSpPr>
        <p:spPr>
          <a:xfrm>
            <a:off x="1240525" y="3290375"/>
            <a:ext cx="1146300" cy="507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sv" sz="2100">
                <a:solidFill>
                  <a:srgbClr val="B7B7B7"/>
                </a:solidFill>
              </a:rPr>
              <a:t>NorLLM</a:t>
            </a:r>
            <a:endParaRPr sz="2100">
              <a:solidFill>
                <a:srgbClr val="B7B7B7"/>
              </a:solidFill>
            </a:endParaRPr>
          </a:p>
        </p:txBody>
      </p:sp>
      <p:cxnSp>
        <p:nvCxnSpPr>
          <p:cNvPr id="365" name="Google Shape;365;p45"/>
          <p:cNvCxnSpPr>
            <a:stCxn id="362" idx="1"/>
          </p:cNvCxnSpPr>
          <p:nvPr/>
        </p:nvCxnSpPr>
        <p:spPr>
          <a:xfrm flipH="1">
            <a:off x="5680425" y="2109875"/>
            <a:ext cx="928500" cy="1078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6" name="Google Shape;366;p45"/>
          <p:cNvCxnSpPr>
            <a:stCxn id="363" idx="1"/>
          </p:cNvCxnSpPr>
          <p:nvPr/>
        </p:nvCxnSpPr>
        <p:spPr>
          <a:xfrm rot="10800000">
            <a:off x="4577625" y="3685275"/>
            <a:ext cx="2031300" cy="507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7" name="Google Shape;367;p45"/>
          <p:cNvCxnSpPr>
            <a:stCxn id="364" idx="3"/>
          </p:cNvCxnSpPr>
          <p:nvPr/>
        </p:nvCxnSpPr>
        <p:spPr>
          <a:xfrm>
            <a:off x="2386825" y="3544325"/>
            <a:ext cx="957600" cy="105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8" name="Google Shape;368;p45"/>
          <p:cNvSpPr txBox="1"/>
          <p:nvPr/>
        </p:nvSpPr>
        <p:spPr>
          <a:xfrm>
            <a:off x="69713" y="4824394"/>
            <a:ext cx="401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none" cap="none" strike="noStrike">
                <a:solidFill>
                  <a:srgbClr val="FFFEFB"/>
                </a:solidFill>
                <a:latin typeface="Courier New"/>
                <a:ea typeface="Courier New"/>
                <a:cs typeface="Courier New"/>
                <a:sym typeface="Courier New"/>
              </a:rPr>
              <a:t>magnus.sahlgren@ai.se</a:t>
            </a:r>
            <a:endParaRPr b="0" i="0" sz="1100" u="none" cap="none" strike="noStrike">
              <a:solidFill>
                <a:srgbClr val="FFFEF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46"/>
          <p:cNvPicPr preferRelativeResize="0"/>
          <p:nvPr/>
        </p:nvPicPr>
        <p:blipFill rotWithShape="1">
          <a:blip r:embed="rId3">
            <a:alphaModFix/>
          </a:blip>
          <a:srcRect b="8743" l="9716" r="7727" t="4510"/>
          <a:stretch/>
        </p:blipFill>
        <p:spPr>
          <a:xfrm>
            <a:off x="2736225" y="0"/>
            <a:ext cx="367154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6"/>
          <p:cNvSpPr txBox="1"/>
          <p:nvPr/>
        </p:nvSpPr>
        <p:spPr>
          <a:xfrm>
            <a:off x="6608925" y="1371125"/>
            <a:ext cx="1146300" cy="14775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2100">
                <a:solidFill>
                  <a:schemeClr val="lt1"/>
                </a:solidFill>
              </a:rPr>
              <a:t>FinGPT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2100">
                <a:solidFill>
                  <a:schemeClr val="lt1"/>
                </a:solidFill>
              </a:rPr>
              <a:t>Viking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2100">
                <a:solidFill>
                  <a:schemeClr val="lt1"/>
                </a:solidFill>
              </a:rPr>
              <a:t>Poro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2100">
                <a:solidFill>
                  <a:schemeClr val="lt1"/>
                </a:solidFill>
              </a:rPr>
              <a:t>Ahma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375" name="Google Shape;375;p46"/>
          <p:cNvSpPr txBox="1"/>
          <p:nvPr/>
        </p:nvSpPr>
        <p:spPr>
          <a:xfrm>
            <a:off x="6608925" y="3939225"/>
            <a:ext cx="1422000" cy="5079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2100">
                <a:solidFill>
                  <a:schemeClr val="lt1"/>
                </a:solidFill>
              </a:rPr>
              <a:t>GPT-SW3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376" name="Google Shape;376;p46"/>
          <p:cNvSpPr txBox="1"/>
          <p:nvPr/>
        </p:nvSpPr>
        <p:spPr>
          <a:xfrm>
            <a:off x="1240525" y="3290375"/>
            <a:ext cx="1146300" cy="507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sv" sz="2100">
                <a:solidFill>
                  <a:srgbClr val="B7B7B7"/>
                </a:solidFill>
              </a:rPr>
              <a:t>NorLLM</a:t>
            </a:r>
            <a:endParaRPr sz="2100">
              <a:solidFill>
                <a:srgbClr val="B7B7B7"/>
              </a:solidFill>
            </a:endParaRPr>
          </a:p>
        </p:txBody>
      </p:sp>
      <p:cxnSp>
        <p:nvCxnSpPr>
          <p:cNvPr id="377" name="Google Shape;377;p46"/>
          <p:cNvCxnSpPr>
            <a:stCxn id="374" idx="1"/>
          </p:cNvCxnSpPr>
          <p:nvPr/>
        </p:nvCxnSpPr>
        <p:spPr>
          <a:xfrm flipH="1">
            <a:off x="5680425" y="2109875"/>
            <a:ext cx="928500" cy="1078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8" name="Google Shape;378;p46"/>
          <p:cNvCxnSpPr>
            <a:stCxn id="375" idx="1"/>
          </p:cNvCxnSpPr>
          <p:nvPr/>
        </p:nvCxnSpPr>
        <p:spPr>
          <a:xfrm rot="10800000">
            <a:off x="4577625" y="3685275"/>
            <a:ext cx="2031300" cy="507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9" name="Google Shape;379;p46"/>
          <p:cNvCxnSpPr>
            <a:stCxn id="376" idx="3"/>
          </p:cNvCxnSpPr>
          <p:nvPr/>
        </p:nvCxnSpPr>
        <p:spPr>
          <a:xfrm>
            <a:off x="2386825" y="3544325"/>
            <a:ext cx="957600" cy="105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0" name="Google Shape;380;p46"/>
          <p:cNvSpPr txBox="1"/>
          <p:nvPr/>
        </p:nvSpPr>
        <p:spPr>
          <a:xfrm>
            <a:off x="-61075" y="4223775"/>
            <a:ext cx="335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sv" sz="2100">
                <a:solidFill>
                  <a:schemeClr val="lt1"/>
                </a:solidFill>
              </a:rPr>
              <a:t>Danish foundation models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381" name="Google Shape;381;p46"/>
          <p:cNvSpPr txBox="1"/>
          <p:nvPr/>
        </p:nvSpPr>
        <p:spPr>
          <a:xfrm>
            <a:off x="69713" y="4824394"/>
            <a:ext cx="401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none" cap="none" strike="noStrike">
                <a:solidFill>
                  <a:srgbClr val="FFFEFB"/>
                </a:solidFill>
                <a:latin typeface="Courier New"/>
                <a:ea typeface="Courier New"/>
                <a:cs typeface="Courier New"/>
                <a:sym typeface="Courier New"/>
              </a:rPr>
              <a:t>magnus.sahlgren@ai.se</a:t>
            </a:r>
            <a:endParaRPr b="0" i="0" sz="1100" u="none" cap="none" strike="noStrike">
              <a:solidFill>
                <a:srgbClr val="FFFEF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7390" y="0"/>
            <a:ext cx="672662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n bild som visar ritning&#10;&#10;Automatiskt genererad beskrivning" id="387" name="Google Shape;387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2500" y="251200"/>
            <a:ext cx="582425" cy="58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7"/>
          <p:cNvSpPr txBox="1"/>
          <p:nvPr/>
        </p:nvSpPr>
        <p:spPr>
          <a:xfrm>
            <a:off x="517263" y="1830600"/>
            <a:ext cx="147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GPT-SW3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89" name="Google Shape;389;p47"/>
          <p:cNvSpPr txBox="1"/>
          <p:nvPr/>
        </p:nvSpPr>
        <p:spPr>
          <a:xfrm>
            <a:off x="2160200" y="2608150"/>
            <a:ext cx="147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Lyra-fr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90" name="Google Shape;390;p47"/>
          <p:cNvSpPr txBox="1"/>
          <p:nvPr/>
        </p:nvSpPr>
        <p:spPr>
          <a:xfrm>
            <a:off x="517275" y="2608150"/>
            <a:ext cx="147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BLOOM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91" name="Google Shape;391;p47"/>
          <p:cNvSpPr txBox="1"/>
          <p:nvPr/>
        </p:nvSpPr>
        <p:spPr>
          <a:xfrm>
            <a:off x="2160188" y="1115700"/>
            <a:ext cx="1476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Fin-GPT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Viking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Poro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Ahma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92" name="Google Shape;392;p47"/>
          <p:cNvSpPr txBox="1"/>
          <p:nvPr/>
        </p:nvSpPr>
        <p:spPr>
          <a:xfrm>
            <a:off x="517275" y="3709238"/>
            <a:ext cx="147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Mistral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Mixtral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93" name="Google Shape;393;p47"/>
          <p:cNvSpPr txBox="1"/>
          <p:nvPr/>
        </p:nvSpPr>
        <p:spPr>
          <a:xfrm>
            <a:off x="517263" y="1297050"/>
            <a:ext cx="147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B7B7B7"/>
                </a:solidFill>
              </a:rPr>
              <a:t>NorLLM</a:t>
            </a:r>
            <a:endParaRPr sz="1800">
              <a:solidFill>
                <a:srgbClr val="B7B7B7"/>
              </a:solidFill>
            </a:endParaRPr>
          </a:p>
        </p:txBody>
      </p:sp>
      <p:sp>
        <p:nvSpPr>
          <p:cNvPr id="394" name="Google Shape;394;p47"/>
          <p:cNvSpPr txBox="1"/>
          <p:nvPr/>
        </p:nvSpPr>
        <p:spPr>
          <a:xfrm>
            <a:off x="2160200" y="3716275"/>
            <a:ext cx="147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B7B7B7"/>
                </a:solidFill>
              </a:rPr>
              <a:t>OpenGPT-X</a:t>
            </a:r>
            <a:endParaRPr sz="1800">
              <a:solidFill>
                <a:srgbClr val="B7B7B7"/>
              </a:solidFill>
            </a:endParaRPr>
          </a:p>
        </p:txBody>
      </p:sp>
      <p:sp>
        <p:nvSpPr>
          <p:cNvPr id="395" name="Google Shape;395;p47"/>
          <p:cNvSpPr txBox="1"/>
          <p:nvPr/>
        </p:nvSpPr>
        <p:spPr>
          <a:xfrm>
            <a:off x="358725" y="3158688"/>
            <a:ext cx="179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CroissantLLM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96" name="Google Shape;396;p47"/>
          <p:cNvSpPr txBox="1"/>
          <p:nvPr/>
        </p:nvSpPr>
        <p:spPr>
          <a:xfrm>
            <a:off x="69713" y="4824394"/>
            <a:ext cx="401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none" cap="none" strike="noStrike">
                <a:solidFill>
                  <a:srgbClr val="FFFEFB"/>
                </a:solidFill>
                <a:latin typeface="Courier New"/>
                <a:ea typeface="Courier New"/>
                <a:cs typeface="Courier New"/>
                <a:sym typeface="Courier New"/>
              </a:rPr>
              <a:t>magnus.sahlgren@ai.se</a:t>
            </a:r>
            <a:endParaRPr b="0" i="0" sz="1100" u="none" cap="none" strike="noStrike">
              <a:solidFill>
                <a:srgbClr val="FFFEF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7390" y="0"/>
            <a:ext cx="672662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n bild som visar ritning&#10;&#10;Automatiskt genererad beskrivning" id="402" name="Google Shape;402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2500" y="251200"/>
            <a:ext cx="582425" cy="58242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48"/>
          <p:cNvSpPr txBox="1"/>
          <p:nvPr/>
        </p:nvSpPr>
        <p:spPr>
          <a:xfrm>
            <a:off x="517263" y="1830600"/>
            <a:ext cx="1476600" cy="461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GPT-SW3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404" name="Google Shape;404;p48"/>
          <p:cNvSpPr txBox="1"/>
          <p:nvPr/>
        </p:nvSpPr>
        <p:spPr>
          <a:xfrm>
            <a:off x="2160200" y="2608150"/>
            <a:ext cx="1476600" cy="461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Lyra-fr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405" name="Google Shape;405;p48"/>
          <p:cNvSpPr txBox="1"/>
          <p:nvPr/>
        </p:nvSpPr>
        <p:spPr>
          <a:xfrm>
            <a:off x="517275" y="2608150"/>
            <a:ext cx="1476600" cy="461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BLOOM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406" name="Google Shape;406;p48"/>
          <p:cNvSpPr txBox="1"/>
          <p:nvPr/>
        </p:nvSpPr>
        <p:spPr>
          <a:xfrm>
            <a:off x="2160188" y="1115700"/>
            <a:ext cx="1476600" cy="1293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Fin-GPT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Viking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Poro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Ahma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407" name="Google Shape;407;p48"/>
          <p:cNvSpPr txBox="1"/>
          <p:nvPr/>
        </p:nvSpPr>
        <p:spPr>
          <a:xfrm>
            <a:off x="517275" y="3709238"/>
            <a:ext cx="1476600" cy="7389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Mistral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Mixtral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408" name="Google Shape;408;p48"/>
          <p:cNvSpPr txBox="1"/>
          <p:nvPr/>
        </p:nvSpPr>
        <p:spPr>
          <a:xfrm>
            <a:off x="517263" y="1297050"/>
            <a:ext cx="1476600" cy="461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B7B7B7"/>
                </a:solidFill>
              </a:rPr>
              <a:t>NorLLM</a:t>
            </a:r>
            <a:endParaRPr sz="1800">
              <a:solidFill>
                <a:srgbClr val="B7B7B7"/>
              </a:solidFill>
            </a:endParaRPr>
          </a:p>
        </p:txBody>
      </p:sp>
      <p:sp>
        <p:nvSpPr>
          <p:cNvPr id="409" name="Google Shape;409;p48"/>
          <p:cNvSpPr txBox="1"/>
          <p:nvPr/>
        </p:nvSpPr>
        <p:spPr>
          <a:xfrm>
            <a:off x="2160200" y="3716275"/>
            <a:ext cx="1476600" cy="461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B7B7B7"/>
                </a:solidFill>
              </a:rPr>
              <a:t>OpenGPT-X</a:t>
            </a:r>
            <a:endParaRPr sz="1800">
              <a:solidFill>
                <a:srgbClr val="B7B7B7"/>
              </a:solidFill>
            </a:endParaRPr>
          </a:p>
        </p:txBody>
      </p:sp>
      <p:sp>
        <p:nvSpPr>
          <p:cNvPr id="410" name="Google Shape;410;p48"/>
          <p:cNvSpPr txBox="1"/>
          <p:nvPr/>
        </p:nvSpPr>
        <p:spPr>
          <a:xfrm>
            <a:off x="358725" y="3158688"/>
            <a:ext cx="1793700" cy="461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CroissantLLM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411" name="Google Shape;411;p48"/>
          <p:cNvSpPr txBox="1"/>
          <p:nvPr/>
        </p:nvSpPr>
        <p:spPr>
          <a:xfrm>
            <a:off x="69713" y="4824394"/>
            <a:ext cx="401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none" cap="none" strike="noStrike">
                <a:solidFill>
                  <a:srgbClr val="FFFEFB"/>
                </a:solidFill>
                <a:latin typeface="Courier New"/>
                <a:ea typeface="Courier New"/>
                <a:cs typeface="Courier New"/>
                <a:sym typeface="Courier New"/>
              </a:rPr>
              <a:t>magnus.sahlgren@ai.se</a:t>
            </a:r>
            <a:endParaRPr b="0" i="0" sz="1100" u="none" cap="none" strike="noStrike">
              <a:solidFill>
                <a:srgbClr val="FFFEF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12" name="Google Shape;412;p48"/>
          <p:cNvCxnSpPr/>
          <p:nvPr/>
        </p:nvCxnSpPr>
        <p:spPr>
          <a:xfrm>
            <a:off x="3636788" y="1762200"/>
            <a:ext cx="2682000" cy="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3" name="Google Shape;413;p48"/>
          <p:cNvCxnSpPr>
            <a:stCxn id="403" idx="2"/>
          </p:cNvCxnSpPr>
          <p:nvPr/>
        </p:nvCxnSpPr>
        <p:spPr>
          <a:xfrm rot="-5400000">
            <a:off x="3493413" y="-83250"/>
            <a:ext cx="137700" cy="4613400"/>
          </a:xfrm>
          <a:prstGeom prst="curvedConnector4">
            <a:avLst>
              <a:gd fmla="val -172930" name="adj1"/>
              <a:gd fmla="val 64619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4" name="Google Shape;414;p48"/>
          <p:cNvCxnSpPr>
            <a:stCxn id="408" idx="0"/>
          </p:cNvCxnSpPr>
          <p:nvPr/>
        </p:nvCxnSpPr>
        <p:spPr>
          <a:xfrm flipH="1" rot="-5400000">
            <a:off x="3173463" y="-620850"/>
            <a:ext cx="371400" cy="4207200"/>
          </a:xfrm>
          <a:prstGeom prst="curvedConnector4">
            <a:avLst>
              <a:gd fmla="val -93349" name="adj1"/>
              <a:gd fmla="val 75513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5" name="Google Shape;415;p48"/>
          <p:cNvCxnSpPr>
            <a:stCxn id="404" idx="2"/>
          </p:cNvCxnSpPr>
          <p:nvPr/>
        </p:nvCxnSpPr>
        <p:spPr>
          <a:xfrm>
            <a:off x="2898500" y="3069850"/>
            <a:ext cx="1831500" cy="484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6" name="Google Shape;416;p48"/>
          <p:cNvCxnSpPr/>
          <p:nvPr/>
        </p:nvCxnSpPr>
        <p:spPr>
          <a:xfrm flipH="1" rot="10800000">
            <a:off x="3636800" y="3184825"/>
            <a:ext cx="1789500" cy="762300"/>
          </a:xfrm>
          <a:prstGeom prst="curvedConnector3">
            <a:avLst>
              <a:gd fmla="val 70414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7" name="Google Shape;417;p48"/>
          <p:cNvCxnSpPr>
            <a:stCxn id="407" idx="2"/>
          </p:cNvCxnSpPr>
          <p:nvPr/>
        </p:nvCxnSpPr>
        <p:spPr>
          <a:xfrm rot="-5400000">
            <a:off x="2716575" y="2325938"/>
            <a:ext cx="661200" cy="3583200"/>
          </a:xfrm>
          <a:prstGeom prst="curvedConnector4">
            <a:avLst>
              <a:gd fmla="val -36014" name="adj1"/>
              <a:gd fmla="val 81577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8" name="Google Shape;418;p48"/>
          <p:cNvCxnSpPr>
            <a:stCxn id="410" idx="3"/>
          </p:cNvCxnSpPr>
          <p:nvPr/>
        </p:nvCxnSpPr>
        <p:spPr>
          <a:xfrm>
            <a:off x="2152425" y="3389538"/>
            <a:ext cx="2497800" cy="2304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7390" y="0"/>
            <a:ext cx="672662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n bild som visar ritning&#10;&#10;Automatiskt genererad beskrivning" id="424" name="Google Shape;424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2500" y="251200"/>
            <a:ext cx="582425" cy="582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9"/>
          <p:cNvSpPr txBox="1"/>
          <p:nvPr/>
        </p:nvSpPr>
        <p:spPr>
          <a:xfrm>
            <a:off x="517263" y="1830600"/>
            <a:ext cx="1476600" cy="461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GPT-SW3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426" name="Google Shape;426;p49"/>
          <p:cNvSpPr txBox="1"/>
          <p:nvPr/>
        </p:nvSpPr>
        <p:spPr>
          <a:xfrm>
            <a:off x="2160200" y="2608150"/>
            <a:ext cx="1476600" cy="461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Lyra-fr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427" name="Google Shape;427;p49"/>
          <p:cNvSpPr txBox="1"/>
          <p:nvPr/>
        </p:nvSpPr>
        <p:spPr>
          <a:xfrm>
            <a:off x="517275" y="2608150"/>
            <a:ext cx="1476600" cy="461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BLOOM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428" name="Google Shape;428;p49"/>
          <p:cNvSpPr txBox="1"/>
          <p:nvPr/>
        </p:nvSpPr>
        <p:spPr>
          <a:xfrm>
            <a:off x="2160188" y="1115700"/>
            <a:ext cx="1476600" cy="1293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Fin-GPT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Viking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Poro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Ahma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429" name="Google Shape;429;p49"/>
          <p:cNvSpPr txBox="1"/>
          <p:nvPr/>
        </p:nvSpPr>
        <p:spPr>
          <a:xfrm>
            <a:off x="517275" y="3709238"/>
            <a:ext cx="1476600" cy="7389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Mistral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Mixtral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430" name="Google Shape;430;p49"/>
          <p:cNvSpPr txBox="1"/>
          <p:nvPr/>
        </p:nvSpPr>
        <p:spPr>
          <a:xfrm>
            <a:off x="517263" y="1297050"/>
            <a:ext cx="1476600" cy="461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NorLLM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431" name="Google Shape;431;p49"/>
          <p:cNvSpPr txBox="1"/>
          <p:nvPr/>
        </p:nvSpPr>
        <p:spPr>
          <a:xfrm>
            <a:off x="2160200" y="3716275"/>
            <a:ext cx="1476600" cy="461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OpenGPT-X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432" name="Google Shape;432;p49"/>
          <p:cNvSpPr txBox="1"/>
          <p:nvPr/>
        </p:nvSpPr>
        <p:spPr>
          <a:xfrm>
            <a:off x="358725" y="3158688"/>
            <a:ext cx="1793700" cy="461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CroissantLLM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433" name="Google Shape;433;p49"/>
          <p:cNvSpPr txBox="1"/>
          <p:nvPr/>
        </p:nvSpPr>
        <p:spPr>
          <a:xfrm>
            <a:off x="69713" y="4824394"/>
            <a:ext cx="401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none" cap="none" strike="noStrike">
                <a:solidFill>
                  <a:srgbClr val="FFFEFB"/>
                </a:solidFill>
                <a:latin typeface="Courier New"/>
                <a:ea typeface="Courier New"/>
                <a:cs typeface="Courier New"/>
                <a:sym typeface="Courier New"/>
              </a:rPr>
              <a:t>magnus.sahlgren@ai.se</a:t>
            </a:r>
            <a:endParaRPr b="0" i="0" sz="1100" u="none" cap="none" strike="noStrike">
              <a:solidFill>
                <a:srgbClr val="FFFEF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34" name="Google Shape;434;p49"/>
          <p:cNvCxnSpPr/>
          <p:nvPr/>
        </p:nvCxnSpPr>
        <p:spPr>
          <a:xfrm>
            <a:off x="3636788" y="1762200"/>
            <a:ext cx="2682000" cy="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5" name="Google Shape;435;p49"/>
          <p:cNvCxnSpPr>
            <a:stCxn id="425" idx="2"/>
          </p:cNvCxnSpPr>
          <p:nvPr/>
        </p:nvCxnSpPr>
        <p:spPr>
          <a:xfrm rot="-5400000">
            <a:off x="3493413" y="-83250"/>
            <a:ext cx="137700" cy="4613400"/>
          </a:xfrm>
          <a:prstGeom prst="curvedConnector4">
            <a:avLst>
              <a:gd fmla="val -172930" name="adj1"/>
              <a:gd fmla="val 64619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6" name="Google Shape;436;p49"/>
          <p:cNvCxnSpPr>
            <a:stCxn id="430" idx="0"/>
          </p:cNvCxnSpPr>
          <p:nvPr/>
        </p:nvCxnSpPr>
        <p:spPr>
          <a:xfrm flipH="1" rot="-5400000">
            <a:off x="3173463" y="-620850"/>
            <a:ext cx="371400" cy="4207200"/>
          </a:xfrm>
          <a:prstGeom prst="curvedConnector4">
            <a:avLst>
              <a:gd fmla="val -93349" name="adj1"/>
              <a:gd fmla="val 75513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7" name="Google Shape;437;p49"/>
          <p:cNvCxnSpPr>
            <a:stCxn id="426" idx="2"/>
          </p:cNvCxnSpPr>
          <p:nvPr/>
        </p:nvCxnSpPr>
        <p:spPr>
          <a:xfrm>
            <a:off x="2898500" y="3069850"/>
            <a:ext cx="1831500" cy="484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8" name="Google Shape;438;p49"/>
          <p:cNvCxnSpPr/>
          <p:nvPr/>
        </p:nvCxnSpPr>
        <p:spPr>
          <a:xfrm flipH="1" rot="10800000">
            <a:off x="3636800" y="3184825"/>
            <a:ext cx="1789500" cy="762300"/>
          </a:xfrm>
          <a:prstGeom prst="curvedConnector3">
            <a:avLst>
              <a:gd fmla="val 70414" name="adj1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9" name="Google Shape;439;p49"/>
          <p:cNvCxnSpPr>
            <a:stCxn id="429" idx="2"/>
          </p:cNvCxnSpPr>
          <p:nvPr/>
        </p:nvCxnSpPr>
        <p:spPr>
          <a:xfrm rot="-5400000">
            <a:off x="2716575" y="2325938"/>
            <a:ext cx="661200" cy="3583200"/>
          </a:xfrm>
          <a:prstGeom prst="curvedConnector4">
            <a:avLst>
              <a:gd fmla="val -36014" name="adj1"/>
              <a:gd fmla="val 81577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0" name="Google Shape;440;p49"/>
          <p:cNvCxnSpPr>
            <a:stCxn id="432" idx="3"/>
          </p:cNvCxnSpPr>
          <p:nvPr/>
        </p:nvCxnSpPr>
        <p:spPr>
          <a:xfrm>
            <a:off x="2152425" y="3389538"/>
            <a:ext cx="2497800" cy="2304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1" name="Google Shape;441;p49"/>
          <p:cNvSpPr/>
          <p:nvPr/>
        </p:nvSpPr>
        <p:spPr>
          <a:xfrm>
            <a:off x="4572000" y="3496725"/>
            <a:ext cx="435300" cy="413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49"/>
          <p:cNvSpPr/>
          <p:nvPr/>
        </p:nvSpPr>
        <p:spPr>
          <a:xfrm>
            <a:off x="5261250" y="3016900"/>
            <a:ext cx="435300" cy="413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49"/>
          <p:cNvSpPr/>
          <p:nvPr/>
        </p:nvSpPr>
        <p:spPr>
          <a:xfrm>
            <a:off x="5616775" y="1951600"/>
            <a:ext cx="435300" cy="413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9"/>
          <p:cNvSpPr/>
          <p:nvPr/>
        </p:nvSpPr>
        <p:spPr>
          <a:xfrm>
            <a:off x="6124650" y="1555500"/>
            <a:ext cx="435300" cy="413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49"/>
          <p:cNvSpPr/>
          <p:nvPr/>
        </p:nvSpPr>
        <p:spPr>
          <a:xfrm>
            <a:off x="5181475" y="1487425"/>
            <a:ext cx="435300" cy="413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50"/>
          <p:cNvPicPr preferRelativeResize="0"/>
          <p:nvPr/>
        </p:nvPicPr>
        <p:blipFill rotWithShape="1">
          <a:blip r:embed="rId3">
            <a:alphaModFix/>
          </a:blip>
          <a:srcRect b="0" l="0" r="65857" t="0"/>
          <a:stretch/>
        </p:blipFill>
        <p:spPr>
          <a:xfrm>
            <a:off x="224875" y="1088225"/>
            <a:ext cx="3017899" cy="339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50"/>
          <p:cNvPicPr preferRelativeResize="0"/>
          <p:nvPr/>
        </p:nvPicPr>
        <p:blipFill rotWithShape="1">
          <a:blip r:embed="rId4">
            <a:alphaModFix/>
          </a:blip>
          <a:srcRect b="0" l="0" r="41846" t="0"/>
          <a:stretch/>
        </p:blipFill>
        <p:spPr>
          <a:xfrm>
            <a:off x="3409650" y="1693975"/>
            <a:ext cx="5317626" cy="274215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50"/>
          <p:cNvSpPr txBox="1"/>
          <p:nvPr/>
        </p:nvSpPr>
        <p:spPr>
          <a:xfrm>
            <a:off x="4795275" y="4370825"/>
            <a:ext cx="548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000">
                <a:solidFill>
                  <a:srgbClr val="999999"/>
                </a:solidFill>
              </a:rPr>
              <a:t>huggingface.co/spaces/open-llm-leaderboard/open_llm_leaderboard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453" name="Google Shape;453;p50"/>
          <p:cNvSpPr txBox="1"/>
          <p:nvPr/>
        </p:nvSpPr>
        <p:spPr>
          <a:xfrm>
            <a:off x="137850" y="749525"/>
            <a:ext cx="476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000">
                <a:solidFill>
                  <a:srgbClr val="999999"/>
                </a:solidFill>
              </a:rPr>
              <a:t>huggingface.co/spaces/openGPT-X/european-llm-leaderboard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454" name="Google Shape;454;p50"/>
          <p:cNvSpPr txBox="1"/>
          <p:nvPr/>
        </p:nvSpPr>
        <p:spPr>
          <a:xfrm>
            <a:off x="2060300" y="435275"/>
            <a:ext cx="4178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51"/>
          <p:cNvPicPr preferRelativeResize="0"/>
          <p:nvPr/>
        </p:nvPicPr>
        <p:blipFill rotWithShape="1">
          <a:blip r:embed="rId3">
            <a:alphaModFix/>
          </a:blip>
          <a:srcRect b="0" l="0" r="65857" t="0"/>
          <a:stretch/>
        </p:blipFill>
        <p:spPr>
          <a:xfrm>
            <a:off x="224875" y="1088225"/>
            <a:ext cx="3017899" cy="339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51"/>
          <p:cNvPicPr preferRelativeResize="0"/>
          <p:nvPr/>
        </p:nvPicPr>
        <p:blipFill rotWithShape="1">
          <a:blip r:embed="rId4">
            <a:alphaModFix/>
          </a:blip>
          <a:srcRect b="0" l="0" r="41846" t="0"/>
          <a:stretch/>
        </p:blipFill>
        <p:spPr>
          <a:xfrm>
            <a:off x="3409650" y="1693975"/>
            <a:ext cx="5317626" cy="274215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51"/>
          <p:cNvSpPr txBox="1"/>
          <p:nvPr/>
        </p:nvSpPr>
        <p:spPr>
          <a:xfrm>
            <a:off x="4795275" y="4370825"/>
            <a:ext cx="548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000">
                <a:solidFill>
                  <a:srgbClr val="999999"/>
                </a:solidFill>
              </a:rPr>
              <a:t>huggingface.co/spaces/open-llm-leaderboard/open_llm_leaderboard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462" name="Google Shape;462;p51"/>
          <p:cNvSpPr txBox="1"/>
          <p:nvPr/>
        </p:nvSpPr>
        <p:spPr>
          <a:xfrm>
            <a:off x="137850" y="749525"/>
            <a:ext cx="476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000">
                <a:solidFill>
                  <a:srgbClr val="999999"/>
                </a:solidFill>
              </a:rPr>
              <a:t>huggingface.co/spaces/openGPT-X/european-llm-leaderboard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463" name="Google Shape;463;p51"/>
          <p:cNvSpPr txBox="1"/>
          <p:nvPr/>
        </p:nvSpPr>
        <p:spPr>
          <a:xfrm>
            <a:off x="2060300" y="435275"/>
            <a:ext cx="4178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</a:endParaRPr>
          </a:p>
        </p:txBody>
      </p:sp>
      <p:pic>
        <p:nvPicPr>
          <p:cNvPr id="464" name="Google Shape;464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03363" y="3838976"/>
            <a:ext cx="650962" cy="433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67137" y="2293799"/>
            <a:ext cx="1256923" cy="837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053472" y="3574150"/>
            <a:ext cx="451627" cy="30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2"/>
          <p:cNvSpPr txBox="1"/>
          <p:nvPr/>
        </p:nvSpPr>
        <p:spPr>
          <a:xfrm>
            <a:off x="69713" y="4824394"/>
            <a:ext cx="401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none" cap="none" strike="noStrike">
                <a:solidFill>
                  <a:srgbClr val="FFFEFB"/>
                </a:solidFill>
                <a:latin typeface="Courier New"/>
                <a:ea typeface="Courier New"/>
                <a:cs typeface="Courier New"/>
                <a:sym typeface="Courier New"/>
              </a:rPr>
              <a:t>magnus.sahlgren@ai.se</a:t>
            </a:r>
            <a:endParaRPr b="0" i="0" sz="1100" u="none" cap="none" strike="noStrike">
              <a:solidFill>
                <a:srgbClr val="FFFEF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En bild som visar ritning&#10;&#10;Automatiskt genererad beskrivning" id="473" name="Google Shape;47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3850" y="262858"/>
            <a:ext cx="571018" cy="571019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52"/>
          <p:cNvSpPr txBox="1"/>
          <p:nvPr/>
        </p:nvSpPr>
        <p:spPr>
          <a:xfrm>
            <a:off x="740250" y="1209563"/>
            <a:ext cx="7663500" cy="2811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0000"/>
              </a:srgbClr>
            </a:outerShdw>
          </a:effectLst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E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sv" sz="2100">
                <a:solidFill>
                  <a:srgbClr val="FFFEFB"/>
                </a:solidFill>
              </a:rPr>
              <a:t>Why build national</a:t>
            </a:r>
            <a:r>
              <a:rPr lang="sv" sz="2100">
                <a:solidFill>
                  <a:srgbClr val="FFFEFB"/>
                </a:solidFill>
              </a:rPr>
              <a:t> </a:t>
            </a:r>
            <a:r>
              <a:rPr b="0" i="0" lang="sv" sz="21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r>
              <a:rPr lang="sv" sz="2100">
                <a:solidFill>
                  <a:srgbClr val="FFFEFB"/>
                </a:solidFill>
              </a:rPr>
              <a:t>s</a:t>
            </a:r>
            <a:r>
              <a:rPr b="0" i="0" lang="sv" sz="21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2100" u="none" cap="none" strike="noStrike">
              <a:solidFill>
                <a:srgbClr val="FFFE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E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●"/>
            </a:pPr>
            <a:r>
              <a:rPr lang="sv" sz="2100">
                <a:solidFill>
                  <a:srgbClr val="FFFEFB"/>
                </a:solidFill>
              </a:rPr>
              <a:t>Competence</a:t>
            </a:r>
            <a:r>
              <a:rPr lang="sv" sz="2100">
                <a:solidFill>
                  <a:srgbClr val="FFFEFB"/>
                </a:solidFill>
              </a:rPr>
              <a:t> and innovation</a:t>
            </a:r>
            <a:endParaRPr b="0" i="0" sz="2100" u="none" cap="none" strike="noStrike">
              <a:solidFill>
                <a:srgbClr val="FFFE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●"/>
            </a:pPr>
            <a:r>
              <a:rPr b="0" i="0" lang="sv" sz="21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rPr>
              <a:t>Transparen</a:t>
            </a:r>
            <a:r>
              <a:rPr lang="sv" sz="2100">
                <a:solidFill>
                  <a:srgbClr val="FFFEFB"/>
                </a:solidFill>
              </a:rPr>
              <a:t>cy</a:t>
            </a:r>
            <a:r>
              <a:rPr b="0" i="0" lang="sv" sz="21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sv" sz="2100">
                <a:solidFill>
                  <a:srgbClr val="FFFEFB"/>
                </a:solidFill>
              </a:rPr>
              <a:t>and</a:t>
            </a:r>
            <a:r>
              <a:rPr lang="sv" sz="2100">
                <a:solidFill>
                  <a:srgbClr val="FFFEFB"/>
                </a:solidFill>
              </a:rPr>
              <a:t> </a:t>
            </a:r>
            <a:r>
              <a:rPr b="0" i="0" lang="sv" sz="21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rPr>
              <a:t>representativi</a:t>
            </a:r>
            <a:r>
              <a:rPr lang="sv" sz="2100">
                <a:solidFill>
                  <a:srgbClr val="FFFEFB"/>
                </a:solidFill>
              </a:rPr>
              <a:t>ty</a:t>
            </a:r>
            <a:endParaRPr b="0" i="0" sz="2100" u="none" cap="none" strike="noStrike">
              <a:solidFill>
                <a:srgbClr val="FFFE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●"/>
            </a:pPr>
            <a:r>
              <a:rPr lang="sv" sz="2100">
                <a:solidFill>
                  <a:srgbClr val="FFFEFB"/>
                </a:solidFill>
              </a:rPr>
              <a:t>Resilience and sovereignty</a:t>
            </a:r>
            <a:endParaRPr b="0" i="0" sz="2100" u="none" cap="none" strike="noStrike">
              <a:solidFill>
                <a:srgbClr val="FFFE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●"/>
            </a:pPr>
            <a:r>
              <a:rPr b="0" i="0" lang="sv" sz="21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rPr>
              <a:t>Dem</a:t>
            </a:r>
            <a:r>
              <a:rPr lang="sv" sz="2100">
                <a:solidFill>
                  <a:srgbClr val="FFFEFB"/>
                </a:solidFill>
              </a:rPr>
              <a:t>ocratization</a:t>
            </a:r>
            <a:endParaRPr b="0" i="0" sz="2100" u="none" cap="none" strike="noStrike">
              <a:solidFill>
                <a:srgbClr val="FFFEF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75" name="Google Shape;475;p52"/>
          <p:cNvCxnSpPr/>
          <p:nvPr/>
        </p:nvCxnSpPr>
        <p:spPr>
          <a:xfrm>
            <a:off x="740250" y="2040506"/>
            <a:ext cx="4698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3"/>
          <p:cNvSpPr txBox="1"/>
          <p:nvPr/>
        </p:nvSpPr>
        <p:spPr>
          <a:xfrm>
            <a:off x="69713" y="4824394"/>
            <a:ext cx="401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none" cap="none" strike="noStrike">
                <a:solidFill>
                  <a:srgbClr val="FFFEFB"/>
                </a:solidFill>
                <a:latin typeface="Courier New"/>
                <a:ea typeface="Courier New"/>
                <a:cs typeface="Courier New"/>
                <a:sym typeface="Courier New"/>
              </a:rPr>
              <a:t>magnus.sahlgren@ai.se</a:t>
            </a:r>
            <a:endParaRPr b="0" i="0" sz="1100" u="none" cap="none" strike="noStrike">
              <a:solidFill>
                <a:srgbClr val="FFFEF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En bild som visar ritning&#10;&#10;Automatiskt genererad beskrivning" id="482" name="Google Shape;48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3850" y="262858"/>
            <a:ext cx="571018" cy="571019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53"/>
          <p:cNvSpPr txBox="1"/>
          <p:nvPr/>
        </p:nvSpPr>
        <p:spPr>
          <a:xfrm>
            <a:off x="740250" y="1209563"/>
            <a:ext cx="7663500" cy="3237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0000"/>
              </a:srgbClr>
            </a:outerShdw>
          </a:effectLst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E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sv" sz="2100">
                <a:solidFill>
                  <a:srgbClr val="FFFEFB"/>
                </a:solidFill>
              </a:rPr>
              <a:t>Why build national </a:t>
            </a:r>
            <a:r>
              <a:rPr b="0" i="0" lang="sv" sz="21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r>
              <a:rPr lang="sv" sz="2100">
                <a:solidFill>
                  <a:srgbClr val="FFFEFB"/>
                </a:solidFill>
              </a:rPr>
              <a:t>s</a:t>
            </a:r>
            <a:r>
              <a:rPr b="0" i="0" lang="sv" sz="21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2100" u="none" cap="none" strike="noStrike">
              <a:solidFill>
                <a:srgbClr val="FFFE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E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●"/>
            </a:pPr>
            <a:r>
              <a:rPr lang="sv" sz="2100">
                <a:solidFill>
                  <a:srgbClr val="FFFEFB"/>
                </a:solidFill>
              </a:rPr>
              <a:t>Competence and innovation</a:t>
            </a:r>
            <a:endParaRPr b="0" i="0" sz="2100" u="none" cap="none" strike="noStrike">
              <a:solidFill>
                <a:srgbClr val="FFFE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●"/>
            </a:pPr>
            <a:r>
              <a:rPr b="0" i="0" lang="sv" sz="21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rPr>
              <a:t>Transparen</a:t>
            </a:r>
            <a:r>
              <a:rPr lang="sv" sz="2100">
                <a:solidFill>
                  <a:srgbClr val="FFFEFB"/>
                </a:solidFill>
              </a:rPr>
              <a:t>cy</a:t>
            </a:r>
            <a:r>
              <a:rPr b="0" i="0" lang="sv" sz="21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sv" sz="2100">
                <a:solidFill>
                  <a:srgbClr val="FFFEFB"/>
                </a:solidFill>
              </a:rPr>
              <a:t>and </a:t>
            </a:r>
            <a:r>
              <a:rPr b="0" i="0" lang="sv" sz="21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rPr>
              <a:t>representativi</a:t>
            </a:r>
            <a:r>
              <a:rPr lang="sv" sz="2100">
                <a:solidFill>
                  <a:srgbClr val="FFFEFB"/>
                </a:solidFill>
              </a:rPr>
              <a:t>ty</a:t>
            </a:r>
            <a:endParaRPr b="0" i="0" sz="2100" u="none" cap="none" strike="noStrike">
              <a:solidFill>
                <a:srgbClr val="FFFE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●"/>
            </a:pPr>
            <a:r>
              <a:rPr lang="sv" sz="2100">
                <a:solidFill>
                  <a:srgbClr val="FFFEFB"/>
                </a:solidFill>
              </a:rPr>
              <a:t>Resilience and sovereignty</a:t>
            </a:r>
            <a:endParaRPr b="0" i="0" sz="2100" u="none" cap="none" strike="noStrike">
              <a:solidFill>
                <a:srgbClr val="FFFE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●"/>
            </a:pPr>
            <a:r>
              <a:rPr b="0" i="0" lang="sv" sz="2100" u="none" cap="none" strike="noStrike">
                <a:solidFill>
                  <a:srgbClr val="FFFEFB"/>
                </a:solidFill>
                <a:latin typeface="Arial"/>
                <a:ea typeface="Arial"/>
                <a:cs typeface="Arial"/>
                <a:sym typeface="Arial"/>
              </a:rPr>
              <a:t>Dem</a:t>
            </a:r>
            <a:r>
              <a:rPr lang="sv" sz="2100">
                <a:solidFill>
                  <a:srgbClr val="FFFEFB"/>
                </a:solidFill>
              </a:rPr>
              <a:t>ocratization</a:t>
            </a:r>
            <a:endParaRPr sz="2100">
              <a:solidFill>
                <a:srgbClr val="FFFEFB"/>
              </a:solidFill>
            </a:endParaRPr>
          </a:p>
          <a:p>
            <a:pPr indent="-29845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●"/>
            </a:pPr>
            <a:r>
              <a:rPr b="1" lang="sv" sz="2100">
                <a:solidFill>
                  <a:srgbClr val="FFFEFB"/>
                </a:solidFill>
              </a:rPr>
              <a:t>Existing models are still not great on e.g. Swedish!</a:t>
            </a:r>
            <a:endParaRPr sz="2100">
              <a:solidFill>
                <a:srgbClr val="FFFEFB"/>
              </a:solidFill>
            </a:endParaRPr>
          </a:p>
        </p:txBody>
      </p:sp>
      <p:cxnSp>
        <p:nvCxnSpPr>
          <p:cNvPr id="484" name="Google Shape;484;p53"/>
          <p:cNvCxnSpPr/>
          <p:nvPr/>
        </p:nvCxnSpPr>
        <p:spPr>
          <a:xfrm>
            <a:off x="740250" y="2040506"/>
            <a:ext cx="4698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4"/>
          <p:cNvSpPr/>
          <p:nvPr/>
        </p:nvSpPr>
        <p:spPr>
          <a:xfrm>
            <a:off x="5034675" y="2901825"/>
            <a:ext cx="754500" cy="1189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54"/>
          <p:cNvSpPr/>
          <p:nvPr/>
        </p:nvSpPr>
        <p:spPr>
          <a:xfrm>
            <a:off x="2691500" y="3641800"/>
            <a:ext cx="754500" cy="44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54"/>
          <p:cNvSpPr txBox="1"/>
          <p:nvPr/>
        </p:nvSpPr>
        <p:spPr>
          <a:xfrm>
            <a:off x="5644075" y="4413575"/>
            <a:ext cx="175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scandeval.com</a:t>
            </a:r>
            <a:endParaRPr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92" name="Google Shape;492;p54"/>
          <p:cNvPicPr preferRelativeResize="0"/>
          <p:nvPr/>
        </p:nvPicPr>
        <p:blipFill rotWithShape="1">
          <a:blip r:embed="rId3">
            <a:alphaModFix/>
          </a:blip>
          <a:srcRect b="0" l="10023" r="0" t="0"/>
          <a:stretch/>
        </p:blipFill>
        <p:spPr>
          <a:xfrm>
            <a:off x="2301850" y="927950"/>
            <a:ext cx="4255624" cy="292465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54"/>
          <p:cNvSpPr/>
          <p:nvPr/>
        </p:nvSpPr>
        <p:spPr>
          <a:xfrm>
            <a:off x="3409650" y="2038550"/>
            <a:ext cx="849000" cy="1726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54"/>
          <p:cNvSpPr/>
          <p:nvPr/>
        </p:nvSpPr>
        <p:spPr>
          <a:xfrm>
            <a:off x="5303100" y="1537975"/>
            <a:ext cx="928800" cy="222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54"/>
          <p:cNvSpPr txBox="1"/>
          <p:nvPr>
            <p:ph idx="4294967295" type="ctrTitle"/>
          </p:nvPr>
        </p:nvSpPr>
        <p:spPr>
          <a:xfrm>
            <a:off x="851298" y="642950"/>
            <a:ext cx="5104800" cy="78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2100">
                <a:solidFill>
                  <a:schemeClr val="dk1"/>
                </a:solidFill>
              </a:rPr>
              <a:t>Adaptation of open models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496" name="Google Shape;496;p54"/>
          <p:cNvSpPr txBox="1"/>
          <p:nvPr/>
        </p:nvSpPr>
        <p:spPr>
          <a:xfrm>
            <a:off x="0" y="4804800"/>
            <a:ext cx="535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sv" sz="1000" u="none" cap="none" strike="noStrike">
                <a:solidFill>
                  <a:srgbClr val="0D1F2C"/>
                </a:solidFill>
                <a:latin typeface="Courier New"/>
                <a:ea typeface="Courier New"/>
                <a:cs typeface="Courier New"/>
                <a:sym typeface="Courier New"/>
              </a:rPr>
              <a:t>magnus.sahlgren@ai.se</a:t>
            </a:r>
            <a:endParaRPr b="0" i="0" sz="1000" u="none" cap="none" strike="noStrike">
              <a:solidFill>
                <a:srgbClr val="0D1F2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5"/>
          <p:cNvSpPr/>
          <p:nvPr/>
        </p:nvSpPr>
        <p:spPr>
          <a:xfrm>
            <a:off x="5034675" y="2901825"/>
            <a:ext cx="754500" cy="1189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55"/>
          <p:cNvSpPr/>
          <p:nvPr/>
        </p:nvSpPr>
        <p:spPr>
          <a:xfrm>
            <a:off x="2691500" y="3641800"/>
            <a:ext cx="754500" cy="44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55"/>
          <p:cNvSpPr txBox="1"/>
          <p:nvPr/>
        </p:nvSpPr>
        <p:spPr>
          <a:xfrm>
            <a:off x="5644075" y="4413575"/>
            <a:ext cx="175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scandeval.com</a:t>
            </a:r>
            <a:endParaRPr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04" name="Google Shape;504;p55"/>
          <p:cNvPicPr preferRelativeResize="0"/>
          <p:nvPr/>
        </p:nvPicPr>
        <p:blipFill rotWithShape="1">
          <a:blip r:embed="rId3">
            <a:alphaModFix/>
          </a:blip>
          <a:srcRect b="0" l="10023" r="0" t="0"/>
          <a:stretch/>
        </p:blipFill>
        <p:spPr>
          <a:xfrm>
            <a:off x="2301850" y="927950"/>
            <a:ext cx="4255624" cy="292465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55"/>
          <p:cNvSpPr/>
          <p:nvPr/>
        </p:nvSpPr>
        <p:spPr>
          <a:xfrm>
            <a:off x="5356800" y="1364400"/>
            <a:ext cx="812400" cy="2496000"/>
          </a:xfrm>
          <a:prstGeom prst="mathPlus">
            <a:avLst>
              <a:gd fmla="val 23520" name="adj1"/>
            </a:avLst>
          </a:prstGeom>
          <a:solidFill>
            <a:srgbClr val="FFC800"/>
          </a:solidFill>
          <a:ln cap="flat" cmpd="sng" w="9525">
            <a:solidFill>
              <a:srgbClr val="FFC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06" name="Google Shape;506;p55"/>
          <p:cNvSpPr/>
          <p:nvPr/>
        </p:nvSpPr>
        <p:spPr>
          <a:xfrm>
            <a:off x="3423600" y="1965600"/>
            <a:ext cx="812400" cy="1799100"/>
          </a:xfrm>
          <a:prstGeom prst="mathPlus">
            <a:avLst>
              <a:gd fmla="val 23520" name="adj1"/>
            </a:avLst>
          </a:prstGeom>
          <a:solidFill>
            <a:srgbClr val="FFC800"/>
          </a:solidFill>
          <a:ln cap="flat" cmpd="sng" w="9525">
            <a:solidFill>
              <a:srgbClr val="FFC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07" name="Google Shape;507;p55"/>
          <p:cNvSpPr txBox="1"/>
          <p:nvPr>
            <p:ph idx="4294967295" type="ctrTitle"/>
          </p:nvPr>
        </p:nvSpPr>
        <p:spPr>
          <a:xfrm>
            <a:off x="851298" y="642950"/>
            <a:ext cx="5104800" cy="78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2100">
                <a:solidFill>
                  <a:schemeClr val="dk1"/>
                </a:solidFill>
              </a:rPr>
              <a:t>Adaptation of open models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508" name="Google Shape;508;p55"/>
          <p:cNvSpPr txBox="1"/>
          <p:nvPr/>
        </p:nvSpPr>
        <p:spPr>
          <a:xfrm>
            <a:off x="0" y="4804800"/>
            <a:ext cx="535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sv" sz="1000" u="none" cap="none" strike="noStrike">
                <a:solidFill>
                  <a:srgbClr val="0D1F2C"/>
                </a:solidFill>
                <a:latin typeface="Courier New"/>
                <a:ea typeface="Courier New"/>
                <a:cs typeface="Courier New"/>
                <a:sym typeface="Courier New"/>
              </a:rPr>
              <a:t>magnus.sahlgren@ai.se</a:t>
            </a:r>
            <a:endParaRPr b="0" i="0" sz="1000" u="none" cap="none" strike="noStrike">
              <a:solidFill>
                <a:srgbClr val="0D1F2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6"/>
          <p:cNvSpPr/>
          <p:nvPr/>
        </p:nvSpPr>
        <p:spPr>
          <a:xfrm>
            <a:off x="5034675" y="2901825"/>
            <a:ext cx="754500" cy="1189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56"/>
          <p:cNvSpPr/>
          <p:nvPr/>
        </p:nvSpPr>
        <p:spPr>
          <a:xfrm>
            <a:off x="2691500" y="3641800"/>
            <a:ext cx="754500" cy="44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56"/>
          <p:cNvSpPr txBox="1"/>
          <p:nvPr/>
        </p:nvSpPr>
        <p:spPr>
          <a:xfrm>
            <a:off x="0" y="4804800"/>
            <a:ext cx="535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sv" sz="1000" u="none" cap="none" strike="noStrike">
                <a:solidFill>
                  <a:srgbClr val="0D1F2C"/>
                </a:solidFill>
                <a:latin typeface="Courier New"/>
                <a:ea typeface="Courier New"/>
                <a:cs typeface="Courier New"/>
                <a:sym typeface="Courier New"/>
              </a:rPr>
              <a:t>magnus.sahlgren@ai.se</a:t>
            </a:r>
            <a:endParaRPr b="0" i="0" sz="1000" u="none" cap="none" strike="noStrike">
              <a:solidFill>
                <a:srgbClr val="0D1F2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16" name="Google Shape;516;p56"/>
          <p:cNvPicPr preferRelativeResize="0"/>
          <p:nvPr/>
        </p:nvPicPr>
        <p:blipFill rotWithShape="1">
          <a:blip r:embed="rId3">
            <a:alphaModFix/>
          </a:blip>
          <a:srcRect b="3298" l="3362" r="0" t="3790"/>
          <a:stretch/>
        </p:blipFill>
        <p:spPr>
          <a:xfrm>
            <a:off x="179825" y="1364575"/>
            <a:ext cx="4562767" cy="271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56"/>
          <p:cNvSpPr txBox="1"/>
          <p:nvPr/>
        </p:nvSpPr>
        <p:spPr>
          <a:xfrm>
            <a:off x="5799900" y="4137475"/>
            <a:ext cx="303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sv" sz="800">
                <a:solidFill>
                  <a:srgbClr val="B7B7B7"/>
                </a:solidFill>
              </a:rPr>
              <a:t>Maxime Labonne</a:t>
            </a:r>
            <a:endParaRPr sz="800">
              <a:solidFill>
                <a:srgbClr val="B7B7B7"/>
              </a:solidFill>
            </a:endParaRPr>
          </a:p>
        </p:txBody>
      </p:sp>
      <p:sp>
        <p:nvSpPr>
          <p:cNvPr id="518" name="Google Shape;518;p56"/>
          <p:cNvSpPr txBox="1"/>
          <p:nvPr/>
        </p:nvSpPr>
        <p:spPr>
          <a:xfrm>
            <a:off x="271950" y="4137475"/>
            <a:ext cx="303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800">
                <a:solidFill>
                  <a:srgbClr val="B7B7B7"/>
                </a:solidFill>
              </a:rPr>
              <a:t>Data compiled by Stella Biderman</a:t>
            </a:r>
            <a:endParaRPr sz="800">
              <a:solidFill>
                <a:srgbClr val="B7B7B7"/>
              </a:solidFill>
            </a:endParaRPr>
          </a:p>
        </p:txBody>
      </p:sp>
      <p:pic>
        <p:nvPicPr>
          <p:cNvPr id="519" name="Google Shape;519;p56"/>
          <p:cNvPicPr preferRelativeResize="0"/>
          <p:nvPr/>
        </p:nvPicPr>
        <p:blipFill rotWithShape="1">
          <a:blip r:embed="rId4">
            <a:alphaModFix/>
          </a:blip>
          <a:srcRect b="0" l="0" r="0" t="11229"/>
          <a:stretch/>
        </p:blipFill>
        <p:spPr>
          <a:xfrm>
            <a:off x="4676025" y="1382225"/>
            <a:ext cx="4326927" cy="26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56"/>
          <p:cNvSpPr/>
          <p:nvPr/>
        </p:nvSpPr>
        <p:spPr>
          <a:xfrm>
            <a:off x="137825" y="1356600"/>
            <a:ext cx="8865000" cy="2781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1" name="Google Shape;521;p56"/>
          <p:cNvCxnSpPr/>
          <p:nvPr/>
        </p:nvCxnSpPr>
        <p:spPr>
          <a:xfrm>
            <a:off x="4737250" y="1363850"/>
            <a:ext cx="0" cy="27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2" name="Google Shape;522;p56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sv" sz="2500">
                <a:solidFill>
                  <a:schemeClr val="dk1"/>
                </a:solidFill>
              </a:rPr>
              <a:t>Open vs closed models</a:t>
            </a:r>
            <a:endParaRPr b="0"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7"/>
          <p:cNvSpPr/>
          <p:nvPr/>
        </p:nvSpPr>
        <p:spPr>
          <a:xfrm>
            <a:off x="4570400" y="2571750"/>
            <a:ext cx="4573500" cy="25716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57"/>
          <p:cNvSpPr/>
          <p:nvPr/>
        </p:nvSpPr>
        <p:spPr>
          <a:xfrm>
            <a:off x="-3100" y="2571750"/>
            <a:ext cx="4573500" cy="2571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57"/>
          <p:cNvSpPr txBox="1"/>
          <p:nvPr/>
        </p:nvSpPr>
        <p:spPr>
          <a:xfrm>
            <a:off x="194300" y="478800"/>
            <a:ext cx="4178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2100">
                <a:solidFill>
                  <a:schemeClr val="lt1"/>
                </a:solidFill>
              </a:rPr>
              <a:t>Competence</a:t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530" name="Google Shape;530;p57"/>
          <p:cNvSpPr txBox="1"/>
          <p:nvPr/>
        </p:nvSpPr>
        <p:spPr>
          <a:xfrm>
            <a:off x="194300" y="3068750"/>
            <a:ext cx="4178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2100">
                <a:solidFill>
                  <a:schemeClr val="dk2"/>
                </a:solidFill>
              </a:rPr>
              <a:t>Funding</a:t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31" name="Google Shape;531;p57"/>
          <p:cNvSpPr txBox="1"/>
          <p:nvPr/>
        </p:nvSpPr>
        <p:spPr>
          <a:xfrm>
            <a:off x="4767800" y="3068750"/>
            <a:ext cx="4178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2100">
                <a:solidFill>
                  <a:schemeClr val="lt1"/>
                </a:solidFill>
              </a:rPr>
              <a:t>Infrastructure</a:t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532" name="Google Shape;532;p57"/>
          <p:cNvSpPr txBox="1"/>
          <p:nvPr/>
        </p:nvSpPr>
        <p:spPr>
          <a:xfrm>
            <a:off x="4767800" y="478800"/>
            <a:ext cx="4178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2100">
                <a:solidFill>
                  <a:schemeClr val="dk2"/>
                </a:solidFill>
              </a:rPr>
              <a:t>Data</a:t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33" name="Google Shape;533;p57"/>
          <p:cNvSpPr txBox="1"/>
          <p:nvPr/>
        </p:nvSpPr>
        <p:spPr>
          <a:xfrm>
            <a:off x="0" y="4804800"/>
            <a:ext cx="535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sv" sz="1000" u="none" cap="none" strike="noStrike">
                <a:solidFill>
                  <a:srgbClr val="0D1F2C"/>
                </a:solidFill>
                <a:latin typeface="Courier New"/>
                <a:ea typeface="Courier New"/>
                <a:cs typeface="Courier New"/>
                <a:sym typeface="Courier New"/>
              </a:rPr>
              <a:t>magnus.sahlgren@ai.se</a:t>
            </a:r>
            <a:endParaRPr b="0" i="0" sz="1000" u="none" cap="none" strike="noStrike">
              <a:solidFill>
                <a:srgbClr val="0D1F2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8"/>
          <p:cNvSpPr/>
          <p:nvPr/>
        </p:nvSpPr>
        <p:spPr>
          <a:xfrm>
            <a:off x="4570400" y="2571750"/>
            <a:ext cx="4573500" cy="25716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58"/>
          <p:cNvSpPr/>
          <p:nvPr/>
        </p:nvSpPr>
        <p:spPr>
          <a:xfrm>
            <a:off x="-3100" y="2571750"/>
            <a:ext cx="4573500" cy="2571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58"/>
          <p:cNvSpPr txBox="1"/>
          <p:nvPr/>
        </p:nvSpPr>
        <p:spPr>
          <a:xfrm>
            <a:off x="194300" y="478800"/>
            <a:ext cx="4178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2100">
                <a:solidFill>
                  <a:schemeClr val="lt1"/>
                </a:solidFill>
              </a:rPr>
              <a:t>Competence</a:t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Language models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Deep learning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HPC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541" name="Google Shape;541;p58"/>
          <p:cNvSpPr txBox="1"/>
          <p:nvPr/>
        </p:nvSpPr>
        <p:spPr>
          <a:xfrm>
            <a:off x="194300" y="3068750"/>
            <a:ext cx="4178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2100">
                <a:solidFill>
                  <a:schemeClr val="dk2"/>
                </a:solidFill>
              </a:rPr>
              <a:t>Funding</a:t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42" name="Google Shape;542;p58"/>
          <p:cNvSpPr txBox="1"/>
          <p:nvPr/>
        </p:nvSpPr>
        <p:spPr>
          <a:xfrm>
            <a:off x="4767800" y="3068750"/>
            <a:ext cx="4178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2100">
                <a:solidFill>
                  <a:schemeClr val="lt1"/>
                </a:solidFill>
              </a:rPr>
              <a:t>Infrastructure</a:t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543" name="Google Shape;543;p58"/>
          <p:cNvSpPr txBox="1"/>
          <p:nvPr/>
        </p:nvSpPr>
        <p:spPr>
          <a:xfrm>
            <a:off x="4767800" y="478800"/>
            <a:ext cx="4178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2100">
                <a:solidFill>
                  <a:schemeClr val="dk2"/>
                </a:solidFill>
              </a:rPr>
              <a:t>Data</a:t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44" name="Google Shape;544;p58"/>
          <p:cNvSpPr txBox="1"/>
          <p:nvPr/>
        </p:nvSpPr>
        <p:spPr>
          <a:xfrm>
            <a:off x="0" y="4804800"/>
            <a:ext cx="535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sv" sz="1000" u="none" cap="none" strike="noStrike">
                <a:solidFill>
                  <a:srgbClr val="0D1F2C"/>
                </a:solidFill>
                <a:latin typeface="Courier New"/>
                <a:ea typeface="Courier New"/>
                <a:cs typeface="Courier New"/>
                <a:sym typeface="Courier New"/>
              </a:rPr>
              <a:t>magnus.sahlgren@ai.se</a:t>
            </a:r>
            <a:endParaRPr b="0" i="0" sz="1000" u="none" cap="none" strike="noStrike">
              <a:solidFill>
                <a:srgbClr val="0D1F2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9"/>
          <p:cNvSpPr/>
          <p:nvPr/>
        </p:nvSpPr>
        <p:spPr>
          <a:xfrm>
            <a:off x="4570400" y="2571750"/>
            <a:ext cx="4573500" cy="25716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59"/>
          <p:cNvSpPr/>
          <p:nvPr/>
        </p:nvSpPr>
        <p:spPr>
          <a:xfrm>
            <a:off x="-3100" y="2571750"/>
            <a:ext cx="4573500" cy="2571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59"/>
          <p:cNvSpPr txBox="1"/>
          <p:nvPr/>
        </p:nvSpPr>
        <p:spPr>
          <a:xfrm>
            <a:off x="194300" y="478800"/>
            <a:ext cx="4178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2100">
                <a:solidFill>
                  <a:schemeClr val="lt1"/>
                </a:solidFill>
              </a:rPr>
              <a:t>Competence</a:t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Language models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Deep learning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HPC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552" name="Google Shape;552;p59"/>
          <p:cNvSpPr txBox="1"/>
          <p:nvPr/>
        </p:nvSpPr>
        <p:spPr>
          <a:xfrm>
            <a:off x="194300" y="3068750"/>
            <a:ext cx="4178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2100">
                <a:solidFill>
                  <a:schemeClr val="dk2"/>
                </a:solidFill>
              </a:rPr>
              <a:t>Funding</a:t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dk2"/>
                </a:solidFill>
              </a:rPr>
              <a:t>Large-scale projects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dk2"/>
                </a:solidFill>
              </a:rPr>
              <a:t>Not research!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dk2"/>
                </a:solidFill>
              </a:rPr>
              <a:t>(The artefacts should be the goal)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3" name="Google Shape;553;p59"/>
          <p:cNvSpPr txBox="1"/>
          <p:nvPr/>
        </p:nvSpPr>
        <p:spPr>
          <a:xfrm>
            <a:off x="4767800" y="3068750"/>
            <a:ext cx="4178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2100">
                <a:solidFill>
                  <a:schemeClr val="lt1"/>
                </a:solidFill>
              </a:rPr>
              <a:t>Infrastructure</a:t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554" name="Google Shape;554;p59"/>
          <p:cNvSpPr txBox="1"/>
          <p:nvPr/>
        </p:nvSpPr>
        <p:spPr>
          <a:xfrm>
            <a:off x="4767800" y="478800"/>
            <a:ext cx="4178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2100">
                <a:solidFill>
                  <a:schemeClr val="dk2"/>
                </a:solidFill>
              </a:rPr>
              <a:t>Data</a:t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5" name="Google Shape;555;p59"/>
          <p:cNvSpPr txBox="1"/>
          <p:nvPr/>
        </p:nvSpPr>
        <p:spPr>
          <a:xfrm>
            <a:off x="0" y="4804800"/>
            <a:ext cx="535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sv" sz="1000" u="none" cap="none" strike="noStrike">
                <a:solidFill>
                  <a:srgbClr val="0D1F2C"/>
                </a:solidFill>
                <a:latin typeface="Courier New"/>
                <a:ea typeface="Courier New"/>
                <a:cs typeface="Courier New"/>
                <a:sym typeface="Courier New"/>
              </a:rPr>
              <a:t>magnus.sahlgren@ai.se</a:t>
            </a:r>
            <a:endParaRPr b="0" i="0" sz="1000" u="none" cap="none" strike="noStrike">
              <a:solidFill>
                <a:srgbClr val="0D1F2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0"/>
          <p:cNvSpPr/>
          <p:nvPr/>
        </p:nvSpPr>
        <p:spPr>
          <a:xfrm>
            <a:off x="4570400" y="2571750"/>
            <a:ext cx="4573500" cy="25716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60"/>
          <p:cNvSpPr/>
          <p:nvPr/>
        </p:nvSpPr>
        <p:spPr>
          <a:xfrm>
            <a:off x="-3100" y="2571750"/>
            <a:ext cx="4573500" cy="2571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60"/>
          <p:cNvSpPr txBox="1"/>
          <p:nvPr/>
        </p:nvSpPr>
        <p:spPr>
          <a:xfrm>
            <a:off x="194300" y="478800"/>
            <a:ext cx="4178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2100">
                <a:solidFill>
                  <a:schemeClr val="lt1"/>
                </a:solidFill>
              </a:rPr>
              <a:t>Competence</a:t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Language models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Deep learning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HPC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563" name="Google Shape;563;p60"/>
          <p:cNvSpPr txBox="1"/>
          <p:nvPr/>
        </p:nvSpPr>
        <p:spPr>
          <a:xfrm>
            <a:off x="194300" y="3068750"/>
            <a:ext cx="4178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2100">
                <a:solidFill>
                  <a:schemeClr val="dk2"/>
                </a:solidFill>
              </a:rPr>
              <a:t>Funding</a:t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dk2"/>
                </a:solidFill>
              </a:rPr>
              <a:t>Large-scale projects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dk2"/>
                </a:solidFill>
              </a:rPr>
              <a:t>Not research!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dk2"/>
                </a:solidFill>
              </a:rPr>
              <a:t>(The artefacts should be the goal)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4" name="Google Shape;564;p60"/>
          <p:cNvSpPr txBox="1"/>
          <p:nvPr/>
        </p:nvSpPr>
        <p:spPr>
          <a:xfrm>
            <a:off x="4767800" y="3068750"/>
            <a:ext cx="4178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2100">
                <a:solidFill>
                  <a:schemeClr val="lt1"/>
                </a:solidFill>
              </a:rPr>
              <a:t>Infrastructure</a:t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565" name="Google Shape;565;p60"/>
          <p:cNvSpPr txBox="1"/>
          <p:nvPr/>
        </p:nvSpPr>
        <p:spPr>
          <a:xfrm>
            <a:off x="4767800" y="478800"/>
            <a:ext cx="41787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2100">
                <a:solidFill>
                  <a:schemeClr val="dk2"/>
                </a:solidFill>
              </a:rPr>
              <a:t>Data</a:t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dk2"/>
                </a:solidFill>
              </a:rPr>
              <a:t>Trillions of high-quality tokens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dk2"/>
                </a:solidFill>
              </a:rPr>
              <a:t>(We need to be compliant with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dk2"/>
                </a:solidFill>
              </a:rPr>
              <a:t> European data protection policies)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6" name="Google Shape;566;p60"/>
          <p:cNvSpPr txBox="1"/>
          <p:nvPr/>
        </p:nvSpPr>
        <p:spPr>
          <a:xfrm>
            <a:off x="0" y="4804800"/>
            <a:ext cx="535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sv" sz="1000" u="none" cap="none" strike="noStrike">
                <a:solidFill>
                  <a:srgbClr val="0D1F2C"/>
                </a:solidFill>
                <a:latin typeface="Courier New"/>
                <a:ea typeface="Courier New"/>
                <a:cs typeface="Courier New"/>
                <a:sym typeface="Courier New"/>
              </a:rPr>
              <a:t>magnus.sahlgren@ai.se</a:t>
            </a:r>
            <a:endParaRPr b="0" i="0" sz="1000" u="none" cap="none" strike="noStrike">
              <a:solidFill>
                <a:srgbClr val="0D1F2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1"/>
          <p:cNvSpPr/>
          <p:nvPr/>
        </p:nvSpPr>
        <p:spPr>
          <a:xfrm>
            <a:off x="4570400" y="2571750"/>
            <a:ext cx="4573500" cy="25716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61"/>
          <p:cNvSpPr/>
          <p:nvPr/>
        </p:nvSpPr>
        <p:spPr>
          <a:xfrm>
            <a:off x="-3100" y="2571750"/>
            <a:ext cx="4573500" cy="2571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61"/>
          <p:cNvSpPr txBox="1"/>
          <p:nvPr/>
        </p:nvSpPr>
        <p:spPr>
          <a:xfrm>
            <a:off x="194300" y="478800"/>
            <a:ext cx="4178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2100">
                <a:solidFill>
                  <a:schemeClr val="lt1"/>
                </a:solidFill>
              </a:rPr>
              <a:t>Competence</a:t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Language models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Deep learning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HPC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574" name="Google Shape;574;p61"/>
          <p:cNvSpPr txBox="1"/>
          <p:nvPr/>
        </p:nvSpPr>
        <p:spPr>
          <a:xfrm>
            <a:off x="194300" y="3068750"/>
            <a:ext cx="4178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2100">
                <a:solidFill>
                  <a:schemeClr val="dk2"/>
                </a:solidFill>
              </a:rPr>
              <a:t>Funding</a:t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dk2"/>
                </a:solidFill>
              </a:rPr>
              <a:t>Large-scale projects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dk2"/>
                </a:solidFill>
              </a:rPr>
              <a:t>Not research!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dk2"/>
                </a:solidFill>
              </a:rPr>
              <a:t>(The artefacts should be the goal)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5" name="Google Shape;575;p61"/>
          <p:cNvSpPr txBox="1"/>
          <p:nvPr/>
        </p:nvSpPr>
        <p:spPr>
          <a:xfrm>
            <a:off x="4767800" y="3068750"/>
            <a:ext cx="4178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2100">
                <a:solidFill>
                  <a:schemeClr val="lt1"/>
                </a:solidFill>
              </a:rPr>
              <a:t>Infrastructure</a:t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1000s of high-end GPUs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(with good interconnect)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lt1"/>
                </a:solidFill>
              </a:rPr>
              <a:t>Large-scale allocations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576" name="Google Shape;576;p61"/>
          <p:cNvSpPr txBox="1"/>
          <p:nvPr/>
        </p:nvSpPr>
        <p:spPr>
          <a:xfrm>
            <a:off x="4767800" y="478800"/>
            <a:ext cx="41787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2100">
                <a:solidFill>
                  <a:schemeClr val="dk2"/>
                </a:solidFill>
              </a:rPr>
              <a:t>Data</a:t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dk2"/>
                </a:solidFill>
              </a:rPr>
              <a:t>Trillions of high-quality tokens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dk2"/>
                </a:solidFill>
              </a:rPr>
              <a:t>(We need to be compliant with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dk2"/>
                </a:solidFill>
              </a:rPr>
              <a:t> European data protection policies)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7" name="Google Shape;577;p61"/>
          <p:cNvSpPr txBox="1"/>
          <p:nvPr/>
        </p:nvSpPr>
        <p:spPr>
          <a:xfrm>
            <a:off x="0" y="4804800"/>
            <a:ext cx="535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sv" sz="1000" u="none" cap="none" strike="noStrike">
                <a:solidFill>
                  <a:srgbClr val="0D1F2C"/>
                </a:solidFill>
                <a:latin typeface="Courier New"/>
                <a:ea typeface="Courier New"/>
                <a:cs typeface="Courier New"/>
                <a:sym typeface="Courier New"/>
              </a:rPr>
              <a:t>magnus.sahlgren@ai.se</a:t>
            </a:r>
            <a:endParaRPr b="0" i="0" sz="1000" u="none" cap="none" strike="noStrike">
              <a:solidFill>
                <a:srgbClr val="0D1F2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2" name="Google Shape;582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8025" y="539400"/>
            <a:ext cx="5527949" cy="4064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62"/>
          <p:cNvSpPr txBox="1"/>
          <p:nvPr/>
        </p:nvSpPr>
        <p:spPr>
          <a:xfrm>
            <a:off x="3979000" y="4444475"/>
            <a:ext cx="303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sv" sz="800">
                <a:solidFill>
                  <a:srgbClr val="B7B7B7"/>
                </a:solidFill>
              </a:rPr>
              <a:t>Adi Fuchs</a:t>
            </a:r>
            <a:endParaRPr sz="800">
              <a:solidFill>
                <a:srgbClr val="B7B7B7"/>
              </a:solidFill>
            </a:endParaRPr>
          </a:p>
        </p:txBody>
      </p:sp>
      <p:sp>
        <p:nvSpPr>
          <p:cNvPr id="584" name="Google Shape;584;p62"/>
          <p:cNvSpPr txBox="1"/>
          <p:nvPr/>
        </p:nvSpPr>
        <p:spPr>
          <a:xfrm>
            <a:off x="0" y="4804800"/>
            <a:ext cx="535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sv" sz="1000" u="none" cap="none" strike="noStrike">
                <a:solidFill>
                  <a:srgbClr val="0D1F2C"/>
                </a:solidFill>
                <a:latin typeface="Courier New"/>
                <a:ea typeface="Courier New"/>
                <a:cs typeface="Courier New"/>
                <a:sym typeface="Courier New"/>
              </a:rPr>
              <a:t>magnus.sahlgren@ai.se</a:t>
            </a:r>
            <a:endParaRPr b="0" i="0" sz="1000" u="none" cap="none" strike="noStrike">
              <a:solidFill>
                <a:srgbClr val="0D1F2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3"/>
          <p:cNvSpPr/>
          <p:nvPr/>
        </p:nvSpPr>
        <p:spPr>
          <a:xfrm>
            <a:off x="5034675" y="2901825"/>
            <a:ext cx="754500" cy="1189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63"/>
          <p:cNvSpPr/>
          <p:nvPr/>
        </p:nvSpPr>
        <p:spPr>
          <a:xfrm>
            <a:off x="2691500" y="3641800"/>
            <a:ext cx="754500" cy="44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63"/>
          <p:cNvSpPr txBox="1"/>
          <p:nvPr/>
        </p:nvSpPr>
        <p:spPr>
          <a:xfrm>
            <a:off x="0" y="4804800"/>
            <a:ext cx="535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sv" sz="1000" u="none" cap="none" strike="noStrike">
                <a:solidFill>
                  <a:srgbClr val="0D1F2C"/>
                </a:solidFill>
                <a:latin typeface="Courier New"/>
                <a:ea typeface="Courier New"/>
                <a:cs typeface="Courier New"/>
                <a:sym typeface="Courier New"/>
              </a:rPr>
              <a:t>magnus.sahlgren@ai.se</a:t>
            </a:r>
            <a:endParaRPr b="0" i="0" sz="1000" u="none" cap="none" strike="noStrike">
              <a:solidFill>
                <a:srgbClr val="0D1F2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92" name="Google Shape;59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9300" y="200162"/>
            <a:ext cx="4700350" cy="4206326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63"/>
          <p:cNvSpPr txBox="1"/>
          <p:nvPr/>
        </p:nvSpPr>
        <p:spPr>
          <a:xfrm>
            <a:off x="2970425" y="4362975"/>
            <a:ext cx="663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800">
                <a:solidFill>
                  <a:srgbClr val="B7B7B7"/>
                </a:solidFill>
              </a:rPr>
              <a:t>www.economist.com/by-invitation/2024/08/21/mark-zuckerberg-and-daniel-ek-on-why-europe-should-embrace-open-source-ai</a:t>
            </a:r>
            <a:endParaRPr sz="800">
              <a:solidFill>
                <a:srgbClr val="B7B7B7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B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4"/>
          <p:cNvSpPr txBox="1"/>
          <p:nvPr>
            <p:ph idx="4294967295" type="ctrTitle"/>
          </p:nvPr>
        </p:nvSpPr>
        <p:spPr>
          <a:xfrm>
            <a:off x="851311" y="642938"/>
            <a:ext cx="4485000" cy="78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2600">
                <a:solidFill>
                  <a:schemeClr val="dk1"/>
                </a:solidFill>
              </a:rPr>
              <a:t>EuroLingua-GPT</a:t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599" name="Google Shape;599;p64"/>
          <p:cNvSpPr txBox="1"/>
          <p:nvPr>
            <p:ph idx="4294967295" type="subTitle"/>
          </p:nvPr>
        </p:nvSpPr>
        <p:spPr>
          <a:xfrm>
            <a:off x="851300" y="1663075"/>
            <a:ext cx="7874700" cy="3045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A new and </a:t>
            </a:r>
            <a:r>
              <a:rPr b="1" lang="sv">
                <a:solidFill>
                  <a:schemeClr val="dk1"/>
                </a:solidFill>
              </a:rPr>
              <a:t>open</a:t>
            </a:r>
            <a:r>
              <a:rPr lang="sv">
                <a:solidFill>
                  <a:schemeClr val="dk1"/>
                </a:solidFill>
              </a:rPr>
              <a:t> foundation model for the European languages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Collaboration between AI Sweden and Fraunhofer IAIS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MareNostrum5: 4480 H100 GPUs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1"/>
                </a:solidFill>
              </a:rPr>
              <a:t>(extreme-scale allocation)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00" name="Google Shape;600;p64"/>
          <p:cNvSpPr txBox="1"/>
          <p:nvPr/>
        </p:nvSpPr>
        <p:spPr>
          <a:xfrm>
            <a:off x="0" y="4804800"/>
            <a:ext cx="535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sv" sz="1000" u="none" cap="none" strike="noStrike">
                <a:solidFill>
                  <a:srgbClr val="0D1F2C"/>
                </a:solidFill>
                <a:latin typeface="Courier New"/>
                <a:ea typeface="Courier New"/>
                <a:cs typeface="Courier New"/>
                <a:sym typeface="Courier New"/>
              </a:rPr>
              <a:t>magnus.sahlgren@ai.se</a:t>
            </a:r>
            <a:endParaRPr b="0" i="0" sz="1000" u="none" cap="none" strike="noStrike">
              <a:solidFill>
                <a:srgbClr val="0D1F2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601" name="Google Shape;601;p64"/>
          <p:cNvCxnSpPr/>
          <p:nvPr/>
        </p:nvCxnSpPr>
        <p:spPr>
          <a:xfrm flipH="1" rot="10800000">
            <a:off x="914075" y="1574300"/>
            <a:ext cx="4875000" cy="7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02" name="Google Shape;602;p64"/>
          <p:cNvPicPr preferRelativeResize="0"/>
          <p:nvPr/>
        </p:nvPicPr>
        <p:blipFill rotWithShape="1">
          <a:blip r:embed="rId3">
            <a:alphaModFix/>
          </a:blip>
          <a:srcRect b="5555" l="15140" r="16507" t="15969"/>
          <a:stretch/>
        </p:blipFill>
        <p:spPr>
          <a:xfrm>
            <a:off x="6899125" y="3228301"/>
            <a:ext cx="1884701" cy="17265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3" name="Google Shape;603;p64"/>
          <p:cNvGrpSpPr/>
          <p:nvPr/>
        </p:nvGrpSpPr>
        <p:grpSpPr>
          <a:xfrm>
            <a:off x="4606499" y="69596"/>
            <a:ext cx="4119513" cy="1926715"/>
            <a:chOff x="3794574" y="75633"/>
            <a:chExt cx="4119513" cy="1926715"/>
          </a:xfrm>
        </p:grpSpPr>
        <p:pic>
          <p:nvPicPr>
            <p:cNvPr id="604" name="Google Shape;604;p64"/>
            <p:cNvPicPr preferRelativeResize="0"/>
            <p:nvPr/>
          </p:nvPicPr>
          <p:blipFill rotWithShape="1">
            <a:blip r:embed="rId4">
              <a:alphaModFix/>
            </a:blip>
            <a:srcRect b="0" l="8676" r="8135" t="0"/>
            <a:stretch/>
          </p:blipFill>
          <p:spPr>
            <a:xfrm>
              <a:off x="4222075" y="75633"/>
              <a:ext cx="1337179" cy="13473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5" name="Google Shape;605;p6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559246" y="123325"/>
              <a:ext cx="1450072" cy="9328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6" name="Google Shape;606;p6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246484" y="919975"/>
              <a:ext cx="1160166" cy="10823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7" name="Google Shape;607;p6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406662" y="208111"/>
              <a:ext cx="1507424" cy="10823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8" name="Google Shape;608;p6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794574" y="536893"/>
              <a:ext cx="1337206" cy="2251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9" name="Google Shape;609;p64"/>
            <p:cNvPicPr preferRelativeResize="0"/>
            <p:nvPr/>
          </p:nvPicPr>
          <p:blipFill rotWithShape="1">
            <a:blip r:embed="rId9">
              <a:alphaModFix/>
            </a:blip>
            <a:srcRect b="16984" l="0" r="0" t="0"/>
            <a:stretch/>
          </p:blipFill>
          <p:spPr>
            <a:xfrm>
              <a:off x="3794575" y="762026"/>
              <a:ext cx="1337200" cy="1141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0" name="Google Shape;610;p6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256683" y="728595"/>
              <a:ext cx="1507416" cy="120819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5"/>
          <p:cNvSpPr txBox="1"/>
          <p:nvPr>
            <p:ph idx="1" type="subTitle"/>
          </p:nvPr>
        </p:nvSpPr>
        <p:spPr>
          <a:xfrm>
            <a:off x="851311" y="1663066"/>
            <a:ext cx="6662700" cy="2541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sv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huggingface.co/AI-Sweden-Models</a:t>
            </a:r>
            <a:endParaRPr b="1">
              <a:solidFill>
                <a:schemeClr val="accen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16" name="Google Shape;616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825" y="2063277"/>
            <a:ext cx="6347750" cy="2414175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65"/>
          <p:cNvSpPr txBox="1"/>
          <p:nvPr/>
        </p:nvSpPr>
        <p:spPr>
          <a:xfrm>
            <a:off x="69713" y="4824394"/>
            <a:ext cx="401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none" cap="none" strike="noStrike">
                <a:solidFill>
                  <a:srgbClr val="FFFEFB"/>
                </a:solidFill>
                <a:latin typeface="Courier New"/>
                <a:ea typeface="Courier New"/>
                <a:cs typeface="Courier New"/>
                <a:sym typeface="Courier New"/>
              </a:rPr>
              <a:t>magnus.sahlgren@ai.se</a:t>
            </a:r>
            <a:endParaRPr b="0" i="0" sz="1100" u="none" cap="none" strike="noStrike">
              <a:solidFill>
                <a:srgbClr val="FFFEF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I SWEDEN">
  <a:themeElements>
    <a:clrScheme name="AI Sweden">
      <a:dk1>
        <a:srgbClr val="0D1F2C"/>
      </a:dk1>
      <a:lt1>
        <a:srgbClr val="FFFDF9"/>
      </a:lt1>
      <a:dk2>
        <a:srgbClr val="0D1F2C"/>
      </a:dk2>
      <a:lt2>
        <a:srgbClr val="F4F1E4"/>
      </a:lt2>
      <a:accent1>
        <a:srgbClr val="FFC800"/>
      </a:accent1>
      <a:accent2>
        <a:srgbClr val="00759C"/>
      </a:accent2>
      <a:accent3>
        <a:srgbClr val="004E68"/>
      </a:accent3>
      <a:accent4>
        <a:srgbClr val="0D1F2C"/>
      </a:accent4>
      <a:accent5>
        <a:srgbClr val="FF153B"/>
      </a:accent5>
      <a:accent6>
        <a:srgbClr val="34AF8F"/>
      </a:accent6>
      <a:hlink>
        <a:srgbClr val="004E68"/>
      </a:hlink>
      <a:folHlink>
        <a:srgbClr val="00759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I SWEDEN">
  <a:themeElements>
    <a:clrScheme name="AI Sweden">
      <a:dk1>
        <a:srgbClr val="0D1F2C"/>
      </a:dk1>
      <a:lt1>
        <a:srgbClr val="FFFDF9"/>
      </a:lt1>
      <a:dk2>
        <a:srgbClr val="0D1F2C"/>
      </a:dk2>
      <a:lt2>
        <a:srgbClr val="F4F1E4"/>
      </a:lt2>
      <a:accent1>
        <a:srgbClr val="FFC800"/>
      </a:accent1>
      <a:accent2>
        <a:srgbClr val="00759C"/>
      </a:accent2>
      <a:accent3>
        <a:srgbClr val="004E68"/>
      </a:accent3>
      <a:accent4>
        <a:srgbClr val="0D1F2C"/>
      </a:accent4>
      <a:accent5>
        <a:srgbClr val="FF153B"/>
      </a:accent5>
      <a:accent6>
        <a:srgbClr val="34AF8F"/>
      </a:accent6>
      <a:hlink>
        <a:srgbClr val="004E68"/>
      </a:hlink>
      <a:folHlink>
        <a:srgbClr val="00759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AI SWEDEN">
  <a:themeElements>
    <a:clrScheme name="AI Sweden">
      <a:dk1>
        <a:srgbClr val="0D1F2C"/>
      </a:dk1>
      <a:lt1>
        <a:srgbClr val="FFFDF9"/>
      </a:lt1>
      <a:dk2>
        <a:srgbClr val="0D1F2C"/>
      </a:dk2>
      <a:lt2>
        <a:srgbClr val="F4F1E4"/>
      </a:lt2>
      <a:accent1>
        <a:srgbClr val="FFC800"/>
      </a:accent1>
      <a:accent2>
        <a:srgbClr val="00759C"/>
      </a:accent2>
      <a:accent3>
        <a:srgbClr val="004E68"/>
      </a:accent3>
      <a:accent4>
        <a:srgbClr val="0D1F2C"/>
      </a:accent4>
      <a:accent5>
        <a:srgbClr val="FF153B"/>
      </a:accent5>
      <a:accent6>
        <a:srgbClr val="34AF8F"/>
      </a:accent6>
      <a:hlink>
        <a:srgbClr val="004E68"/>
      </a:hlink>
      <a:folHlink>
        <a:srgbClr val="00759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
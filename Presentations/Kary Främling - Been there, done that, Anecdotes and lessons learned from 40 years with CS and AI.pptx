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8" r:id="rId2"/>
    <p:sldId id="332" r:id="rId3"/>
    <p:sldId id="485" r:id="rId4"/>
    <p:sldId id="487" r:id="rId5"/>
    <p:sldId id="498" r:id="rId6"/>
    <p:sldId id="489" r:id="rId7"/>
    <p:sldId id="490" r:id="rId8"/>
    <p:sldId id="499" r:id="rId9"/>
    <p:sldId id="501" r:id="rId10"/>
    <p:sldId id="502" r:id="rId11"/>
    <p:sldId id="492" r:id="rId12"/>
    <p:sldId id="493" r:id="rId13"/>
    <p:sldId id="494" r:id="rId14"/>
    <p:sldId id="496" r:id="rId15"/>
    <p:sldId id="497" r:id="rId16"/>
    <p:sldId id="277" r:id="rId17"/>
  </p:sldIdLst>
  <p:sldSz cx="9144000" cy="5143500" type="screen16x9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45"/>
    <a:srgbClr val="00B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Format med tema 1 - dekorfär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29" autoAdjust="0"/>
    <p:restoredTop sz="94125" autoAdjust="0"/>
  </p:normalViewPr>
  <p:slideViewPr>
    <p:cSldViewPr snapToGrid="0" showGuides="1">
      <p:cViewPr varScale="1">
        <p:scale>
          <a:sx n="87" d="100"/>
          <a:sy n="87" d="100"/>
        </p:scale>
        <p:origin x="328" y="4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7" d="100"/>
          <a:sy n="107" d="100"/>
        </p:scale>
        <p:origin x="4856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venhuijsen Merlijn" userId="f53d8ca4-4baf-4b35-aea7-e6a450c8cf3b" providerId="ADAL" clId="{47EAB9CB-D008-439F-AE01-FB5AD283CAE5}"/>
    <pc:docChg chg="delSld">
      <pc:chgData name="Sevenhuijsen Merlijn" userId="f53d8ca4-4baf-4b35-aea7-e6a450c8cf3b" providerId="ADAL" clId="{47EAB9CB-D008-439F-AE01-FB5AD283CAE5}" dt="2024-10-25T06:55:47.954" v="4" actId="47"/>
      <pc:docMkLst>
        <pc:docMk/>
      </pc:docMkLst>
      <pc:sldChg chg="del">
        <pc:chgData name="Sevenhuijsen Merlijn" userId="f53d8ca4-4baf-4b35-aea7-e6a450c8cf3b" providerId="ADAL" clId="{47EAB9CB-D008-439F-AE01-FB5AD283CAE5}" dt="2024-10-25T06:55:46.946" v="2" actId="47"/>
        <pc:sldMkLst>
          <pc:docMk/>
          <pc:sldMk cId="3354856779" sldId="481"/>
        </pc:sldMkLst>
      </pc:sldChg>
      <pc:sldChg chg="del">
        <pc:chgData name="Sevenhuijsen Merlijn" userId="f53d8ca4-4baf-4b35-aea7-e6a450c8cf3b" providerId="ADAL" clId="{47EAB9CB-D008-439F-AE01-FB5AD283CAE5}" dt="2024-10-25T06:55:45.448" v="0" actId="47"/>
        <pc:sldMkLst>
          <pc:docMk/>
          <pc:sldMk cId="2507778601" sldId="482"/>
        </pc:sldMkLst>
      </pc:sldChg>
      <pc:sldChg chg="del">
        <pc:chgData name="Sevenhuijsen Merlijn" userId="f53d8ca4-4baf-4b35-aea7-e6a450c8cf3b" providerId="ADAL" clId="{47EAB9CB-D008-439F-AE01-FB5AD283CAE5}" dt="2024-10-25T06:55:47.954" v="4" actId="47"/>
        <pc:sldMkLst>
          <pc:docMk/>
          <pc:sldMk cId="2976076011" sldId="484"/>
        </pc:sldMkLst>
      </pc:sldChg>
      <pc:sldChg chg="del">
        <pc:chgData name="Sevenhuijsen Merlijn" userId="f53d8ca4-4baf-4b35-aea7-e6a450c8cf3b" providerId="ADAL" clId="{47EAB9CB-D008-439F-AE01-FB5AD283CAE5}" dt="2024-10-25T06:55:45.966" v="1" actId="47"/>
        <pc:sldMkLst>
          <pc:docMk/>
          <pc:sldMk cId="4064021331" sldId="486"/>
        </pc:sldMkLst>
      </pc:sldChg>
      <pc:sldChg chg="del">
        <pc:chgData name="Sevenhuijsen Merlijn" userId="f53d8ca4-4baf-4b35-aea7-e6a450c8cf3b" providerId="ADAL" clId="{47EAB9CB-D008-439F-AE01-FB5AD283CAE5}" dt="2024-10-25T06:55:47.424" v="3" actId="47"/>
        <pc:sldMkLst>
          <pc:docMk/>
          <pc:sldMk cId="4236691719" sldId="4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1F422-44EB-6348-83F7-A4E007E3F182}" type="datetime1">
              <a:rPr lang="sv-SE" smtClean="0"/>
              <a:t>2024-10-25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85F18-E291-564C-9800-2E49A8469C3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57814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3AA1C-D2C8-A341-A318-FFD4AE3E9A4C}" type="datetime1">
              <a:rPr lang="sv-SE" smtClean="0"/>
              <a:t>2024-10-25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4143D-DCE1-C64A-825E-2B3EC9B5926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96918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4143D-DCE1-C64A-825E-2B3EC9B59268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01423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ABCE2-D2C5-405B-8598-20E11E6D5163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09946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example: Mention what I did for TOG presentation next week, i.e. having ChatGPT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4143D-DCE1-C64A-825E-2B3EC9B59268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9779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ktangel 14"/>
          <p:cNvSpPr/>
          <p:nvPr userDrawn="1"/>
        </p:nvSpPr>
        <p:spPr>
          <a:xfrm>
            <a:off x="179640" y="204895"/>
            <a:ext cx="8784000" cy="47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  <p:pic>
        <p:nvPicPr>
          <p:cNvPr id="8" name="Bildobjekt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490" y="4059827"/>
            <a:ext cx="181102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43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45219" y="1684868"/>
            <a:ext cx="6653560" cy="2506134"/>
          </a:xfrm>
        </p:spPr>
        <p:txBody>
          <a:bodyPr>
            <a:normAutofit/>
          </a:bodyPr>
          <a:lstStyle>
            <a:lvl1pPr>
              <a:defRPr baseline="0"/>
            </a:lvl1pPr>
            <a:lvl4pPr>
              <a:defRPr/>
            </a:lvl4pPr>
          </a:lstStyle>
          <a:p>
            <a:pPr lvl="0"/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  <a:p>
            <a:pPr lvl="4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five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i="1" dirty="0"/>
              <a:t>24 October 2024</a:t>
            </a:r>
            <a:endParaRPr lang="sv-S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ruta 6"/>
          <p:cNvSpPr txBox="1"/>
          <p:nvPr userDrawn="1"/>
        </p:nvSpPr>
        <p:spPr>
          <a:xfrm>
            <a:off x="-525538" y="580321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v-SE"/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48317" y="594572"/>
            <a:ext cx="6647364" cy="81035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0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45224" y="1684868"/>
            <a:ext cx="3148689" cy="2523066"/>
          </a:xfrm>
        </p:spPr>
        <p:txBody>
          <a:bodyPr/>
          <a:lstStyle/>
          <a:p>
            <a:pPr lvl="0"/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  <a:p>
            <a:pPr lvl="4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five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i="1" dirty="0"/>
              <a:t>July 2023</a:t>
            </a:r>
            <a:endParaRPr lang="sv-S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‹#›</a:t>
            </a:fld>
            <a:endParaRPr lang="sv-SE"/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44865" y="1684868"/>
            <a:ext cx="3147720" cy="2523066"/>
          </a:xfrm>
        </p:spPr>
        <p:txBody>
          <a:bodyPr/>
          <a:lstStyle/>
          <a:p>
            <a:pPr lvl="0"/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  <a:p>
            <a:pPr lvl="4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five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45221" y="594572"/>
            <a:ext cx="6647364" cy="81035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5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i="1" dirty="0"/>
              <a:t>July 2023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‹#›</a:t>
            </a:fld>
            <a:endParaRPr lang="sv-SE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45221" y="594572"/>
            <a:ext cx="6647364" cy="8103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8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i="1" dirty="0"/>
              <a:t>July 2023</a:t>
            </a:r>
            <a:endParaRPr lang="sv-S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296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i="1" dirty="0"/>
              <a:t>July 2023</a:t>
            </a:r>
            <a:endParaRPr lang="sv-SE" dirty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26721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and final pag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ktangel 14"/>
          <p:cNvSpPr/>
          <p:nvPr userDrawn="1"/>
        </p:nvSpPr>
        <p:spPr>
          <a:xfrm>
            <a:off x="171173" y="204894"/>
            <a:ext cx="8784000" cy="47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16" name="Bildobjekt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490" y="4059827"/>
            <a:ext cx="1811020" cy="612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26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and final pag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188105" y="204894"/>
            <a:ext cx="8784000" cy="47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6" name="Bildobjekt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490" y="4059827"/>
            <a:ext cx="1811020" cy="612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40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and final pag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179639" y="196427"/>
            <a:ext cx="8784000" cy="47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6" name="Bildobjekt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490" y="4059826"/>
            <a:ext cx="1811020" cy="612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04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and final page -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188107" y="204895"/>
            <a:ext cx="8784000" cy="475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490" y="4059826"/>
            <a:ext cx="181102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3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and final pag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179639" y="187962"/>
            <a:ext cx="8784000" cy="478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490" y="4059826"/>
            <a:ext cx="181102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71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pag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179638" y="194733"/>
            <a:ext cx="8784000" cy="37084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113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463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r>
              <a:rPr lang="sv-SE" dirty="0"/>
              <a:t>.</a:t>
            </a:r>
            <a:endParaRPr lang="en-US" dirty="0"/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490" y="4059826"/>
            <a:ext cx="181102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32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296333" y="306887"/>
            <a:ext cx="8568267" cy="399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28 October 2021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240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590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81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304800" y="306885"/>
            <a:ext cx="8559800" cy="39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6 september 2022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240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590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64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296332" y="306887"/>
            <a:ext cx="8559801" cy="399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28 October 2021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240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590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430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296333" y="315349"/>
            <a:ext cx="8559800" cy="399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28 October 2021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240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590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57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296333" y="298422"/>
            <a:ext cx="8559800" cy="39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28 October 2021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240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590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164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296334" y="298415"/>
            <a:ext cx="8568266" cy="399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28 October 2021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962000" y="1240237"/>
            <a:ext cx="5220000" cy="1171459"/>
          </a:xfrm>
        </p:spPr>
        <p:txBody>
          <a:bodyPr anchor="b">
            <a:normAutofit/>
          </a:bodyPr>
          <a:lstStyle>
            <a:lvl1pPr algn="ctr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headline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62000" y="2590404"/>
            <a:ext cx="5220000" cy="81276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sub</a:t>
            </a:r>
            <a:r>
              <a:rPr lang="sv-SE" dirty="0"/>
              <a:t> </a:t>
            </a:r>
            <a:r>
              <a:rPr lang="sv-SE" dirty="0" err="1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03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69D6-3CBD-4615-96FE-B73C8F453F74}" type="datetime1">
              <a:rPr lang="en-US" noProof="0" smtClean="0"/>
              <a:t>10/25/2024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84017-E4DF-4A7A-8FA6-2DC68C3EB4D0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4400" y="4608900"/>
            <a:ext cx="1537200" cy="2862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713"/>
              </a:lnSpc>
              <a:spcBef>
                <a:spcPts val="0"/>
              </a:spcBef>
              <a:buNone/>
              <a:defRPr sz="713" b="1">
                <a:solidFill>
                  <a:schemeClr val="bg2"/>
                </a:solidFill>
              </a:defRPr>
            </a:lvl1pPr>
            <a:lvl2pPr marL="204788" indent="-77391">
              <a:defRPr lang="en-US" sz="7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788" indent="-70247">
              <a:buFont typeface="Symbol" pitchFamily="18" charset="2"/>
              <a:buNone/>
              <a:defRPr sz="675"/>
            </a:lvl3pPr>
            <a:lvl4pPr marL="204788" indent="-70247">
              <a:defRPr sz="675"/>
            </a:lvl4pPr>
            <a:lvl5pPr marL="204788" indent="-70247">
              <a:buFont typeface="Symbol" pitchFamily="18" charset="2"/>
              <a:buChar char="-"/>
              <a:defRPr sz="675"/>
            </a:lvl5pPr>
            <a:lvl6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6pPr>
            <a:lvl7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7pPr>
            <a:lvl8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8pPr>
            <a:lvl9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00" y="4608900"/>
            <a:ext cx="1702800" cy="2862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713"/>
              </a:lnSpc>
              <a:spcBef>
                <a:spcPts val="0"/>
              </a:spcBef>
              <a:buNone/>
              <a:defRPr sz="713" b="1">
                <a:solidFill>
                  <a:schemeClr val="bg2"/>
                </a:solidFill>
              </a:defRPr>
            </a:lvl1pPr>
            <a:lvl2pPr marL="204788" indent="-77391">
              <a:defRPr lang="en-US" sz="7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788" indent="-70247">
              <a:buFont typeface="Symbol" pitchFamily="18" charset="2"/>
              <a:buNone/>
              <a:defRPr sz="675"/>
            </a:lvl3pPr>
            <a:lvl4pPr marL="204788" indent="-70247">
              <a:defRPr sz="675"/>
            </a:lvl4pPr>
            <a:lvl5pPr marL="204788" indent="-70247">
              <a:buFont typeface="Symbol" pitchFamily="18" charset="2"/>
              <a:buChar char="-"/>
              <a:defRPr sz="675"/>
            </a:lvl5pPr>
            <a:lvl6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6pPr>
            <a:lvl7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7pPr>
            <a:lvl8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8pPr>
            <a:lvl9pPr marL="205200" indent="-70200">
              <a:spcBef>
                <a:spcPts val="225"/>
              </a:spcBef>
              <a:buFont typeface="Symbol" pitchFamily="18" charset="2"/>
              <a:buChar char="-"/>
              <a:defRPr sz="675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654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4761" y="619966"/>
            <a:ext cx="6660000" cy="81035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sv-SE" dirty="0"/>
              <a:t>Klicka här för att ändra 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4761" y="1718733"/>
            <a:ext cx="6660000" cy="249766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43" y="4940907"/>
            <a:ext cx="1080000" cy="739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i="1" dirty="0"/>
              <a:t>July 2023</a:t>
            </a:r>
            <a:endParaRPr lang="sv-S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3825" y="4940908"/>
            <a:ext cx="3816000" cy="739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Kary Främling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632" y="4940908"/>
            <a:ext cx="1080000" cy="739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D3ED0E79-C485-4358-AA6A-241A5ED8242A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0550" y="4383085"/>
            <a:ext cx="1788423" cy="46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F5D657-1871-D925-B9C2-DE3F980AA5D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315325" y="63500"/>
            <a:ext cx="787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Begränsad delning</a:t>
            </a:r>
          </a:p>
        </p:txBody>
      </p:sp>
    </p:spTree>
    <p:extLst>
      <p:ext uri="{BB962C8B-B14F-4D97-AF65-F5344CB8AC3E}">
        <p14:creationId xmlns:p14="http://schemas.microsoft.com/office/powerpoint/2010/main" val="143184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6" r:id="rId4"/>
    <p:sldLayoutId id="2147483667" r:id="rId5"/>
    <p:sldLayoutId id="2147483684" r:id="rId6"/>
    <p:sldLayoutId id="2147483687" r:id="rId7"/>
    <p:sldLayoutId id="2147483674" r:id="rId8"/>
    <p:sldLayoutId id="2147483675" r:id="rId9"/>
    <p:sldLayoutId id="2147483677" r:id="rId10"/>
    <p:sldLayoutId id="2147483676" r:id="rId11"/>
    <p:sldLayoutId id="2147483678" r:id="rId12"/>
    <p:sldLayoutId id="2147483686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91" r:id="rId19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Lucida Grande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234" userDrawn="1">
          <p15:clr>
            <a:srgbClr val="F26B43"/>
          </p15:clr>
        </p15:guide>
        <p15:guide id="3" pos="4526" userDrawn="1">
          <p15:clr>
            <a:srgbClr val="F26B43"/>
          </p15:clr>
        </p15:guide>
        <p15:guide id="4" orient="horz" pos="3475" userDrawn="1">
          <p15:clr>
            <a:srgbClr val="F26B43"/>
          </p15:clr>
        </p15:guide>
        <p15:guide id="5" pos="181" userDrawn="1">
          <p15:clr>
            <a:srgbClr val="F26B43"/>
          </p15:clr>
        </p15:guide>
        <p15:guide id="6" pos="4378" userDrawn="1">
          <p15:clr>
            <a:srgbClr val="F26B43"/>
          </p15:clr>
        </p15:guide>
        <p15:guide id="7" pos="1379" userDrawn="1">
          <p15:clr>
            <a:srgbClr val="F26B43"/>
          </p15:clr>
        </p15:guide>
        <p15:guide id="8" pos="5579" userDrawn="1">
          <p15:clr>
            <a:srgbClr val="F26B43"/>
          </p15:clr>
        </p15:guide>
        <p15:guide id="9" orient="horz" pos="935" userDrawn="1">
          <p15:clr>
            <a:srgbClr val="F26B43"/>
          </p15:clr>
        </p15:guide>
        <p15:guide id="10" orient="horz" pos="2069" userDrawn="1">
          <p15:clr>
            <a:srgbClr val="F26B43"/>
          </p15:clr>
        </p15:guide>
        <p15:guide id="11" orient="horz" pos="17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906379" y="1113237"/>
            <a:ext cx="7331242" cy="1171459"/>
          </a:xfrm>
        </p:spPr>
        <p:txBody>
          <a:bodyPr>
            <a:noAutofit/>
          </a:bodyPr>
          <a:lstStyle/>
          <a:p>
            <a:r>
              <a:rPr lang="en-GB" b="0" dirty="0"/>
              <a:t>Been there, done that: </a:t>
            </a:r>
            <a:br>
              <a:rPr lang="en-GB" b="0" dirty="0"/>
            </a:br>
            <a:r>
              <a:rPr lang="en-GB" b="0" dirty="0"/>
              <a:t>Anecdotes and lessons learned from 40 years with CS and AI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type="subTitle" idx="1"/>
          </p:nvPr>
        </p:nvSpPr>
        <p:spPr>
          <a:xfrm>
            <a:off x="1962000" y="2463404"/>
            <a:ext cx="5220000" cy="103146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sv-SE" sz="2900" dirty="0" err="1"/>
              <a:t>Kary</a:t>
            </a:r>
            <a:r>
              <a:rPr lang="sv-SE" sz="2900" dirty="0"/>
              <a:t> Främling</a:t>
            </a:r>
          </a:p>
          <a:p>
            <a:pPr>
              <a:lnSpc>
                <a:spcPct val="120000"/>
              </a:lnSpc>
            </a:pPr>
            <a:r>
              <a:rPr lang="sv-SE" dirty="0"/>
              <a:t>Professor in Data Science</a:t>
            </a:r>
          </a:p>
          <a:p>
            <a:pPr>
              <a:lnSpc>
                <a:spcPct val="120000"/>
              </a:lnSpc>
            </a:pPr>
            <a:r>
              <a:rPr lang="sv-SE" dirty="0" err="1"/>
              <a:t>Head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Explainable</a:t>
            </a:r>
            <a:r>
              <a:rPr lang="sv-SE" dirty="0"/>
              <a:t> AI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1E3B8-82B2-D045-8CDA-EE377B38E9BA}"/>
              </a:ext>
            </a:extLst>
          </p:cNvPr>
          <p:cNvSpPr txBox="1"/>
          <p:nvPr/>
        </p:nvSpPr>
        <p:spPr>
          <a:xfrm>
            <a:off x="5637542" y="4005061"/>
            <a:ext cx="31966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The work is partially supported by the Wallenberg AI, Autonomous Systems and Software Program (WASP) funded by the Knut and Alice Wallenberg Foundation.</a:t>
            </a:r>
            <a:endParaRPr lang="en-FI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398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FD19D6FB-4D5E-8E4B-AA73-BB10DC175375}"/>
              </a:ext>
            </a:extLst>
          </p:cNvPr>
          <p:cNvSpPr/>
          <p:nvPr/>
        </p:nvSpPr>
        <p:spPr>
          <a:xfrm>
            <a:off x="1422655" y="1260390"/>
            <a:ext cx="6005057" cy="3425324"/>
          </a:xfrm>
          <a:custGeom>
            <a:avLst/>
            <a:gdLst>
              <a:gd name="connsiteX0" fmla="*/ 4147153 w 6005057"/>
              <a:gd name="connsiteY0" fmla="*/ 0 h 3425324"/>
              <a:gd name="connsiteX1" fmla="*/ 5991398 w 6005057"/>
              <a:gd name="connsiteY1" fmla="*/ 1566219 h 3425324"/>
              <a:gd name="connsiteX2" fmla="*/ 3192593 w 6005057"/>
              <a:gd name="connsiteY2" fmla="*/ 3419732 h 3425324"/>
              <a:gd name="connsiteX3" fmla="*/ 208436 w 6005057"/>
              <a:gd name="connsiteY3" fmla="*/ 1788640 h 3425324"/>
              <a:gd name="connsiteX4" fmla="*/ 579139 w 6005057"/>
              <a:gd name="connsiteY4" fmla="*/ 417040 h 3425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5057" h="3425324" extrusionOk="0">
                <a:moveTo>
                  <a:pt x="4147153" y="0"/>
                </a:moveTo>
                <a:cubicBezTo>
                  <a:pt x="4998965" y="405697"/>
                  <a:pt x="6106299" y="1012850"/>
                  <a:pt x="5991398" y="1566219"/>
                </a:cubicBezTo>
                <a:cubicBezTo>
                  <a:pt x="5990780" y="2169537"/>
                  <a:pt x="3950579" y="3389207"/>
                  <a:pt x="3192593" y="3419732"/>
                </a:cubicBezTo>
                <a:cubicBezTo>
                  <a:pt x="2114344" y="3568542"/>
                  <a:pt x="611074" y="2424554"/>
                  <a:pt x="208436" y="1788640"/>
                </a:cubicBezTo>
                <a:cubicBezTo>
                  <a:pt x="-364713" y="1203217"/>
                  <a:pt x="257934" y="914419"/>
                  <a:pt x="579139" y="417040"/>
                </a:cubicBezTo>
              </a:path>
            </a:pathLst>
          </a:custGeom>
          <a:noFill/>
          <a:ln w="254000" cap="rnd">
            <a:solidFill>
              <a:schemeClr val="bg1">
                <a:lumMod val="75000"/>
              </a:schemeClr>
            </a:solidFill>
            <a:tailEnd type="triangle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487065 w 7968389"/>
                      <a:gd name="connsiteY0" fmla="*/ 0 h 4560797"/>
                      <a:gd name="connsiteX1" fmla="*/ 7946059 w 7968389"/>
                      <a:gd name="connsiteY1" fmla="*/ 2088292 h 4560797"/>
                      <a:gd name="connsiteX2" fmla="*/ 4214319 w 7968389"/>
                      <a:gd name="connsiteY2" fmla="*/ 4559643 h 4560797"/>
                      <a:gd name="connsiteX3" fmla="*/ 235443 w 7968389"/>
                      <a:gd name="connsiteY3" fmla="*/ 2384854 h 4560797"/>
                      <a:gd name="connsiteX4" fmla="*/ 803854 w 7968389"/>
                      <a:gd name="connsiteY4" fmla="*/ 518984 h 4560797"/>
                      <a:gd name="connsiteX0" fmla="*/ 5529538 w 8006743"/>
                      <a:gd name="connsiteY0" fmla="*/ 0 h 4567098"/>
                      <a:gd name="connsiteX1" fmla="*/ 7988532 w 8006743"/>
                      <a:gd name="connsiteY1" fmla="*/ 2088292 h 4567098"/>
                      <a:gd name="connsiteX2" fmla="*/ 4256792 w 8006743"/>
                      <a:gd name="connsiteY2" fmla="*/ 4559643 h 4567098"/>
                      <a:gd name="connsiteX3" fmla="*/ 277916 w 8006743"/>
                      <a:gd name="connsiteY3" fmla="*/ 2384854 h 4567098"/>
                      <a:gd name="connsiteX4" fmla="*/ 772186 w 8006743"/>
                      <a:gd name="connsiteY4" fmla="*/ 556054 h 45670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06743" h="4567098" extrusionOk="0">
                        <a:moveTo>
                          <a:pt x="5529538" y="0"/>
                        </a:moveTo>
                        <a:cubicBezTo>
                          <a:pt x="6768561" y="604631"/>
                          <a:pt x="8184011" y="1334599"/>
                          <a:pt x="7988532" y="2088292"/>
                        </a:cubicBezTo>
                        <a:cubicBezTo>
                          <a:pt x="7842247" y="2862094"/>
                          <a:pt x="5332572" y="4516872"/>
                          <a:pt x="4256792" y="4559643"/>
                        </a:cubicBezTo>
                        <a:cubicBezTo>
                          <a:pt x="2890999" y="4687868"/>
                          <a:pt x="833406" y="3129713"/>
                          <a:pt x="277916" y="2384854"/>
                        </a:cubicBezTo>
                        <a:cubicBezTo>
                          <a:pt x="-368446" y="1668762"/>
                          <a:pt x="245634" y="1172267"/>
                          <a:pt x="772186" y="556054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83649-D47D-AE43-A43E-8EC1E9B4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221" y="180357"/>
            <a:ext cx="6647364" cy="810351"/>
          </a:xfrm>
        </p:spPr>
        <p:txBody>
          <a:bodyPr>
            <a:normAutofit/>
          </a:bodyPr>
          <a:lstStyle/>
          <a:p>
            <a:pPr algn="ctr"/>
            <a:r>
              <a:rPr lang="en-SE"/>
              <a:t>Kary Främling</a:t>
            </a:r>
            <a:r>
              <a:rPr lang="sv-SE"/>
              <a:t> in a nutshell</a:t>
            </a:r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88F2A-6C53-3346-BEE5-6E54E8E3A917}"/>
              </a:ext>
            </a:extLst>
          </p:cNvPr>
          <p:cNvSpPr txBox="1"/>
          <p:nvPr/>
        </p:nvSpPr>
        <p:spPr>
          <a:xfrm>
            <a:off x="3605221" y="988067"/>
            <a:ext cx="2056973" cy="507831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sv-SE" sz="1350" dirty="0">
                <a:solidFill>
                  <a:schemeClr val="bg1"/>
                </a:solidFill>
              </a:rPr>
              <a:t>Born in Borgå (</a:t>
            </a:r>
            <a:r>
              <a:rPr lang="sv-SE" sz="1350" dirty="0" err="1">
                <a:solidFill>
                  <a:schemeClr val="bg1"/>
                </a:solidFill>
              </a:rPr>
              <a:t>Porvoo</a:t>
            </a:r>
            <a:r>
              <a:rPr lang="sv-SE" sz="1350" dirty="0">
                <a:solidFill>
                  <a:schemeClr val="bg1"/>
                </a:solidFill>
              </a:rPr>
              <a:t>), </a:t>
            </a:r>
          </a:p>
          <a:p>
            <a:r>
              <a:rPr lang="sv-SE" sz="1350" dirty="0">
                <a:solidFill>
                  <a:schemeClr val="bg1"/>
                </a:solidFill>
              </a:rPr>
              <a:t>Finland</a:t>
            </a:r>
            <a:r>
              <a:rPr lang="en-SE" sz="1350">
                <a:solidFill>
                  <a:schemeClr val="bg1"/>
                </a:solidFill>
              </a:rPr>
              <a:t> 1965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9E8DDF-8BC6-7E49-B38A-1500DB92B597}"/>
              </a:ext>
            </a:extLst>
          </p:cNvPr>
          <p:cNvSpPr txBox="1"/>
          <p:nvPr/>
        </p:nvSpPr>
        <p:spPr>
          <a:xfrm>
            <a:off x="6211259" y="1442232"/>
            <a:ext cx="2781531" cy="1131079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sv-SE" sz="1350" dirty="0" err="1">
                <a:solidFill>
                  <a:schemeClr val="bg1"/>
                </a:solidFill>
              </a:rPr>
              <a:t>M.Sc</a:t>
            </a:r>
            <a:r>
              <a:rPr lang="sv-SE" sz="1350" dirty="0">
                <a:solidFill>
                  <a:schemeClr val="bg1"/>
                </a:solidFill>
              </a:rPr>
              <a:t>.</a:t>
            </a:r>
            <a:r>
              <a:rPr lang="en-SE" sz="1350">
                <a:solidFill>
                  <a:schemeClr val="bg1"/>
                </a:solidFill>
              </a:rPr>
              <a:t> </a:t>
            </a:r>
            <a:r>
              <a:rPr lang="sv-SE" sz="1350" dirty="0">
                <a:solidFill>
                  <a:schemeClr val="bg1"/>
                </a:solidFill>
              </a:rPr>
              <a:t>in</a:t>
            </a:r>
            <a:r>
              <a:rPr lang="en-SE" sz="1350">
                <a:solidFill>
                  <a:schemeClr val="bg1"/>
                </a:solidFill>
              </a:rPr>
              <a:t> </a:t>
            </a:r>
            <a:r>
              <a:rPr lang="sv-SE" sz="1350" dirty="0">
                <a:solidFill>
                  <a:schemeClr val="bg1"/>
                </a:solidFill>
              </a:rPr>
              <a:t>CS, </a:t>
            </a:r>
            <a:r>
              <a:rPr lang="sv-SE" sz="1350" dirty="0" err="1">
                <a:solidFill>
                  <a:schemeClr val="bg1"/>
                </a:solidFill>
              </a:rPr>
              <a:t>Helsinki</a:t>
            </a:r>
            <a:r>
              <a:rPr lang="sv-SE" sz="1350" dirty="0">
                <a:solidFill>
                  <a:schemeClr val="bg1"/>
                </a:solidFill>
              </a:rPr>
              <a:t> University </a:t>
            </a:r>
            <a:br>
              <a:rPr lang="sv-SE" sz="1350" dirty="0">
                <a:solidFill>
                  <a:schemeClr val="bg1"/>
                </a:solidFill>
              </a:rPr>
            </a:br>
            <a:r>
              <a:rPr lang="sv-SE" sz="1350" dirty="0" err="1">
                <a:solidFill>
                  <a:schemeClr val="bg1"/>
                </a:solidFill>
              </a:rPr>
              <a:t>of</a:t>
            </a:r>
            <a:r>
              <a:rPr lang="sv-SE" sz="1350" dirty="0">
                <a:solidFill>
                  <a:schemeClr val="bg1"/>
                </a:solidFill>
              </a:rPr>
              <a:t> </a:t>
            </a:r>
            <a:r>
              <a:rPr lang="sv-SE" sz="1350" dirty="0" err="1">
                <a:solidFill>
                  <a:schemeClr val="bg1"/>
                </a:solidFill>
              </a:rPr>
              <a:t>Technology</a:t>
            </a:r>
            <a:r>
              <a:rPr lang="sv-SE" sz="1350" dirty="0">
                <a:solidFill>
                  <a:schemeClr val="bg1"/>
                </a:solidFill>
              </a:rPr>
              <a:t>,</a:t>
            </a:r>
            <a:r>
              <a:rPr lang="en-SE" sz="1350">
                <a:solidFill>
                  <a:schemeClr val="bg1"/>
                </a:solidFill>
              </a:rPr>
              <a:t> 1990</a:t>
            </a:r>
          </a:p>
          <a:p>
            <a:pPr marL="214313" indent="-214313">
              <a:buFontTx/>
              <a:buChar char="-"/>
            </a:pPr>
            <a:r>
              <a:rPr lang="sv-SE" sz="1350" dirty="0" err="1">
                <a:solidFill>
                  <a:schemeClr val="bg1"/>
                </a:solidFill>
              </a:rPr>
              <a:t>Computers</a:t>
            </a:r>
            <a:r>
              <a:rPr lang="sv-SE" sz="1350" dirty="0">
                <a:solidFill>
                  <a:schemeClr val="bg1"/>
                </a:solidFill>
              </a:rPr>
              <a:t> in Industry</a:t>
            </a:r>
            <a:endParaRPr lang="en-SE" sz="1350">
              <a:solidFill>
                <a:schemeClr val="bg1"/>
              </a:solidFill>
            </a:endParaRPr>
          </a:p>
          <a:p>
            <a:pPr marL="214313" indent="-214313">
              <a:buFontTx/>
              <a:buChar char="-"/>
            </a:pPr>
            <a:r>
              <a:rPr lang="sv-SE" sz="1350" dirty="0" err="1">
                <a:solidFill>
                  <a:schemeClr val="bg1"/>
                </a:solidFill>
              </a:rPr>
              <a:t>Artificial</a:t>
            </a:r>
            <a:r>
              <a:rPr lang="sv-SE" sz="1350" dirty="0">
                <a:solidFill>
                  <a:schemeClr val="bg1"/>
                </a:solidFill>
              </a:rPr>
              <a:t> </a:t>
            </a:r>
            <a:r>
              <a:rPr lang="sv-SE" sz="1350" dirty="0" err="1">
                <a:solidFill>
                  <a:schemeClr val="bg1"/>
                </a:solidFill>
              </a:rPr>
              <a:t>Intelligence</a:t>
            </a:r>
            <a:r>
              <a:rPr lang="sv-SE" sz="1350" dirty="0">
                <a:solidFill>
                  <a:schemeClr val="bg1"/>
                </a:solidFill>
              </a:rPr>
              <a:t> (AI)</a:t>
            </a:r>
            <a:endParaRPr lang="en-SE" sz="1350">
              <a:solidFill>
                <a:schemeClr val="bg1"/>
              </a:solidFill>
            </a:endParaRPr>
          </a:p>
          <a:p>
            <a:pPr marL="214313" indent="-214313">
              <a:buFontTx/>
              <a:buChar char="-"/>
            </a:pPr>
            <a:r>
              <a:rPr lang="sv-SE" sz="1350" dirty="0" err="1">
                <a:solidFill>
                  <a:schemeClr val="bg1"/>
                </a:solidFill>
              </a:rPr>
              <a:t>Mechatronics</a:t>
            </a:r>
            <a:endParaRPr lang="en-SE" sz="135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44F3A-5584-6A4D-861D-A53776B6EB40}"/>
              </a:ext>
            </a:extLst>
          </p:cNvPr>
          <p:cNvSpPr txBox="1"/>
          <p:nvPr/>
        </p:nvSpPr>
        <p:spPr>
          <a:xfrm>
            <a:off x="6123385" y="2987377"/>
            <a:ext cx="2599028" cy="113107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sv-SE" sz="1350" dirty="0">
                <a:solidFill>
                  <a:schemeClr val="bg1"/>
                </a:solidFill>
              </a:rPr>
              <a:t>PhD</a:t>
            </a:r>
            <a:r>
              <a:rPr lang="en-SE" sz="1350">
                <a:solidFill>
                  <a:schemeClr val="bg1"/>
                </a:solidFill>
              </a:rPr>
              <a:t>, </a:t>
            </a:r>
            <a:r>
              <a:rPr lang="sv-SE" sz="1350" dirty="0">
                <a:solidFill>
                  <a:schemeClr val="bg1"/>
                </a:solidFill>
              </a:rPr>
              <a:t>Saint-Etienne, </a:t>
            </a:r>
            <a:r>
              <a:rPr lang="sv-SE" sz="1350" dirty="0" err="1">
                <a:solidFill>
                  <a:schemeClr val="bg1"/>
                </a:solidFill>
              </a:rPr>
              <a:t>France</a:t>
            </a:r>
            <a:r>
              <a:rPr lang="en-SE" sz="1350">
                <a:solidFill>
                  <a:schemeClr val="bg1"/>
                </a:solidFill>
              </a:rPr>
              <a:t> 1996</a:t>
            </a:r>
          </a:p>
          <a:p>
            <a:pPr marL="214313" indent="-214313">
              <a:buFontTx/>
              <a:buChar char="-"/>
            </a:pPr>
            <a:r>
              <a:rPr lang="sv-SE" sz="1350" dirty="0">
                <a:solidFill>
                  <a:schemeClr val="bg1"/>
                </a:solidFill>
              </a:rPr>
              <a:t>Decision Support Systems</a:t>
            </a:r>
            <a:endParaRPr lang="en-SE" sz="1350">
              <a:solidFill>
                <a:schemeClr val="bg1"/>
              </a:solidFill>
            </a:endParaRPr>
          </a:p>
          <a:p>
            <a:pPr marL="214313" indent="-214313">
              <a:buFontTx/>
              <a:buChar char="-"/>
            </a:pPr>
            <a:r>
              <a:rPr lang="sv-SE" sz="1350" dirty="0">
                <a:solidFill>
                  <a:schemeClr val="bg1"/>
                </a:solidFill>
              </a:rPr>
              <a:t>Neural </a:t>
            </a:r>
            <a:r>
              <a:rPr lang="sv-SE" sz="1350" dirty="0" err="1">
                <a:solidFill>
                  <a:schemeClr val="bg1"/>
                </a:solidFill>
              </a:rPr>
              <a:t>Networks</a:t>
            </a:r>
            <a:endParaRPr lang="en-SE" sz="1350">
              <a:solidFill>
                <a:schemeClr val="bg1"/>
              </a:solidFill>
            </a:endParaRPr>
          </a:p>
          <a:p>
            <a:pPr marL="214313" indent="-214313">
              <a:buFontTx/>
              <a:buChar char="-"/>
            </a:pPr>
            <a:r>
              <a:rPr lang="sv-SE" sz="1350" dirty="0" err="1">
                <a:solidFill>
                  <a:schemeClr val="bg1"/>
                </a:solidFill>
              </a:rPr>
              <a:t>Explainable</a:t>
            </a:r>
            <a:r>
              <a:rPr lang="sv-SE" sz="1350" dirty="0">
                <a:solidFill>
                  <a:schemeClr val="bg1"/>
                </a:solidFill>
              </a:rPr>
              <a:t> AI</a:t>
            </a:r>
            <a:endParaRPr lang="en-SE" sz="135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8D0302-8EDF-F648-9B29-B40D1F53F0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92"/>
          <a:stretch/>
        </p:blipFill>
        <p:spPr>
          <a:xfrm>
            <a:off x="3559590" y="1563776"/>
            <a:ext cx="2024820" cy="2339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4B3965-83C4-B94B-B15E-9EF1753ECC8A}"/>
              </a:ext>
            </a:extLst>
          </p:cNvPr>
          <p:cNvSpPr txBox="1"/>
          <p:nvPr/>
        </p:nvSpPr>
        <p:spPr>
          <a:xfrm>
            <a:off x="3454996" y="4320173"/>
            <a:ext cx="2756263" cy="71487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sv-SE" sz="1350" dirty="0">
                <a:solidFill>
                  <a:schemeClr val="bg1"/>
                </a:solidFill>
              </a:rPr>
              <a:t>Professor </a:t>
            </a:r>
            <a:r>
              <a:rPr lang="sv-SE" sz="1350" dirty="0" err="1">
                <a:solidFill>
                  <a:schemeClr val="bg1"/>
                </a:solidFill>
              </a:rPr>
              <a:t>of</a:t>
            </a:r>
            <a:r>
              <a:rPr lang="sv-SE" sz="1350" dirty="0">
                <a:solidFill>
                  <a:schemeClr val="bg1"/>
                </a:solidFill>
              </a:rPr>
              <a:t> </a:t>
            </a:r>
            <a:r>
              <a:rPr lang="sv-SE" sz="1350" dirty="0" err="1">
                <a:solidFill>
                  <a:schemeClr val="bg1"/>
                </a:solidFill>
              </a:rPr>
              <a:t>Practice</a:t>
            </a:r>
            <a:r>
              <a:rPr lang="sv-SE" sz="1350" dirty="0">
                <a:solidFill>
                  <a:schemeClr val="bg1"/>
                </a:solidFill>
              </a:rPr>
              <a:t> in </a:t>
            </a:r>
            <a:r>
              <a:rPr lang="sv-SE" sz="1350" dirty="0" err="1">
                <a:solidFill>
                  <a:schemeClr val="bg1"/>
                </a:solidFill>
              </a:rPr>
              <a:t>Building</a:t>
            </a:r>
            <a:r>
              <a:rPr lang="sv-SE" sz="1350" dirty="0">
                <a:solidFill>
                  <a:schemeClr val="bg1"/>
                </a:solidFill>
              </a:rPr>
              <a:t> Information </a:t>
            </a:r>
            <a:r>
              <a:rPr lang="sv-SE" sz="1350" dirty="0" err="1">
                <a:solidFill>
                  <a:schemeClr val="bg1"/>
                </a:solidFill>
              </a:rPr>
              <a:t>Modeling</a:t>
            </a:r>
            <a:r>
              <a:rPr lang="en-SE" sz="1350">
                <a:solidFill>
                  <a:schemeClr val="bg1"/>
                </a:solidFill>
              </a:rPr>
              <a:t>, Aalto </a:t>
            </a:r>
            <a:r>
              <a:rPr lang="sv-SE" sz="1350" dirty="0">
                <a:solidFill>
                  <a:schemeClr val="bg1"/>
                </a:solidFill>
              </a:rPr>
              <a:t>University, Finland </a:t>
            </a:r>
            <a:r>
              <a:rPr lang="en-SE" sz="1350">
                <a:solidFill>
                  <a:schemeClr val="bg1"/>
                </a:solidFill>
              </a:rPr>
              <a:t>2013-2018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7A977-0349-D64D-A832-DE55279D6106}"/>
              </a:ext>
            </a:extLst>
          </p:cNvPr>
          <p:cNvSpPr txBox="1"/>
          <p:nvPr/>
        </p:nvSpPr>
        <p:spPr>
          <a:xfrm>
            <a:off x="1297397" y="3377238"/>
            <a:ext cx="1792478" cy="92333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sv-SE" sz="1350" dirty="0" err="1">
                <a:solidFill>
                  <a:schemeClr val="bg1"/>
                </a:solidFill>
              </a:rPr>
              <a:t>Adjunct</a:t>
            </a:r>
            <a:r>
              <a:rPr lang="sv-SE" sz="1350" dirty="0">
                <a:solidFill>
                  <a:schemeClr val="bg1"/>
                </a:solidFill>
              </a:rPr>
              <a:t> Professor in </a:t>
            </a:r>
            <a:br>
              <a:rPr lang="sv-SE" sz="1350" dirty="0">
                <a:solidFill>
                  <a:schemeClr val="bg1"/>
                </a:solidFill>
              </a:rPr>
            </a:br>
            <a:r>
              <a:rPr lang="sv-SE" sz="1350" dirty="0">
                <a:solidFill>
                  <a:schemeClr val="bg1"/>
                </a:solidFill>
              </a:rPr>
              <a:t>Computer</a:t>
            </a:r>
            <a:r>
              <a:rPr lang="en-SE" sz="1350">
                <a:solidFill>
                  <a:schemeClr val="bg1"/>
                </a:solidFill>
              </a:rPr>
              <a:t> Science, </a:t>
            </a:r>
            <a:br>
              <a:rPr lang="en-SE" sz="1350">
                <a:solidFill>
                  <a:schemeClr val="bg1"/>
                </a:solidFill>
              </a:rPr>
            </a:br>
            <a:r>
              <a:rPr lang="sv-SE" sz="1350" dirty="0">
                <a:solidFill>
                  <a:schemeClr val="bg1"/>
                </a:solidFill>
              </a:rPr>
              <a:t>Aalto </a:t>
            </a:r>
            <a:r>
              <a:rPr lang="sv-SE" sz="1350" dirty="0" err="1">
                <a:solidFill>
                  <a:schemeClr val="bg1"/>
                </a:solidFill>
              </a:rPr>
              <a:t>university</a:t>
            </a:r>
            <a:br>
              <a:rPr lang="en-SE" sz="1350">
                <a:solidFill>
                  <a:schemeClr val="bg1"/>
                </a:solidFill>
              </a:rPr>
            </a:br>
            <a:r>
              <a:rPr lang="en-SE" sz="1350">
                <a:solidFill>
                  <a:schemeClr val="bg1"/>
                </a:solidFill>
              </a:rPr>
              <a:t>201</a:t>
            </a:r>
            <a:r>
              <a:rPr lang="sv-SE" sz="1350" dirty="0">
                <a:solidFill>
                  <a:schemeClr val="bg1"/>
                </a:solidFill>
              </a:rPr>
              <a:t>8</a:t>
            </a:r>
            <a:r>
              <a:rPr lang="en-SE" sz="135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391F5-D76F-2B4E-A523-36BCD575327B}"/>
              </a:ext>
            </a:extLst>
          </p:cNvPr>
          <p:cNvSpPr txBox="1"/>
          <p:nvPr/>
        </p:nvSpPr>
        <p:spPr>
          <a:xfrm>
            <a:off x="586862" y="2530275"/>
            <a:ext cx="1609736" cy="507831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sv-SE" sz="1350" dirty="0">
                <a:solidFill>
                  <a:schemeClr val="bg1"/>
                </a:solidFill>
              </a:rPr>
              <a:t>Research Director</a:t>
            </a:r>
            <a:r>
              <a:rPr lang="en-SE" sz="1350">
                <a:solidFill>
                  <a:schemeClr val="bg1"/>
                </a:solidFill>
              </a:rPr>
              <a:t>,</a:t>
            </a:r>
            <a:br>
              <a:rPr lang="sv-SE" sz="1350" dirty="0">
                <a:solidFill>
                  <a:schemeClr val="bg1"/>
                </a:solidFill>
              </a:rPr>
            </a:br>
            <a:r>
              <a:rPr lang="sv-SE" sz="1350" dirty="0" err="1">
                <a:solidFill>
                  <a:schemeClr val="bg1"/>
                </a:solidFill>
              </a:rPr>
              <a:t>Louhe</a:t>
            </a:r>
            <a:r>
              <a:rPr lang="sv-SE" sz="1350" dirty="0">
                <a:solidFill>
                  <a:schemeClr val="bg1"/>
                </a:solidFill>
              </a:rPr>
              <a:t> Oy</a:t>
            </a:r>
            <a:r>
              <a:rPr lang="en-SE" sz="1350">
                <a:solidFill>
                  <a:schemeClr val="bg1"/>
                </a:solidFill>
              </a:rPr>
              <a:t> 20</a:t>
            </a:r>
            <a:r>
              <a:rPr lang="sv-SE" sz="1350" dirty="0">
                <a:solidFill>
                  <a:schemeClr val="bg1"/>
                </a:solidFill>
              </a:rPr>
              <a:t>20</a:t>
            </a:r>
            <a:r>
              <a:rPr lang="en-SE" sz="135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16" name="Up Ribbon 15">
            <a:extLst>
              <a:ext uri="{FF2B5EF4-FFF2-40B4-BE49-F238E27FC236}">
                <a16:creationId xmlns:a16="http://schemas.microsoft.com/office/drawing/2014/main" id="{0C39A3E6-DAC5-7F44-B01C-BAFEA2EDA0EC}"/>
              </a:ext>
            </a:extLst>
          </p:cNvPr>
          <p:cNvSpPr/>
          <p:nvPr/>
        </p:nvSpPr>
        <p:spPr>
          <a:xfrm>
            <a:off x="265725" y="1022693"/>
            <a:ext cx="3265780" cy="810351"/>
          </a:xfrm>
          <a:prstGeom prst="ribbon2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400">
                <a:solidFill>
                  <a:schemeClr val="tx1"/>
                </a:solidFill>
              </a:rPr>
              <a:t>Professor, </a:t>
            </a:r>
            <a:br>
              <a:rPr lang="en-SE" sz="1400">
                <a:solidFill>
                  <a:schemeClr val="tx1"/>
                </a:solidFill>
              </a:rPr>
            </a:br>
            <a:r>
              <a:rPr lang="en-SE" sz="1400">
                <a:solidFill>
                  <a:schemeClr val="tx1"/>
                </a:solidFill>
              </a:rPr>
              <a:t>Umeå Universitet, 2017-</a:t>
            </a:r>
          </a:p>
        </p:txBody>
      </p:sp>
    </p:spTree>
    <p:extLst>
      <p:ext uri="{BB962C8B-B14F-4D97-AF65-F5344CB8AC3E}">
        <p14:creationId xmlns:p14="http://schemas.microsoft.com/office/powerpoint/2010/main" val="85964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D30520-6267-4AB9-2A65-8EFED868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923" y="1217817"/>
            <a:ext cx="6174152" cy="2932725"/>
          </a:xfrm>
        </p:spPr>
        <p:txBody>
          <a:bodyPr>
            <a:noAutofit/>
          </a:bodyPr>
          <a:lstStyle/>
          <a:p>
            <a:r>
              <a:rPr lang="en-US" sz="1400" b="1" dirty="0"/>
              <a:t>”AI will take all jobs”</a:t>
            </a:r>
            <a:r>
              <a:rPr lang="en-US" sz="1400" dirty="0"/>
              <a:t> already in the 1980’s</a:t>
            </a:r>
          </a:p>
          <a:p>
            <a:r>
              <a:rPr lang="en-US" sz="1400" b="1" dirty="0"/>
              <a:t>Big things </a:t>
            </a:r>
            <a:r>
              <a:rPr lang="en-US" sz="1400" dirty="0"/>
              <a:t>in the 1980’s: </a:t>
            </a:r>
          </a:p>
          <a:p>
            <a:pPr lvl="1"/>
            <a:r>
              <a:rPr lang="en-US" sz="1400" b="1" dirty="0"/>
              <a:t>Rule-based</a:t>
            </a:r>
            <a:r>
              <a:rPr lang="en-US" sz="1400" dirty="0"/>
              <a:t> systems (also called ”expert systems”)</a:t>
            </a:r>
          </a:p>
          <a:p>
            <a:pPr lvl="1"/>
            <a:r>
              <a:rPr lang="en-US" sz="1400" b="1" dirty="0"/>
              <a:t>Semantic nets</a:t>
            </a:r>
          </a:p>
          <a:p>
            <a:pPr lvl="1"/>
            <a:r>
              <a:rPr lang="en-US" sz="1400" b="1" dirty="0"/>
              <a:t>Certainty factors</a:t>
            </a:r>
            <a:r>
              <a:rPr lang="en-US" sz="1400" dirty="0"/>
              <a:t>, </a:t>
            </a:r>
            <a:r>
              <a:rPr lang="en-US" sz="1400" b="1" dirty="0"/>
              <a:t>probabilities</a:t>
            </a:r>
            <a:r>
              <a:rPr lang="en-US" sz="1400" dirty="0"/>
              <a:t> for managing uncertainty</a:t>
            </a:r>
            <a:endParaRPr lang="en-US" sz="1400" b="1" dirty="0"/>
          </a:p>
          <a:p>
            <a:pPr lvl="1"/>
            <a:r>
              <a:rPr lang="en-US" sz="1400" b="1" dirty="0"/>
              <a:t>Machine learning</a:t>
            </a:r>
            <a:r>
              <a:rPr lang="en-US" sz="1400" dirty="0"/>
              <a:t>: </a:t>
            </a:r>
          </a:p>
          <a:p>
            <a:pPr lvl="2"/>
            <a:r>
              <a:rPr lang="en-US" sz="1400" dirty="0"/>
              <a:t>Induction, deduction, abduction learning</a:t>
            </a:r>
          </a:p>
          <a:p>
            <a:pPr lvl="2"/>
            <a:r>
              <a:rPr lang="en-US" sz="1400" dirty="0"/>
              <a:t>Case-based reasoning</a:t>
            </a:r>
          </a:p>
          <a:p>
            <a:pPr lvl="2"/>
            <a:r>
              <a:rPr lang="en-US" sz="1400" dirty="0"/>
              <a:t>Decision trees</a:t>
            </a:r>
          </a:p>
          <a:p>
            <a:pPr lvl="2"/>
            <a:r>
              <a:rPr lang="en-US" sz="1400" dirty="0"/>
              <a:t>Bayesian reasoning</a:t>
            </a:r>
          </a:p>
          <a:p>
            <a:r>
              <a:rPr lang="en-US" sz="1400" b="1" dirty="0"/>
              <a:t>Neural Nets </a:t>
            </a:r>
            <a:r>
              <a:rPr lang="en-US" sz="1400" dirty="0"/>
              <a:t>had been “killed” in 1969</a:t>
            </a:r>
          </a:p>
          <a:p>
            <a:r>
              <a:rPr lang="en-US" sz="1400" dirty="0"/>
              <a:t>The era of </a:t>
            </a:r>
            <a:r>
              <a:rPr lang="en-US" sz="1400" b="1" dirty="0"/>
              <a:t>GOFAI</a:t>
            </a:r>
            <a:r>
              <a:rPr lang="en-US" sz="1400" dirty="0"/>
              <a:t> (Good Old-Fashioned AI)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2C763-C363-ED47-6FC9-62C90BD3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AC03B-4B31-E636-C59B-679424CD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3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A0AF3A-3CDC-75B9-4E25-5F496D59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317" y="313218"/>
            <a:ext cx="6647364" cy="810351"/>
          </a:xfrm>
        </p:spPr>
        <p:txBody>
          <a:bodyPr/>
          <a:lstStyle/>
          <a:p>
            <a:r>
              <a:rPr lang="en-US" dirty="0"/>
              <a:t>The World in the 1980’s</a:t>
            </a:r>
          </a:p>
        </p:txBody>
      </p:sp>
    </p:spTree>
    <p:extLst>
      <p:ext uri="{BB962C8B-B14F-4D97-AF65-F5344CB8AC3E}">
        <p14:creationId xmlns:p14="http://schemas.microsoft.com/office/powerpoint/2010/main" val="288154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F25998-D8E2-DF41-0A31-9F5523678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98" y="1131661"/>
            <a:ext cx="7800721" cy="2517847"/>
          </a:xfrm>
        </p:spPr>
        <p:txBody>
          <a:bodyPr>
            <a:normAutofit/>
          </a:bodyPr>
          <a:lstStyle/>
          <a:p>
            <a:pPr>
              <a:tabLst>
                <a:tab pos="4108450" algn="l"/>
              </a:tabLst>
            </a:pPr>
            <a:r>
              <a:rPr lang="en-US" sz="1200" dirty="0"/>
              <a:t>M.Sc. thesis in 1990: “</a:t>
            </a:r>
            <a:r>
              <a:rPr lang="en-US" sz="1200" b="1" dirty="0"/>
              <a:t>Digital Twin</a:t>
            </a:r>
            <a:r>
              <a:rPr lang="en-US" sz="1200" dirty="0"/>
              <a:t>” of phenol plant</a:t>
            </a:r>
          </a:p>
          <a:p>
            <a:pPr lvl="1">
              <a:tabLst>
                <a:tab pos="4108450" algn="l"/>
              </a:tabLst>
            </a:pPr>
            <a:r>
              <a:rPr lang="en-US" sz="1100" dirty="0"/>
              <a:t>Used </a:t>
            </a:r>
            <a:r>
              <a:rPr lang="en-US" sz="1100" b="1" dirty="0"/>
              <a:t>Smalltalk</a:t>
            </a:r>
            <a:r>
              <a:rPr lang="en-US" sz="1100" dirty="0"/>
              <a:t>, </a:t>
            </a:r>
            <a:r>
              <a:rPr lang="en-US" sz="1100" b="1" dirty="0"/>
              <a:t>Prolog</a:t>
            </a:r>
            <a:r>
              <a:rPr lang="en-US" sz="1100" dirty="0"/>
              <a:t> programming languages</a:t>
            </a:r>
          </a:p>
          <a:p>
            <a:pPr lvl="1">
              <a:tabLst>
                <a:tab pos="4108450" algn="l"/>
              </a:tabLst>
            </a:pPr>
            <a:r>
              <a:rPr lang="en-US" sz="1100" dirty="0"/>
              <a:t>Production scheduling using </a:t>
            </a:r>
            <a:r>
              <a:rPr lang="en-US" sz="1100" b="1" dirty="0"/>
              <a:t>plant model</a:t>
            </a:r>
            <a:r>
              <a:rPr lang="en-US" sz="1100" dirty="0"/>
              <a:t>, </a:t>
            </a:r>
            <a:r>
              <a:rPr lang="en-US" sz="1100" b="1" dirty="0"/>
              <a:t>rule-based AI </a:t>
            </a:r>
            <a:r>
              <a:rPr lang="en-US" sz="1100" dirty="0"/>
              <a:t>and </a:t>
            </a:r>
            <a:r>
              <a:rPr lang="en-US" sz="1100" b="1" dirty="0"/>
              <a:t>“real-life” information</a:t>
            </a:r>
          </a:p>
          <a:p>
            <a:pPr>
              <a:tabLst>
                <a:tab pos="4108450" algn="l"/>
              </a:tabLst>
            </a:pPr>
            <a:r>
              <a:rPr lang="en-US" sz="1200" dirty="0"/>
              <a:t>Kary still says “</a:t>
            </a:r>
            <a:r>
              <a:rPr lang="en-US" sz="1200" i="1" dirty="0"/>
              <a:t>the evolution of programming languages could have finished with Smalltalk</a:t>
            </a:r>
            <a:r>
              <a:rPr lang="en-US" sz="1200" dirty="0"/>
              <a:t>” (because Java, Python etc. mainly imitate it)</a:t>
            </a:r>
          </a:p>
          <a:p>
            <a:r>
              <a:rPr lang="en-US" sz="1200" dirty="0"/>
              <a:t>Weighted </a:t>
            </a:r>
            <a:r>
              <a:rPr lang="en-US" sz="1200" b="1" dirty="0"/>
              <a:t>Semantic Nets </a:t>
            </a:r>
            <a:r>
              <a:rPr lang="en-US" sz="1200" dirty="0"/>
              <a:t>for heuristic search, fault diagnosis etc. </a:t>
            </a:r>
          </a:p>
          <a:p>
            <a:pPr lvl="1"/>
            <a:r>
              <a:rPr lang="en-US" sz="1100" dirty="0"/>
              <a:t>Semantic nets are now gaining in popularity again, under the name </a:t>
            </a:r>
            <a:br>
              <a:rPr lang="en-US" sz="1100" dirty="0"/>
            </a:br>
            <a:r>
              <a:rPr lang="en-US" sz="1100" b="1" dirty="0"/>
              <a:t>Knowledge Graphs</a:t>
            </a:r>
          </a:p>
          <a:p>
            <a:pPr lvl="1"/>
            <a:r>
              <a:rPr lang="en-US" sz="1100" dirty="0"/>
              <a:t>An </a:t>
            </a:r>
            <a:r>
              <a:rPr lang="en-US" sz="1100" b="1" dirty="0"/>
              <a:t>almost identical example used in a recent (2024)</a:t>
            </a:r>
            <a:r>
              <a:rPr lang="en-US" sz="1100" dirty="0"/>
              <a:t> paper as </a:t>
            </a:r>
            <a:br>
              <a:rPr lang="en-US" sz="1100" dirty="0"/>
            </a:br>
            <a:r>
              <a:rPr lang="en-US" sz="1100" dirty="0"/>
              <a:t>in Kary’s M.Sc. Thesis, below (which was inspired from elsewhere)</a:t>
            </a:r>
          </a:p>
          <a:p>
            <a:pPr lvl="1"/>
            <a:r>
              <a:rPr lang="en-US" sz="1100" b="1" dirty="0"/>
              <a:t>Certainty factors </a:t>
            </a:r>
            <a:r>
              <a:rPr lang="en-US" sz="1100" dirty="0"/>
              <a:t>could be propagated and indicated for the result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0DE83-0633-EE6F-8A28-48E275E4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3374C-3B7E-5533-6EAF-5EA79FC4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4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17C4FC-E751-A07C-B046-8C757AA9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15" y="240390"/>
            <a:ext cx="7705968" cy="81035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did Kary do in (end of) 1980’s?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F34DD2-5061-4F29-D450-43B3FF70A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920" y="2108927"/>
            <a:ext cx="3301302" cy="2511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04C7E7-E398-A25A-1AF3-3DDFB1EF1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41" y="3506584"/>
            <a:ext cx="2659554" cy="136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3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6A608B-C295-FDFF-7399-030BC60A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62" y="1461477"/>
            <a:ext cx="7455874" cy="2908222"/>
          </a:xfrm>
        </p:spPr>
        <p:txBody>
          <a:bodyPr>
            <a:normAutofit lnSpcReduction="10000"/>
          </a:bodyPr>
          <a:lstStyle/>
          <a:p>
            <a:r>
              <a:rPr lang="en-US" sz="1200" dirty="0"/>
              <a:t>Kary implemented a (very small) part of the </a:t>
            </a:r>
            <a:r>
              <a:rPr lang="en-US" sz="1200" b="1" dirty="0"/>
              <a:t>GSM system </a:t>
            </a:r>
            <a:r>
              <a:rPr lang="en-US" sz="1200" dirty="0"/>
              <a:t>for Nokia Cellular Systems 1990-1991</a:t>
            </a:r>
          </a:p>
          <a:p>
            <a:r>
              <a:rPr lang="en-US" sz="1200" dirty="0"/>
              <a:t>Core tool </a:t>
            </a:r>
            <a:r>
              <a:rPr lang="en-US" sz="1200" b="1" dirty="0"/>
              <a:t>TN-SDL</a:t>
            </a:r>
            <a:r>
              <a:rPr lang="en-US" sz="1200" dirty="0"/>
              <a:t> (</a:t>
            </a:r>
            <a:r>
              <a:rPr lang="en-US" sz="1200" dirty="0" err="1"/>
              <a:t>TeleNokia</a:t>
            </a:r>
            <a:r>
              <a:rPr lang="en-US" sz="1200" dirty="0"/>
              <a:t> Specification and Description Language (SDL)): </a:t>
            </a:r>
          </a:p>
          <a:p>
            <a:pPr lvl="1"/>
            <a:r>
              <a:rPr lang="en-US" sz="1100" dirty="0"/>
              <a:t>Formal, graphical language for defining event-driven systems, such as communication protocols</a:t>
            </a:r>
          </a:p>
          <a:p>
            <a:pPr lvl="1"/>
            <a:r>
              <a:rPr lang="en-US" sz="1100" dirty="0"/>
              <a:t>Used especially in the telecommunications industry for designing complex, reactive and concurrent distributed systems like switching systems and mobile networks</a:t>
            </a:r>
          </a:p>
          <a:p>
            <a:pPr lvl="1"/>
            <a:r>
              <a:rPr lang="en-US" sz="1100" dirty="0"/>
              <a:t>Graphical Representation: Uses a block-diagram approach to represent processes, signals, and communication paths</a:t>
            </a:r>
          </a:p>
          <a:p>
            <a:pPr lvl="1"/>
            <a:r>
              <a:rPr lang="en-US" sz="1100" dirty="0"/>
              <a:t>Often used in combination with UML (Unified Modeling Language) and other tools for the formal verification and validation of system designs</a:t>
            </a:r>
          </a:p>
          <a:p>
            <a:r>
              <a:rPr lang="en-US" sz="1200" dirty="0"/>
              <a:t>GSM specification was modeled in TN-SDL tool, which generated most of the needed code in C, as well as test scripts and documentation</a:t>
            </a:r>
          </a:p>
          <a:p>
            <a:pPr lvl="1"/>
            <a:r>
              <a:rPr lang="en-US" sz="1100" dirty="0"/>
              <a:t>Verification and validation tests were first run locally and/or sent to a dedicated server</a:t>
            </a:r>
          </a:p>
          <a:p>
            <a:pPr lvl="1"/>
            <a:r>
              <a:rPr lang="en-US" sz="1100" dirty="0"/>
              <a:t>When everything had passed, a final test was run on a mobile mini-switch with the actual hardware</a:t>
            </a:r>
          </a:p>
          <a:p>
            <a:r>
              <a:rPr lang="en-US" sz="1200" dirty="0"/>
              <a:t>Generating code, test scripts and documentation is efficient and correct when it’s based on </a:t>
            </a:r>
            <a:r>
              <a:rPr lang="en-US" sz="1200" b="1" dirty="0"/>
              <a:t>formal specifications</a:t>
            </a:r>
            <a:r>
              <a:rPr lang="en-US" sz="1200" dirty="0"/>
              <a:t>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7399F-5FF2-9186-0B38-CC65C221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C067B-72F5-A918-E691-D9C98F78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5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E8F3C2-55FD-E689-5EB4-6714604E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62" y="594572"/>
            <a:ext cx="7252674" cy="810351"/>
          </a:xfrm>
        </p:spPr>
        <p:txBody>
          <a:bodyPr>
            <a:normAutofit fontScale="90000"/>
          </a:bodyPr>
          <a:lstStyle/>
          <a:p>
            <a:r>
              <a:rPr lang="en-US" dirty="0"/>
              <a:t>Nokia Cellular Systems and TN-SDL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8F9E0E-148D-7D30-4C36-0215D8705AF2}"/>
              </a:ext>
            </a:extLst>
          </p:cNvPr>
          <p:cNvSpPr/>
          <p:nvPr/>
        </p:nvSpPr>
        <p:spPr>
          <a:xfrm>
            <a:off x="7791566" y="16934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474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94FF9E-99D6-EDC6-BC30-32B9228CF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GOFAI winter starts</a:t>
            </a:r>
            <a:r>
              <a:rPr lang="en-US" dirty="0"/>
              <a:t>, including “symbolic machine learning” methods to a large extent</a:t>
            </a:r>
          </a:p>
          <a:p>
            <a:r>
              <a:rPr lang="en-US" b="1" dirty="0"/>
              <a:t>Neural Networks </a:t>
            </a:r>
            <a:r>
              <a:rPr lang="en-US" dirty="0"/>
              <a:t>is the big thing, and there are many types:</a:t>
            </a:r>
          </a:p>
          <a:p>
            <a:pPr lvl="1"/>
            <a:r>
              <a:rPr lang="en-US" dirty="0"/>
              <a:t>Hopfield, Boltzmann, Radial Basis Function (RFB), self-organizing map, Neural Gas, ART (Adaptive Resonance Theory network), …</a:t>
            </a:r>
          </a:p>
          <a:p>
            <a:pPr lvl="1"/>
            <a:r>
              <a:rPr lang="en-US" dirty="0"/>
              <a:t>Obviously: Multi-layer, gradient descent network</a:t>
            </a:r>
          </a:p>
          <a:p>
            <a:pPr lvl="2"/>
            <a:r>
              <a:rPr lang="en-US" dirty="0"/>
              <a:t>Strange “accepted truth”: </a:t>
            </a:r>
            <a:r>
              <a:rPr lang="en-US" i="1" dirty="0"/>
              <a:t>you never need or want more than one hidden layer</a:t>
            </a:r>
          </a:p>
          <a:p>
            <a:pPr lvl="2"/>
            <a:r>
              <a:rPr lang="en-US" dirty="0"/>
              <a:t>Convolutional Neural Networks (CNN), Long Short-Term Memory (LSTM) etc. published in ~1997 but didn’t prevent AI winter from kicking in a few years later</a:t>
            </a:r>
          </a:p>
          <a:p>
            <a:r>
              <a:rPr lang="en-US" b="1" dirty="0"/>
              <a:t>Also</a:t>
            </a:r>
            <a:r>
              <a:rPr lang="en-US" dirty="0"/>
              <a:t>: Fuzzy sets and logic, Genetic algorithms, Reinforcement learning (RL)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179EF-F972-DC31-5028-B88D62D34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80D69-0231-F305-AD3D-C022F5C7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6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8889A66-3141-98AC-EA0F-43E56C99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in the 1990’s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63AB31-D1C4-285C-5F70-604F45A3BD02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8023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63981-C3B5-5DBA-E368-F8F7DD522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15" y="1684868"/>
            <a:ext cx="3720477" cy="2506134"/>
          </a:xfrm>
        </p:spPr>
        <p:txBody>
          <a:bodyPr>
            <a:normAutofit/>
          </a:bodyPr>
          <a:lstStyle/>
          <a:p>
            <a:r>
              <a:rPr lang="en-US" dirty="0"/>
              <a:t>PhD Thesis:</a:t>
            </a:r>
          </a:p>
          <a:p>
            <a:pPr lvl="1"/>
            <a:r>
              <a:rPr lang="en-US" b="1" dirty="0"/>
              <a:t>Decision support systems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E5DD8-B327-CFC9-2639-7967B34D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D9659-5BC9-17FC-F83B-243346DC7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7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9DAAF2-D537-D3B1-F8BC-0A311241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Kary do in 1990’s?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24D882-3C56-D356-2A03-C22A525C6855}"/>
              </a:ext>
            </a:extLst>
          </p:cNvPr>
          <p:cNvGrpSpPr/>
          <p:nvPr/>
        </p:nvGrpSpPr>
        <p:grpSpPr>
          <a:xfrm>
            <a:off x="5996918" y="1456838"/>
            <a:ext cx="2232678" cy="3123266"/>
            <a:chOff x="6132992" y="1418460"/>
            <a:chExt cx="2679825" cy="374877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6AAE52-28B1-69E9-AB71-2B84D486D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32992" y="2598711"/>
              <a:ext cx="2679825" cy="256852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C375DF5-B51D-569B-38A0-6E83F7CF0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2647" y="1418460"/>
              <a:ext cx="2201585" cy="1000720"/>
            </a:xfrm>
            <a:prstGeom prst="rect">
              <a:avLst/>
            </a:prstGeom>
          </p:spPr>
        </p:pic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9E32B281-AE22-3351-6FC2-2023102E36C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16200000" flipH="1">
              <a:off x="6779994" y="2922625"/>
              <a:ext cx="1741098" cy="734207"/>
            </a:xfrm>
            <a:prstGeom prst="curvedConnector3">
              <a:avLst>
                <a:gd name="adj1" fmla="val 50000"/>
              </a:avLst>
            </a:prstGeom>
            <a:ln w="190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F945F1-E8DF-628E-80A3-814119BE75C6}"/>
                </a:ext>
              </a:extLst>
            </p:cNvPr>
            <p:cNvSpPr txBox="1"/>
            <p:nvPr/>
          </p:nvSpPr>
          <p:spPr>
            <a:xfrm>
              <a:off x="6616574" y="2493317"/>
              <a:ext cx="18277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sz="2400">
                  <a:solidFill>
                    <a:srgbClr val="C00000"/>
                  </a:solidFill>
                  <a:latin typeface="+mj-lt"/>
                </a:rPr>
                <a:t>WHERE???</a:t>
              </a:r>
            </a:p>
          </p:txBody>
        </p:sp>
      </p:grp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9B5A1FA1-AF17-DCD4-0950-6E622357FE74}"/>
              </a:ext>
            </a:extLst>
          </p:cNvPr>
          <p:cNvSpPr/>
          <p:nvPr/>
        </p:nvSpPr>
        <p:spPr>
          <a:xfrm>
            <a:off x="250853" y="2352348"/>
            <a:ext cx="4741933" cy="1838654"/>
          </a:xfrm>
          <a:prstGeom prst="wedgeRoundRectCallout">
            <a:avLst>
              <a:gd name="adj1" fmla="val 72943"/>
              <a:gd name="adj2" fmla="val -3515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site for disposal of ultimate industrial waste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Criteria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Conflicting goals -&gt; Pareto optimality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Necessary to justify decisions (explainability)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6BDBE-B9C0-19B0-12D0-DF370E3315F9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988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886AD-2A9D-C5E7-DA5F-78D63745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FC72B8-4113-ECD7-9B9A-68D1C3B5B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15" y="1684868"/>
            <a:ext cx="4135982" cy="2506134"/>
          </a:xfrm>
        </p:spPr>
        <p:txBody>
          <a:bodyPr>
            <a:normAutofit/>
          </a:bodyPr>
          <a:lstStyle/>
          <a:p>
            <a:r>
              <a:rPr lang="en-US" dirty="0"/>
              <a:t>PhD Thesis:</a:t>
            </a:r>
          </a:p>
          <a:p>
            <a:pPr lvl="1"/>
            <a:r>
              <a:rPr lang="en-US" dirty="0"/>
              <a:t>Decision support systems</a:t>
            </a:r>
          </a:p>
          <a:p>
            <a:pPr lvl="1"/>
            <a:r>
              <a:rPr lang="en-US" b="1" dirty="0"/>
              <a:t>Neural networks (implemented own ones, in C++ and </a:t>
            </a:r>
            <a:r>
              <a:rPr lang="en-US" b="1" dirty="0" err="1"/>
              <a:t>Matlab</a:t>
            </a:r>
            <a:r>
              <a:rPr lang="en-US" b="1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2CC48-ADB4-BBF1-93E6-5926599C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9DE33-5895-A849-B0C1-D2B85C81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8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BED383-9AA5-4E1C-8BCD-8D05492C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Kary do in 1990’s?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266892-1227-22A4-E692-8165664ED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84" y="1252753"/>
            <a:ext cx="2618548" cy="15250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581C10-7310-A19B-1306-FE0F7BAF2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268" y="2937935"/>
            <a:ext cx="1943008" cy="1459544"/>
          </a:xfrm>
          <a:prstGeom prst="rect">
            <a:avLst/>
          </a:prstGeom>
        </p:spPr>
      </p:pic>
      <p:sp>
        <p:nvSpPr>
          <p:cNvPr id="18" name="Rounded Rectangular Callout 17">
            <a:extLst>
              <a:ext uri="{FF2B5EF4-FFF2-40B4-BE49-F238E27FC236}">
                <a16:creationId xmlns:a16="http://schemas.microsoft.com/office/drawing/2014/main" id="{F54F2FEE-5F16-45A4-23F0-B24FAF6E2CF1}"/>
              </a:ext>
            </a:extLst>
          </p:cNvPr>
          <p:cNvSpPr/>
          <p:nvPr/>
        </p:nvSpPr>
        <p:spPr>
          <a:xfrm>
            <a:off x="7642993" y="2130144"/>
            <a:ext cx="1343278" cy="712625"/>
          </a:xfrm>
          <a:prstGeom prst="wedgeRoundRectCallout">
            <a:avLst>
              <a:gd name="adj1" fmla="val -101556"/>
              <a:gd name="adj2" fmla="val -5218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Could also be deep</a:t>
            </a:r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38C244B4-DCE0-386A-4B3A-3D3E0CC58FDD}"/>
              </a:ext>
            </a:extLst>
          </p:cNvPr>
          <p:cNvSpPr/>
          <p:nvPr/>
        </p:nvSpPr>
        <p:spPr>
          <a:xfrm>
            <a:off x="550258" y="3095023"/>
            <a:ext cx="4078776" cy="1242308"/>
          </a:xfrm>
          <a:prstGeom prst="wedgeRoundRectCallout">
            <a:avLst>
              <a:gd name="adj1" fmla="val 82831"/>
              <a:gd name="adj2" fmla="val 2509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Behaves nicely when interpolating but often chaotic when extrapolating even a little </a:t>
            </a:r>
            <a:br>
              <a:rPr lang="en-US" dirty="0"/>
            </a:br>
            <a:r>
              <a:rPr lang="en-US" dirty="0"/>
              <a:t>(good target for adversarial attacks)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5C215-A42A-17DE-18DF-6EC27B11DADD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0460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1D209-E0AB-1ECC-5C97-9C330450A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2F75E4-391E-3C9D-8543-E56C9CFE2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54" y="1359535"/>
            <a:ext cx="2216396" cy="147759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189042-B624-03A7-2C65-B0E6095B0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15" y="1684868"/>
            <a:ext cx="3720477" cy="2506134"/>
          </a:xfrm>
        </p:spPr>
        <p:txBody>
          <a:bodyPr>
            <a:normAutofit/>
          </a:bodyPr>
          <a:lstStyle/>
          <a:p>
            <a:r>
              <a:rPr lang="en-US" dirty="0"/>
              <a:t>PhD Thesis:</a:t>
            </a:r>
          </a:p>
          <a:p>
            <a:pPr lvl="1"/>
            <a:r>
              <a:rPr lang="en-US" dirty="0"/>
              <a:t>Decision support systems</a:t>
            </a:r>
          </a:p>
          <a:p>
            <a:pPr lvl="1"/>
            <a:r>
              <a:rPr lang="en-US" dirty="0"/>
              <a:t>Neural networks (implemented own ones, in C++ and </a:t>
            </a:r>
            <a:r>
              <a:rPr lang="en-US" dirty="0" err="1"/>
              <a:t>Matlab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Explainable AI (XAI)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259D4-7704-4225-DE6C-1517AC5D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FE9D4-70A1-6729-CF86-77484C4E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9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35BBD1-AD52-4460-5282-E23E36B5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Kary do in 1990’s?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1E3C4-F983-16BD-06B6-C123F8BDB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65"/>
          <a:stretch/>
        </p:blipFill>
        <p:spPr>
          <a:xfrm>
            <a:off x="6310957" y="3185728"/>
            <a:ext cx="2927350" cy="18397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B5C510-0E2E-2F57-E54A-3601F864F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806" y="1551203"/>
            <a:ext cx="2955194" cy="14775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085361-4F0E-13B5-0D17-B44975F67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15" y="3508699"/>
            <a:ext cx="4700510" cy="820934"/>
          </a:xfrm>
          <a:prstGeom prst="rect">
            <a:avLst/>
          </a:prstGeom>
        </p:spPr>
      </p:pic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4A1AF971-6788-D3D3-974C-D25D53C43A6C}"/>
              </a:ext>
            </a:extLst>
          </p:cNvPr>
          <p:cNvSpPr/>
          <p:nvPr/>
        </p:nvSpPr>
        <p:spPr>
          <a:xfrm flipH="1">
            <a:off x="3132424" y="3124447"/>
            <a:ext cx="3625323" cy="574140"/>
          </a:xfrm>
          <a:prstGeom prst="wedgeRoundRectCallout">
            <a:avLst>
              <a:gd name="adj1" fmla="val -4683"/>
              <a:gd name="adj2" fmla="val -1212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Explanations can reveal errors, inconsistencies, bias,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D9340-2ADC-1A09-FCC3-18CF0E51D59F}"/>
              </a:ext>
            </a:extLst>
          </p:cNvPr>
          <p:cNvSpPr txBox="1"/>
          <p:nvPr/>
        </p:nvSpPr>
        <p:spPr>
          <a:xfrm>
            <a:off x="5484505" y="3759867"/>
            <a:ext cx="1442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Contextual Importance and Utility (CIU) XAI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B88B9E-2161-9D06-979E-FCFF7D25751C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2244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A5A6-0688-73A0-8B1A-7691EA4D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14AEE5E-23D2-7030-541A-28FF6CF49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48" y="2438530"/>
            <a:ext cx="1925161" cy="144918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767100-F5C1-0C85-589C-8BAD3F82B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15" y="1684868"/>
            <a:ext cx="3816000" cy="2506134"/>
          </a:xfrm>
        </p:spPr>
        <p:txBody>
          <a:bodyPr>
            <a:normAutofit/>
          </a:bodyPr>
          <a:lstStyle/>
          <a:p>
            <a:r>
              <a:rPr lang="en-US" dirty="0"/>
              <a:t>PhD Thesis:</a:t>
            </a:r>
          </a:p>
          <a:p>
            <a:pPr lvl="1"/>
            <a:r>
              <a:rPr lang="en-US" dirty="0"/>
              <a:t>Decision support systems</a:t>
            </a:r>
          </a:p>
          <a:p>
            <a:pPr lvl="1"/>
            <a:r>
              <a:rPr lang="en-US" dirty="0"/>
              <a:t>Neural networks (implemented own ones, in C++ and </a:t>
            </a:r>
            <a:r>
              <a:rPr lang="en-US" dirty="0" err="1"/>
              <a:t>Matlab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Explainable AI (XAI)</a:t>
            </a:r>
          </a:p>
          <a:p>
            <a:r>
              <a:rPr lang="en-US" dirty="0"/>
              <a:t>Some </a:t>
            </a:r>
            <a:r>
              <a:rPr lang="en-US" b="1" dirty="0"/>
              <a:t>fuzzy logic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1A91A-CB87-F1F3-D2C0-868FE8E4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40720-92CD-C85F-19C5-715C281E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10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164B6D-D230-A85C-E6C6-03B604568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317" y="440824"/>
            <a:ext cx="6647364" cy="810351"/>
          </a:xfrm>
        </p:spPr>
        <p:txBody>
          <a:bodyPr/>
          <a:lstStyle/>
          <a:p>
            <a:r>
              <a:rPr lang="en-US" dirty="0"/>
              <a:t>What did Kary do in 1990’s?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055A6-DC71-00C1-6561-7582F1BD9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260" y="2547300"/>
            <a:ext cx="1660620" cy="1251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9771B0-88FA-D221-11FF-897C5D242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215" y="3771023"/>
            <a:ext cx="1733270" cy="13059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DABB43-56B0-E15A-1494-57B4DCCCF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215" y="1141010"/>
            <a:ext cx="1733270" cy="1305971"/>
          </a:xfrm>
          <a:prstGeom prst="rect">
            <a:avLst/>
          </a:prstGeom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9D2BBD6C-4BB4-DF17-9E3E-E3C2C49ACF3F}"/>
              </a:ext>
            </a:extLst>
          </p:cNvPr>
          <p:cNvSpPr/>
          <p:nvPr/>
        </p:nvSpPr>
        <p:spPr>
          <a:xfrm flipH="1">
            <a:off x="4272595" y="1279672"/>
            <a:ext cx="2453356" cy="1081696"/>
          </a:xfrm>
          <a:prstGeom prst="wedgeRoundRectCallout">
            <a:avLst>
              <a:gd name="adj1" fmla="val -63690"/>
              <a:gd name="adj2" fmla="val 8828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200" dirty="0"/>
              <a:t>3 x 3 matrix is what a human expert can typically deal with</a:t>
            </a:r>
          </a:p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200" dirty="0"/>
              <a:t>Beyond that it becomes much more challenging to validate completeness, correctness, …</a:t>
            </a:r>
          </a:p>
        </p:txBody>
      </p:sp>
      <p:sp>
        <p:nvSpPr>
          <p:cNvPr id="12" name="Up Arrow 11">
            <a:extLst>
              <a:ext uri="{FF2B5EF4-FFF2-40B4-BE49-F238E27FC236}">
                <a16:creationId xmlns:a16="http://schemas.microsoft.com/office/drawing/2014/main" id="{C7F28321-059F-D9E9-5467-6A17D77B5B59}"/>
              </a:ext>
            </a:extLst>
          </p:cNvPr>
          <p:cNvSpPr/>
          <p:nvPr/>
        </p:nvSpPr>
        <p:spPr>
          <a:xfrm>
            <a:off x="7388029" y="3657600"/>
            <a:ext cx="542166" cy="27512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FCC6447A-A089-E465-71DA-5257C3501BF8}"/>
              </a:ext>
            </a:extLst>
          </p:cNvPr>
          <p:cNvSpPr/>
          <p:nvPr/>
        </p:nvSpPr>
        <p:spPr>
          <a:xfrm rot="5400000">
            <a:off x="6226200" y="2928631"/>
            <a:ext cx="542166" cy="27512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E49854EC-95A9-A9FD-62D1-75F97058B67C}"/>
              </a:ext>
            </a:extLst>
          </p:cNvPr>
          <p:cNvSpPr/>
          <p:nvPr/>
        </p:nvSpPr>
        <p:spPr>
          <a:xfrm flipH="1">
            <a:off x="347958" y="3657600"/>
            <a:ext cx="3448850" cy="1081696"/>
          </a:xfrm>
          <a:prstGeom prst="wedgeRoundRectCallout">
            <a:avLst>
              <a:gd name="adj1" fmla="val -96812"/>
              <a:gd name="adj2" fmla="val -38888"/>
              <a:gd name="adj3" fmla="val 16667"/>
            </a:avLst>
          </a:prstGeom>
          <a:solidFill>
            <a:srgbClr val="0078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200" dirty="0"/>
              <a:t>Created example controller, </a:t>
            </a:r>
            <a:r>
              <a:rPr lang="en-US" sz="1200" dirty="0" err="1"/>
              <a:t>visualisations</a:t>
            </a:r>
            <a:r>
              <a:rPr lang="en-US" sz="1200" dirty="0"/>
              <a:t> in less than two hours, using Mistral AI LLM</a:t>
            </a:r>
          </a:p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200" dirty="0"/>
              <a:t>Required several iterations with error correction, improvements, …</a:t>
            </a:r>
          </a:p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200" dirty="0"/>
              <a:t>Still, 50-95% gain in time!</a:t>
            </a:r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818D51B9-77E7-D0E7-5E8E-496E0D5E164B}"/>
              </a:ext>
            </a:extLst>
          </p:cNvPr>
          <p:cNvSpPr/>
          <p:nvPr/>
        </p:nvSpPr>
        <p:spPr>
          <a:xfrm>
            <a:off x="7899434" y="2280096"/>
            <a:ext cx="542166" cy="27512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3672F1-30CC-2733-F526-898FB9EAB3F6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3308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CE7BDE-0D5A-EEF8-84DE-7F62513AE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219" y="1561763"/>
            <a:ext cx="6653560" cy="262923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AI winter </a:t>
            </a:r>
            <a:r>
              <a:rPr lang="en-US" dirty="0"/>
              <a:t>more or less 2000-2014(?), then:</a:t>
            </a:r>
          </a:p>
          <a:p>
            <a:r>
              <a:rPr lang="en-US" b="1" dirty="0"/>
              <a:t>CNN</a:t>
            </a:r>
            <a:r>
              <a:rPr lang="en-US" dirty="0"/>
              <a:t>s made a major breakthrough in 2012 when achieving outstanding recognition performance with ImageNet dataset</a:t>
            </a:r>
          </a:p>
          <a:p>
            <a:r>
              <a:rPr lang="en-US" b="1" dirty="0"/>
              <a:t>AlphaGo</a:t>
            </a:r>
            <a:r>
              <a:rPr lang="en-US" dirty="0"/>
              <a:t> (2015-2016) is a cornerstone achievement</a:t>
            </a:r>
          </a:p>
          <a:p>
            <a:pPr lvl="1"/>
            <a:r>
              <a:rPr lang="en-US" dirty="0"/>
              <a:t>Combines deep learning and reinforcement learning</a:t>
            </a:r>
          </a:p>
          <a:p>
            <a:r>
              <a:rPr lang="en-US" b="1" dirty="0"/>
              <a:t>Reinforcement Learning (RL)</a:t>
            </a:r>
            <a:r>
              <a:rPr lang="en-US" dirty="0"/>
              <a:t> becomes big topic in academia</a:t>
            </a:r>
          </a:p>
          <a:p>
            <a:pPr lvl="1"/>
            <a:r>
              <a:rPr lang="en-US" dirty="0"/>
              <a:t>But posters and papers look quite similar as they have since 1990’s…</a:t>
            </a:r>
          </a:p>
          <a:p>
            <a:r>
              <a:rPr lang="en-US" b="1" dirty="0"/>
              <a:t>Explainable AI (XAI)</a:t>
            </a:r>
            <a:r>
              <a:rPr lang="en-US" dirty="0"/>
              <a:t> became hot after ~2017</a:t>
            </a:r>
          </a:p>
          <a:p>
            <a:r>
              <a:rPr lang="en-US" b="1" dirty="0"/>
              <a:t>Large Language Models (LLM)</a:t>
            </a:r>
            <a:r>
              <a:rPr lang="en-US" dirty="0"/>
              <a:t> are the star of the moment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A06D6-305C-B482-B697-D0D2295E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B6619-55B1-DDC2-631B-BBD52E53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11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C9F2B4-D416-E879-ACE3-8B9DF9D2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World from 2000 until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5CB022-2713-0A32-B7F1-13BA2FF4128C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5201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F5116A-2FC9-5656-7E0C-782D3B59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927" y="1521303"/>
            <a:ext cx="7574144" cy="2832211"/>
          </a:xfrm>
        </p:spPr>
        <p:txBody>
          <a:bodyPr>
            <a:normAutofit fontScale="92500" lnSpcReduction="20000"/>
          </a:bodyPr>
          <a:lstStyle/>
          <a:p>
            <a:r>
              <a:rPr lang="en-US" sz="1200" b="1" dirty="0"/>
              <a:t>IoT</a:t>
            </a:r>
            <a:r>
              <a:rPr lang="en-US" sz="1200" dirty="0"/>
              <a:t>: First paper (in the world) in 2002, describing an operational implementation</a:t>
            </a:r>
          </a:p>
          <a:p>
            <a:pPr lvl="1"/>
            <a:r>
              <a:rPr lang="en-US" sz="1100" dirty="0"/>
              <a:t>Kary was very alone with IoT until about 2010, then IoT took off seriously</a:t>
            </a:r>
          </a:p>
          <a:p>
            <a:pPr lvl="1"/>
            <a:r>
              <a:rPr lang="en-US" sz="1100" dirty="0"/>
              <a:t>EU launched IoT program around 2006, more or less shut down a few years later</a:t>
            </a:r>
          </a:p>
          <a:p>
            <a:r>
              <a:rPr lang="en-US" sz="1200" b="1" dirty="0"/>
              <a:t>Digital Twin</a:t>
            </a:r>
            <a:r>
              <a:rPr lang="en-US" sz="1200" dirty="0"/>
              <a:t>: Described in paper(s) since 2003 with concepts such as “virtual counterpart”, “product agent”, etc. </a:t>
            </a:r>
          </a:p>
          <a:p>
            <a:pPr lvl="1"/>
            <a:r>
              <a:rPr lang="en-US" sz="1100" dirty="0"/>
              <a:t>Became popular at about the same time a IoT, presumably for similar reasons</a:t>
            </a:r>
          </a:p>
          <a:p>
            <a:pPr lvl="1"/>
            <a:r>
              <a:rPr lang="en-US" sz="1100" dirty="0"/>
              <a:t>Name “Digital Twin” was first used in 2010 by NASA. By the way: do not believe what ChatGPT, Wikipedia etc. tell you about the origins, it seems to have been heavily politicized</a:t>
            </a:r>
          </a:p>
          <a:p>
            <a:r>
              <a:rPr lang="en-US" sz="1200" b="1" dirty="0"/>
              <a:t>Intelligent Products</a:t>
            </a:r>
            <a:r>
              <a:rPr lang="en-US" sz="1200" dirty="0"/>
              <a:t>: Digital Twins (Product Agents) with an AI part that allows them to take actions</a:t>
            </a:r>
          </a:p>
          <a:p>
            <a:r>
              <a:rPr lang="en-US" sz="1200" b="1" dirty="0"/>
              <a:t>Systems of Systems </a:t>
            </a:r>
            <a:r>
              <a:rPr lang="en-US" sz="1200" dirty="0"/>
              <a:t>since about 2008, with a big emphasis on data and communication standards</a:t>
            </a:r>
          </a:p>
          <a:p>
            <a:r>
              <a:rPr lang="en-US" sz="1200" b="1" dirty="0"/>
              <a:t>Implemented</a:t>
            </a:r>
            <a:r>
              <a:rPr lang="en-US" sz="1200" dirty="0"/>
              <a:t> using many technologies over time and used in </a:t>
            </a:r>
            <a:r>
              <a:rPr lang="en-US" sz="1200" b="1" dirty="0"/>
              <a:t>real-life applications</a:t>
            </a:r>
            <a:r>
              <a:rPr lang="en-US" sz="1200" dirty="0"/>
              <a:t>, with:</a:t>
            </a:r>
          </a:p>
          <a:p>
            <a:pPr lvl="1"/>
            <a:r>
              <a:rPr lang="en-US" sz="1100" dirty="0"/>
              <a:t>CORBA, Java RMI, SOAP, UDDI, </a:t>
            </a:r>
            <a:r>
              <a:rPr lang="en-US" sz="1100" dirty="0" err="1"/>
              <a:t>ebXML</a:t>
            </a:r>
            <a:r>
              <a:rPr lang="en-US" sz="1100" dirty="0"/>
              <a:t>, REST …</a:t>
            </a:r>
          </a:p>
          <a:p>
            <a:pPr lvl="1"/>
            <a:r>
              <a:rPr lang="en-US" sz="1100" dirty="0"/>
              <a:t>Before</a:t>
            </a:r>
            <a:r>
              <a:rPr lang="en-US" sz="1000" dirty="0"/>
              <a:t> </a:t>
            </a:r>
            <a:r>
              <a:rPr lang="en-US" sz="1100" dirty="0"/>
              <a:t>Cloud, Edge, Fog, Python, etc. existed</a:t>
            </a:r>
          </a:p>
          <a:p>
            <a:r>
              <a:rPr lang="en-US" sz="1200" b="1" dirty="0"/>
              <a:t>Reinforcement learning </a:t>
            </a:r>
            <a:r>
              <a:rPr lang="en-US" sz="1200" dirty="0"/>
              <a:t>2002-2008</a:t>
            </a:r>
          </a:p>
          <a:p>
            <a:r>
              <a:rPr lang="en-US" sz="1200" dirty="0"/>
              <a:t>Back to </a:t>
            </a:r>
            <a:r>
              <a:rPr lang="en-US" sz="1200" b="1" dirty="0"/>
              <a:t>Explainable AI (XAI) </a:t>
            </a:r>
            <a:r>
              <a:rPr lang="en-US" sz="1200" dirty="0"/>
              <a:t>since 2018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0A2EA-CA75-6283-054D-990AA928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FD999-54C4-B1EC-1885-62C8CD10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12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7CA02E-127A-89D2-A2EE-C3AB68DF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did Kary do from 2000 until 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50D08D-F69C-7374-33C8-4E7DBA62E4A7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8950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E720F1-54D7-F4D1-34FB-71233A3E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16" y="1521303"/>
            <a:ext cx="7347566" cy="288076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New programming languages </a:t>
            </a:r>
            <a:r>
              <a:rPr lang="en-US" dirty="0"/>
              <a:t>keep on taking over – Why?</a:t>
            </a:r>
          </a:p>
          <a:p>
            <a:r>
              <a:rPr lang="en-US" b="1" dirty="0"/>
              <a:t>REST-based</a:t>
            </a:r>
            <a:r>
              <a:rPr lang="en-US" dirty="0"/>
              <a:t>: is that smart, when and why? </a:t>
            </a:r>
          </a:p>
          <a:p>
            <a:pPr lvl="1"/>
            <a:r>
              <a:rPr lang="en-US" dirty="0"/>
              <a:t>Simple to implement, gives light-weight systems</a:t>
            </a:r>
          </a:p>
          <a:p>
            <a:r>
              <a:rPr lang="en-US" b="1" dirty="0"/>
              <a:t>What did we lose </a:t>
            </a:r>
            <a:r>
              <a:rPr lang="en-US" dirty="0"/>
              <a:t>when skipping SOAP </a:t>
            </a:r>
            <a:r>
              <a:rPr lang="en-US" dirty="0" err="1"/>
              <a:t>etc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Well-declared web service interfaces with validation and verification of types, automatic handling of intermittent connectivity, standardized lookup of services on the web, …</a:t>
            </a:r>
          </a:p>
          <a:p>
            <a:r>
              <a:rPr lang="en-US" b="1" dirty="0"/>
              <a:t>Machine Learning </a:t>
            </a:r>
            <a:r>
              <a:rPr lang="en-US" dirty="0"/>
              <a:t>has made huge progress – but why are many ”new” researchers turning back to GOFAI? And more importantly: All the old methods and lessons seem forgotten</a:t>
            </a:r>
          </a:p>
          <a:p>
            <a:r>
              <a:rPr lang="en-US" b="1" dirty="0"/>
              <a:t>XAI</a:t>
            </a:r>
            <a:r>
              <a:rPr lang="en-US" dirty="0"/>
              <a:t> not invented in around 2016, it’s only a new name that gained popularity</a:t>
            </a:r>
          </a:p>
          <a:p>
            <a:pPr lvl="1"/>
            <a:r>
              <a:rPr lang="en-US" dirty="0"/>
              <a:t>Kary’s </a:t>
            </a:r>
            <a:r>
              <a:rPr lang="en-US" b="1" dirty="0"/>
              <a:t>Contextual Importance and Utility (CIU) </a:t>
            </a:r>
            <a:r>
              <a:rPr lang="en-US" dirty="0"/>
              <a:t>method from 1992 outperforms current SOTA methods such as SHAP and LIME</a:t>
            </a:r>
          </a:p>
          <a:p>
            <a:r>
              <a:rPr lang="en-US" dirty="0"/>
              <a:t>Seems like many academics believe that everything that is </a:t>
            </a:r>
            <a:r>
              <a:rPr lang="en-US" b="1" dirty="0"/>
              <a:t>older than 5 years is obsolete</a:t>
            </a:r>
            <a:r>
              <a:rPr lang="en-US" dirty="0"/>
              <a:t>, based on reviewer comments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F88E6-C4A8-30F2-979A-9CE0E67D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94C05-22AC-86FA-7AB5-EFC3EE1C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13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33D930-B767-FBD1-CD69-3202F9B0A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observations of 2000 until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DA6BFE-A5E6-85FB-F7FF-097098CF40AC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8878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9B5B6D-07EB-0DF5-C492-925C1A45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112" y="1372555"/>
            <a:ext cx="7541774" cy="3037604"/>
          </a:xfrm>
        </p:spPr>
        <p:txBody>
          <a:bodyPr>
            <a:normAutofit fontScale="92500" lnSpcReduction="10000"/>
          </a:bodyPr>
          <a:lstStyle/>
          <a:p>
            <a:r>
              <a:rPr lang="en-US" sz="1400" b="1" dirty="0"/>
              <a:t>LLMs</a:t>
            </a:r>
            <a:r>
              <a:rPr lang="en-US" sz="1400" dirty="0"/>
              <a:t> – will they take over everything?</a:t>
            </a:r>
          </a:p>
          <a:p>
            <a:pPr lvl="1"/>
            <a:r>
              <a:rPr lang="en-US" sz="1200" dirty="0"/>
              <a:t>Humanity seems to have a tendency or need to get “over-excited” about new technology</a:t>
            </a:r>
          </a:p>
          <a:p>
            <a:pPr lvl="1"/>
            <a:r>
              <a:rPr lang="en-US" sz="1200" dirty="0"/>
              <a:t>There will be other great new things </a:t>
            </a:r>
          </a:p>
          <a:p>
            <a:r>
              <a:rPr lang="en-US" sz="1400" dirty="0"/>
              <a:t>For what are </a:t>
            </a:r>
            <a:r>
              <a:rPr lang="en-US" sz="1400" b="1" dirty="0"/>
              <a:t>LLMs great</a:t>
            </a:r>
            <a:r>
              <a:rPr lang="en-US" sz="1400" dirty="0"/>
              <a:t>?</a:t>
            </a:r>
          </a:p>
          <a:p>
            <a:pPr lvl="1"/>
            <a:r>
              <a:rPr lang="en-US" sz="1200" dirty="0"/>
              <a:t>Help in programming, especially for gaining time</a:t>
            </a:r>
          </a:p>
          <a:p>
            <a:pPr lvl="2"/>
            <a:r>
              <a:rPr lang="en-US" sz="1200" dirty="0"/>
              <a:t>Example: Implementing interoperability standards based on formal specifications</a:t>
            </a:r>
          </a:p>
          <a:p>
            <a:pPr lvl="1"/>
            <a:r>
              <a:rPr lang="en-US" sz="1200" dirty="0"/>
              <a:t>For looking up well-known facts on which there is some consensus</a:t>
            </a:r>
          </a:p>
          <a:p>
            <a:pPr lvl="1"/>
            <a:r>
              <a:rPr lang="en-US" sz="1200" dirty="0"/>
              <a:t>Summarizing text, generating images, …</a:t>
            </a:r>
          </a:p>
          <a:p>
            <a:r>
              <a:rPr lang="en-US" sz="1400" dirty="0"/>
              <a:t>However: </a:t>
            </a:r>
            <a:r>
              <a:rPr lang="en-US" sz="1400" b="1" dirty="0"/>
              <a:t>LLMs give even bigger robustness challenges than ever before</a:t>
            </a:r>
          </a:p>
          <a:p>
            <a:pPr lvl="1"/>
            <a:r>
              <a:rPr lang="en-US" sz="1200" dirty="0"/>
              <a:t>Wild extrapolation is possible, resulting in very convincing hallucinations</a:t>
            </a:r>
          </a:p>
          <a:p>
            <a:pPr lvl="2"/>
            <a:r>
              <a:rPr lang="en-US" sz="1200" dirty="0"/>
              <a:t>Try asking “Who invented Contextual Importance and Utility method?”, for instance</a:t>
            </a:r>
          </a:p>
          <a:p>
            <a:pPr lvl="1"/>
            <a:r>
              <a:rPr lang="en-US" sz="1200" dirty="0"/>
              <a:t>LLMs don’t seem to have any metric about the validity, certainty or robustness of their responses</a:t>
            </a:r>
          </a:p>
          <a:p>
            <a:pPr lvl="1"/>
            <a:r>
              <a:rPr lang="en-US" sz="1200" dirty="0"/>
              <a:t>These and other challenges are not new or specific to LLMs but most people seem to be unaware of them</a:t>
            </a:r>
          </a:p>
          <a:p>
            <a:r>
              <a:rPr lang="en-US" sz="1400" dirty="0"/>
              <a:t>Conclusion: </a:t>
            </a:r>
            <a:r>
              <a:rPr lang="en-US" sz="1400" b="1" dirty="0"/>
              <a:t>Never trust an LLM unless you have reliable means of validating the output!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D231A-5DDD-BEF7-DE26-5277066F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6DD96-BB0F-94DE-BA20-2FA59444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14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FD784C-D58C-F927-DAB1-E548F642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317" y="465100"/>
            <a:ext cx="6647364" cy="81035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will the world do next?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408CD-03AD-4C7D-D915-AA7B9F40B15A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72699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A75347-BC08-17D9-63C3-DEB898083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85" y="1270721"/>
            <a:ext cx="3500061" cy="20053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Social XAI, better XAI in general</a:t>
            </a:r>
          </a:p>
          <a:p>
            <a:r>
              <a:rPr lang="en-US" dirty="0"/>
              <a:t>Smart X </a:t>
            </a:r>
          </a:p>
          <a:p>
            <a:r>
              <a:rPr lang="en-US" dirty="0" err="1"/>
              <a:t>Louhe.ai</a:t>
            </a:r>
            <a:r>
              <a:rPr lang="en-US" dirty="0"/>
              <a:t>: </a:t>
            </a:r>
            <a:r>
              <a:rPr lang="en-US" sz="1800" dirty="0"/>
              <a:t>(X)AI based cyber-physical security</a:t>
            </a:r>
          </a:p>
          <a:p>
            <a:r>
              <a:rPr lang="en-US" b="1" dirty="0"/>
              <a:t>Robustness, trustworthiness, explainability are more crucial than ever!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D1414-D01E-8A57-9A47-7EE966FA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Kary Främling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F2FEC-427D-C4C5-3233-77A49D1C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0E79-C485-4358-AA6A-241A5ED8242A}" type="slidenum">
              <a:rPr lang="sv-SE" smtClean="0"/>
              <a:t>15</a:t>
            </a:fld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BDBB6D-0EAE-13A8-711F-46C919398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317" y="367996"/>
            <a:ext cx="6647364" cy="81035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will Kary do next </a:t>
            </a:r>
            <a:br>
              <a:rPr lang="en-US" dirty="0"/>
            </a:br>
            <a:r>
              <a:rPr lang="en-US" dirty="0"/>
              <a:t>(short-term)?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F3C10BF2-B49D-76C9-86F0-3AA831581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449" y="1469660"/>
            <a:ext cx="5120415" cy="247925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405881C-0BCD-4C5E-A357-9E065A43D7DE}"/>
              </a:ext>
            </a:extLst>
          </p:cNvPr>
          <p:cNvGrpSpPr>
            <a:grpSpLocks noChangeAspect="1"/>
          </p:cNvGrpSpPr>
          <p:nvPr/>
        </p:nvGrpSpPr>
        <p:grpSpPr>
          <a:xfrm>
            <a:off x="911368" y="3276050"/>
            <a:ext cx="2066035" cy="1080000"/>
            <a:chOff x="5746909" y="261119"/>
            <a:chExt cx="4132070" cy="21600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BAA6832-22F3-B04D-353F-755FEC300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6909" y="261119"/>
              <a:ext cx="3840002" cy="2160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F82E15A-376B-8BB0-B508-0FCD79A3A947}"/>
                </a:ext>
              </a:extLst>
            </p:cNvPr>
            <p:cNvSpPr txBox="1"/>
            <p:nvPr/>
          </p:nvSpPr>
          <p:spPr>
            <a:xfrm>
              <a:off x="9586911" y="261119"/>
              <a:ext cx="292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verpass Black" pitchFamily="2" charset="0"/>
                  <a:ea typeface="+mn-ea"/>
                  <a:cs typeface="+mn-cs"/>
                </a:rPr>
                <a:t>1</a:t>
              </a:r>
              <a:endParaRPr kumimoji="0" lang="LID4096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verpass Black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287D4E-3317-210C-657E-BEE1A9D9C594}"/>
              </a:ext>
            </a:extLst>
          </p:cNvPr>
          <p:cNvGrpSpPr>
            <a:grpSpLocks noChangeAspect="1"/>
          </p:cNvGrpSpPr>
          <p:nvPr/>
        </p:nvGrpSpPr>
        <p:grpSpPr>
          <a:xfrm>
            <a:off x="1286612" y="3568479"/>
            <a:ext cx="2090881" cy="1080000"/>
            <a:chOff x="6824668" y="2136732"/>
            <a:chExt cx="4181762" cy="2160000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0200913-0D4A-DFB3-3BBF-1E1937DBC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24668" y="2136732"/>
              <a:ext cx="3840002" cy="21600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BFA728-CFC7-D927-29EE-0E00EC46A6F3}"/>
                </a:ext>
              </a:extLst>
            </p:cNvPr>
            <p:cNvSpPr txBox="1"/>
            <p:nvPr/>
          </p:nvSpPr>
          <p:spPr>
            <a:xfrm>
              <a:off x="10664670" y="214764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verpass Black" pitchFamily="2" charset="0"/>
                  <a:ea typeface="+mn-ea"/>
                  <a:cs typeface="+mn-cs"/>
                </a:rPr>
                <a:t>2</a:t>
              </a:r>
              <a:endParaRPr kumimoji="0" lang="LID4096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verpass Black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411100-C8C3-F60C-2226-6BDC446F3780}"/>
              </a:ext>
            </a:extLst>
          </p:cNvPr>
          <p:cNvGrpSpPr>
            <a:grpSpLocks noChangeAspect="1"/>
          </p:cNvGrpSpPr>
          <p:nvPr/>
        </p:nvGrpSpPr>
        <p:grpSpPr>
          <a:xfrm>
            <a:off x="1678040" y="3943431"/>
            <a:ext cx="2089278" cy="1080000"/>
            <a:chOff x="7902428" y="4012344"/>
            <a:chExt cx="4178555" cy="216000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B36BFAC-B5C1-8E9A-F51D-6AD88EDD3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02428" y="4012344"/>
              <a:ext cx="3840002" cy="2160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128431B-2FD0-1B2D-66B9-813D2C244E17}"/>
                </a:ext>
              </a:extLst>
            </p:cNvPr>
            <p:cNvSpPr txBox="1"/>
            <p:nvPr/>
          </p:nvSpPr>
          <p:spPr>
            <a:xfrm>
              <a:off x="11742429" y="4012344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verpass Black" pitchFamily="2" charset="0"/>
                  <a:ea typeface="+mn-ea"/>
                  <a:cs typeface="+mn-cs"/>
                </a:rPr>
                <a:t>3</a:t>
              </a:r>
              <a:endParaRPr kumimoji="0" lang="LID4096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verpass Black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8164822-5A68-9875-27EF-15E36C1728FE}"/>
              </a:ext>
            </a:extLst>
          </p:cNvPr>
          <p:cNvGrpSpPr/>
          <p:nvPr/>
        </p:nvGrpSpPr>
        <p:grpSpPr>
          <a:xfrm>
            <a:off x="5850540" y="4219584"/>
            <a:ext cx="2613729" cy="526750"/>
            <a:chOff x="5332652" y="4043458"/>
            <a:chExt cx="3487668" cy="70287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3ED83E5-0FC5-0AED-67DA-D6ABAD7698C8}"/>
                </a:ext>
              </a:extLst>
            </p:cNvPr>
            <p:cNvSpPr/>
            <p:nvPr/>
          </p:nvSpPr>
          <p:spPr>
            <a:xfrm>
              <a:off x="5332652" y="4043458"/>
              <a:ext cx="3487668" cy="7028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34B5E166-F38C-3F10-80D7-88F58EC04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76684" y="4070937"/>
              <a:ext cx="3384493" cy="59542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110432F-0236-E9C6-48E5-6F97AC2860BB}"/>
              </a:ext>
            </a:extLst>
          </p:cNvPr>
          <p:cNvSpPr/>
          <p:nvPr/>
        </p:nvSpPr>
        <p:spPr>
          <a:xfrm>
            <a:off x="7791566" y="8467"/>
            <a:ext cx="1290918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671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78F5-E458-3A4D-ABCD-C0936D9A9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2000" y="-27474"/>
            <a:ext cx="5220000" cy="1171459"/>
          </a:xfrm>
        </p:spPr>
        <p:txBody>
          <a:bodyPr/>
          <a:lstStyle/>
          <a:p>
            <a:r>
              <a:rPr lang="fi-FI" err="1"/>
              <a:t>Thank</a:t>
            </a:r>
            <a:r>
              <a:rPr lang="fi-FI"/>
              <a:t> </a:t>
            </a:r>
            <a:r>
              <a:rPr lang="fi-FI" err="1"/>
              <a:t>you</a:t>
            </a:r>
            <a:r>
              <a:rPr lang="fi-FI"/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89110-4AD3-1B42-BB62-CD9C3A83AD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4832" y="1309081"/>
            <a:ext cx="3588867" cy="269165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2310D8D5-895A-E74F-8557-9CE7B25735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568170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umu widescreen EN v01">
  <a:themeElements>
    <a:clrScheme name="Umeå Universitet">
      <a:dk1>
        <a:sysClr val="windowText" lastClr="000000"/>
      </a:dk1>
      <a:lt1>
        <a:sysClr val="window" lastClr="FFFFFF"/>
      </a:lt1>
      <a:dk2>
        <a:srgbClr val="5F5F5F"/>
      </a:dk2>
      <a:lt2>
        <a:srgbClr val="E6E6E6"/>
      </a:lt2>
      <a:accent1>
        <a:srgbClr val="2A4765"/>
      </a:accent1>
      <a:accent2>
        <a:srgbClr val="EABAB9"/>
      </a:accent2>
      <a:accent3>
        <a:srgbClr val="73A790"/>
      </a:accent3>
      <a:accent4>
        <a:srgbClr val="D7B17C"/>
      </a:accent4>
      <a:accent5>
        <a:srgbClr val="F1EFE4"/>
      </a:accent5>
      <a:accent6>
        <a:srgbClr val="EDDDDB"/>
      </a:accent6>
      <a:hlink>
        <a:srgbClr val="000000"/>
      </a:hlink>
      <a:folHlink>
        <a:srgbClr val="000000"/>
      </a:folHlink>
    </a:clrScheme>
    <a:fontScheme name="Umeå Universitet">
      <a:majorFont>
        <a:latin typeface="Verdana"/>
        <a:ea typeface=""/>
        <a:cs typeface=""/>
      </a:majorFont>
      <a:minorFont>
        <a:latin typeface="Georgia"/>
        <a:ea typeface=""/>
        <a:cs typeface="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eå Universitet.potx" id="{2F552BE5-29CE-499A-A660-F176591E2A45}" vid="{E86E6282-E085-44B8-8DAD-FB7DF07483B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7f2ec83-e677-438d-afb7-4c7c0dbc872b}" enabled="1" method="Standard" siteId="{3bc062e4-ac9d-4c17-b4dd-3aad637ff1ac}" removed="0"/>
  <clbl:label id="{f13b610e-d3b5-490f-b165-988100e8232a}" enabled="1" method="Standard" siteId="{5a4ba6f9-f531-4f32-9467-398f19e69d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Presentation umu widescreen EN v01</Template>
  <TotalTime>80064</TotalTime>
  <Words>1637</Words>
  <Application>Microsoft Office PowerPoint</Application>
  <PresentationFormat>On-screen Show (16:9)</PresentationFormat>
  <Paragraphs>180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Lucida Grande</vt:lpstr>
      <vt:lpstr>Overpass Black</vt:lpstr>
      <vt:lpstr>Symbol</vt:lpstr>
      <vt:lpstr>Verdana</vt:lpstr>
      <vt:lpstr>Wingdings</vt:lpstr>
      <vt:lpstr>Presentation umu widescreen EN v01</vt:lpstr>
      <vt:lpstr>Been there, done that:  Anecdotes and lessons learned from 40 years with CS and AI</vt:lpstr>
      <vt:lpstr>Kary Främling in a nutshell</vt:lpstr>
      <vt:lpstr>The World in the 1980’s</vt:lpstr>
      <vt:lpstr>What did Kary do in (end of) 1980’s?</vt:lpstr>
      <vt:lpstr>Nokia Cellular Systems and TN-SDL</vt:lpstr>
      <vt:lpstr>The World in the 1990’s</vt:lpstr>
      <vt:lpstr>What did Kary do in 1990’s?</vt:lpstr>
      <vt:lpstr>What did Kary do in 1990’s?</vt:lpstr>
      <vt:lpstr>What did Kary do in 1990’s?</vt:lpstr>
      <vt:lpstr>What did Kary do in 1990’s?</vt:lpstr>
      <vt:lpstr>The World from 2000 until now</vt:lpstr>
      <vt:lpstr>What did Kary do from 2000 until now?</vt:lpstr>
      <vt:lpstr>Some observations of 2000 until now</vt:lpstr>
      <vt:lpstr>What will the world do next?</vt:lpstr>
      <vt:lpstr>What will Kary do next  (short-term)?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Kary Främling</dc:creator>
  <cp:lastModifiedBy>Sevenhuijsen Merlijn</cp:lastModifiedBy>
  <cp:revision>442</cp:revision>
  <dcterms:created xsi:type="dcterms:W3CDTF">2020-04-29T13:40:59Z</dcterms:created>
  <dcterms:modified xsi:type="dcterms:W3CDTF">2024-10-25T06:55:50Z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Presentation umu widescreen EN v01:9</vt:lpwstr>
  </property>
  <property fmtid="{D5CDD505-2E9C-101B-9397-08002B2CF9AE}" pid="3" name="ClassificationContentMarkingHeaderText">
    <vt:lpwstr>Begränsad delning</vt:lpwstr>
  </property>
</Properties>
</file>